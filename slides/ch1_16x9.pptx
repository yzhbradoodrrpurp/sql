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Default Extension="svg" ContentType="image/svg+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3"/>
  </p:notesMasterIdLst>
  <p:handoutMasterIdLst>
    <p:handoutMasterId r:id="rId44"/>
  </p:handoutMasterIdLst>
  <p:sldIdLst>
    <p:sldId id="335" r:id="rId2"/>
    <p:sldId id="457" r:id="rId3"/>
    <p:sldId id="458" r:id="rId4"/>
    <p:sldId id="459" r:id="rId5"/>
    <p:sldId id="418" r:id="rId6"/>
    <p:sldId id="419" r:id="rId7"/>
    <p:sldId id="420" r:id="rId8"/>
    <p:sldId id="421" r:id="rId9"/>
    <p:sldId id="422" r:id="rId10"/>
    <p:sldId id="423" r:id="rId11"/>
    <p:sldId id="424" r:id="rId12"/>
    <p:sldId id="425" r:id="rId13"/>
    <p:sldId id="426" r:id="rId14"/>
    <p:sldId id="427" r:id="rId15"/>
    <p:sldId id="428" r:id="rId16"/>
    <p:sldId id="429" r:id="rId17"/>
    <p:sldId id="430" r:id="rId18"/>
    <p:sldId id="431" r:id="rId19"/>
    <p:sldId id="432" r:id="rId20"/>
    <p:sldId id="433" r:id="rId21"/>
    <p:sldId id="455" r:id="rId22"/>
    <p:sldId id="436" r:id="rId23"/>
    <p:sldId id="437" r:id="rId24"/>
    <p:sldId id="438" r:id="rId25"/>
    <p:sldId id="439" r:id="rId26"/>
    <p:sldId id="440" r:id="rId27"/>
    <p:sldId id="441" r:id="rId28"/>
    <p:sldId id="442" r:id="rId29"/>
    <p:sldId id="443" r:id="rId30"/>
    <p:sldId id="444" r:id="rId31"/>
    <p:sldId id="445" r:id="rId32"/>
    <p:sldId id="456" r:id="rId33"/>
    <p:sldId id="454" r:id="rId34"/>
    <p:sldId id="447" r:id="rId35"/>
    <p:sldId id="448" r:id="rId36"/>
    <p:sldId id="449" r:id="rId37"/>
    <p:sldId id="450" r:id="rId38"/>
    <p:sldId id="451" r:id="rId39"/>
    <p:sldId id="452" r:id="rId40"/>
    <p:sldId id="460" r:id="rId41"/>
    <p:sldId id="453" r:id="rId42"/>
  </p:sldIdLst>
  <p:sldSz cx="12192000" cy="6858000"/>
  <p:notesSz cx="6997700" cy="9283700"/>
  <p:custShowLst>
    <p:custShow name="Custom Show 1" id="0">
      <p:sldLst>
        <p:sld r:id="rId2"/>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xmlns="">
        <p15:guide id="1" orient="horz" pos="70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F9933"/>
    <a:srgbClr val="00009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1415" autoAdjust="0"/>
    <p:restoredTop sz="94737" autoAdjust="0"/>
  </p:normalViewPr>
  <p:slideViewPr>
    <p:cSldViewPr snapToGrid="0">
      <p:cViewPr varScale="1">
        <p:scale>
          <a:sx n="67" d="100"/>
          <a:sy n="67" d="100"/>
        </p:scale>
        <p:origin x="-600" y="-96"/>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xmlns="" id="{C6EF5354-BFFB-44DF-8FA7-1A088153BD87}"/>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xmlns="" id="{5BBF6CF9-ADFE-4F6E-89A0-8CB582D8FFC5}"/>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xmlns="" id="{8C120FC7-7BCE-4696-BB5D-C087861E4B4E}"/>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xmlns="" id="{6735A123-7D3E-455E-AB82-1C3749BB052A}"/>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pPr>
              <a:defRPr/>
            </a:pPr>
            <a:fld id="{A8B4C920-550B-4EA7-9CB5-2D8883A273BF}" type="slidenum">
              <a:rPr lang="en-US" altLang="en-US"/>
              <a:pPr>
                <a:defRPr/>
              </a:pPr>
              <a:t>‹#›</a:t>
            </a:fld>
            <a:endParaRPr lang="en-US" altLang="en-US"/>
          </a:p>
        </p:txBody>
      </p:sp>
    </p:spTree>
    <p:extLst>
      <p:ext uri="{BB962C8B-B14F-4D97-AF65-F5344CB8AC3E}">
        <p14:creationId xmlns:p14="http://schemas.microsoft.com/office/powerpoint/2010/main" xmlns=""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xmlns="" id="{2E8AF117-EF14-4BF3-AB7D-D75C4F934CC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xmlns="" id="{D7D2DA5C-BED3-45D1-AFD2-94AF29863ABC}"/>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xmlns="" id="{A2936E5F-4C9B-4144-9261-C3F188AA67D9}"/>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40645" name="Rectangle 5">
            <a:extLst>
              <a:ext uri="{FF2B5EF4-FFF2-40B4-BE49-F238E27FC236}">
                <a16:creationId xmlns:a16="http://schemas.microsoft.com/office/drawing/2014/main" xmlns="" id="{D73F14C5-05F8-4300-9D01-F3633C854740}"/>
              </a:ext>
            </a:extLst>
          </p:cNvPr>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xmlns="" id="{BCB6CAD9-A006-4455-8054-9CACB290288C}"/>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xmlns="" id="{63060AD7-0C3D-477B-BD60-55C8EBDB9451}"/>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vl1pPr>
          </a:lstStyle>
          <a:p>
            <a:pPr>
              <a:defRPr/>
            </a:pPr>
            <a:fld id="{AE66C03C-4B0E-4149-8287-A3B340EB818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xmlns="" id="{1DE2DCE1-2EFC-4C42-8DFC-CBA6F33233ED}"/>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1637794-A468-4EC6-9DD2-8F932E639220}" type="slidenum">
              <a:rPr lang="en-US" altLang="en-US" sz="1300" smtClean="0"/>
              <a:pPr/>
              <a:t>1</a:t>
            </a:fld>
            <a:endParaRPr lang="en-US" altLang="en-US" sz="1300"/>
          </a:p>
        </p:txBody>
      </p:sp>
      <p:sp>
        <p:nvSpPr>
          <p:cNvPr id="6147" name="Rectangle 2">
            <a:extLst>
              <a:ext uri="{FF2B5EF4-FFF2-40B4-BE49-F238E27FC236}">
                <a16:creationId xmlns:a16="http://schemas.microsoft.com/office/drawing/2014/main" xmlns="" id="{607B12F9-7FC5-42D0-9964-0865785D1C17}"/>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xmlns="" id="{2BC6D4DE-B9DA-4FD2-A997-14A566E8D5B1}"/>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37889C16-55FB-4276-AA40-3B98E0B5E745}" type="slidenum">
              <a:rPr lang="en-US" altLang="zh-CN" smtClean="0">
                <a:latin typeface="Arial" pitchFamily="34" charset="0"/>
              </a:rPr>
              <a:pPr/>
              <a:t>4</a:t>
            </a:fld>
            <a:endParaRPr lang="en-US" altLang="zh-CN">
              <a:latin typeface="Arial" pitchFamily="3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xfrm>
            <a:off x="933027" y="4409758"/>
            <a:ext cx="5131647" cy="4177665"/>
          </a:xfrm>
          <a:noFill/>
          <a:ln/>
        </p:spPr>
        <p:txBody>
          <a:bodyPr/>
          <a:lstStyle/>
          <a:p>
            <a:pPr eaLnBrk="1" hangingPunct="1"/>
            <a:endParaRPr lang="zh-CN" altLang="zh-CN">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5</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4151512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61B8CAD7-46FF-4242-BDA5-2263185C4B88}" type="slidenum">
              <a:rPr lang="en-US" altLang="en-US" sz="1200"/>
              <a:pPr algn="r"/>
              <a:t>6</a:t>
            </a:fld>
            <a:endParaRPr lang="en-US" altLang="en-US" sz="1200" dirty="0"/>
          </a:p>
        </p:txBody>
      </p:sp>
      <p:sp>
        <p:nvSpPr>
          <p:cNvPr id="10242" name="Rectangle 2"/>
          <p:cNvSpPr>
            <a:spLocks noGrp="1" noRot="1" noChangeAspect="1" noChangeArrowheads="1" noTextEdit="1"/>
          </p:cNvSpPr>
          <p:nvPr>
            <p:ph type="sldImg"/>
          </p:nvPr>
        </p:nvSpPr>
        <p:spPr>
          <a:xfrm>
            <a:off x="404813" y="696913"/>
            <a:ext cx="6188075" cy="3481387"/>
          </a:xfrm>
          <a:ln/>
        </p:spPr>
      </p:sp>
      <p:sp>
        <p:nvSpPr>
          <p:cNvPr id="1024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35123340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txBox="1">
            <a:spLocks noGrp="1" noChangeArrowheads="1"/>
          </p:cNvSpPr>
          <p:nvPr/>
        </p:nvSpPr>
        <p:spPr bwMode="auto">
          <a:xfrm>
            <a:off x="3966315" y="8820783"/>
            <a:ext cx="3031385" cy="462917"/>
          </a:xfrm>
          <a:prstGeom prst="rect">
            <a:avLst/>
          </a:prstGeom>
          <a:noFill/>
          <a:ln w="9525">
            <a:noFill/>
            <a:miter lim="800000"/>
            <a:headEnd/>
            <a:tailEnd/>
          </a:ln>
        </p:spPr>
        <p:txBody>
          <a:bodyPr wrap="none" lIns="93022" tIns="46511" rIns="93022" bIns="46511" anchor="b"/>
          <a:lstStyle/>
          <a:p>
            <a:pPr algn="r" defTabSz="928787"/>
            <a:fld id="{0D799AF1-7295-4E0B-8743-1CC5B98377B9}" type="slidenum">
              <a:rPr lang="en-US" sz="1200"/>
              <a:pPr algn="r" defTabSz="928787"/>
              <a:t>7</a:t>
            </a:fld>
            <a:endParaRPr lang="en-US" sz="1200" dirty="0"/>
          </a:p>
        </p:txBody>
      </p:sp>
      <p:sp>
        <p:nvSpPr>
          <p:cNvPr id="45059" name="Rectangle 2"/>
          <p:cNvSpPr>
            <a:spLocks noGrp="1" noRot="1" noChangeAspect="1" noChangeArrowheads="1" noTextEdit="1"/>
          </p:cNvSpPr>
          <p:nvPr>
            <p:ph type="sldImg"/>
          </p:nvPr>
        </p:nvSpPr>
        <p:spPr>
          <a:xfrm>
            <a:off x="404813" y="696913"/>
            <a:ext cx="6188075" cy="3481387"/>
          </a:xfrm>
          <a:ln/>
        </p:spPr>
      </p:sp>
      <p:sp>
        <p:nvSpPr>
          <p:cNvPr id="45060" name="Rectangle 3"/>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xmlns="" val="1103835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txBox="1">
            <a:spLocks noGrp="1" noChangeArrowheads="1"/>
          </p:cNvSpPr>
          <p:nvPr/>
        </p:nvSpPr>
        <p:spPr bwMode="auto">
          <a:xfrm>
            <a:off x="3966315" y="8820783"/>
            <a:ext cx="3031385" cy="462917"/>
          </a:xfrm>
          <a:prstGeom prst="rect">
            <a:avLst/>
          </a:prstGeom>
          <a:noFill/>
          <a:ln w="9525">
            <a:noFill/>
            <a:miter lim="800000"/>
            <a:headEnd/>
            <a:tailEnd/>
          </a:ln>
        </p:spPr>
        <p:txBody>
          <a:bodyPr wrap="none" lIns="93022" tIns="46511" rIns="93022" bIns="46511" anchor="b"/>
          <a:lstStyle/>
          <a:p>
            <a:pPr algn="r" defTabSz="928787"/>
            <a:fld id="{0D799AF1-7295-4E0B-8743-1CC5B98377B9}" type="slidenum">
              <a:rPr lang="en-US" sz="1200"/>
              <a:pPr algn="r" defTabSz="928787"/>
              <a:t>8</a:t>
            </a:fld>
            <a:endParaRPr lang="en-US" sz="1200" dirty="0"/>
          </a:p>
        </p:txBody>
      </p:sp>
      <p:sp>
        <p:nvSpPr>
          <p:cNvPr id="45059" name="Rectangle 2"/>
          <p:cNvSpPr>
            <a:spLocks noGrp="1" noRot="1" noChangeAspect="1" noChangeArrowheads="1" noTextEdit="1"/>
          </p:cNvSpPr>
          <p:nvPr>
            <p:ph type="sldImg"/>
          </p:nvPr>
        </p:nvSpPr>
        <p:spPr>
          <a:xfrm>
            <a:off x="1177925" y="696913"/>
            <a:ext cx="4641850" cy="3481387"/>
          </a:xfrm>
          <a:ln/>
        </p:spPr>
      </p:sp>
      <p:sp>
        <p:nvSpPr>
          <p:cNvPr id="45060" name="Rectangle 3"/>
          <p:cNvSpPr>
            <a:spLocks noGrp="1" noChangeArrowheads="1"/>
          </p:cNvSpPr>
          <p:nvPr>
            <p:ph type="body" idx="1"/>
          </p:nvPr>
        </p:nvSpPr>
        <p:spPr>
          <a:noFill/>
          <a:ln/>
        </p:spPr>
        <p:txBody>
          <a:bodyPr/>
          <a:lstStyle/>
          <a:p>
            <a:endParaRPr lang="en-US">
              <a:latin typeface="Times New Roman" pitchFamily="18" charset="0"/>
              <a:ea typeface="ＭＳ Ｐゴシック" pitchFamily="34" charset="-128"/>
            </a:endParaRPr>
          </a:p>
        </p:txBody>
      </p:sp>
    </p:spTree>
    <p:extLst>
      <p:ext uri="{BB962C8B-B14F-4D97-AF65-F5344CB8AC3E}">
        <p14:creationId xmlns:p14="http://schemas.microsoft.com/office/powerpoint/2010/main" xmlns="" val="1621809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4516B392-AB16-433E-A341-C08B2964F80A}" type="slidenum">
              <a:rPr lang="en-US" altLang="en-US" sz="1200"/>
              <a:pPr algn="r"/>
              <a:t>9</a:t>
            </a:fld>
            <a:endParaRPr lang="en-US" altLang="en-US" sz="1200" dirty="0"/>
          </a:p>
        </p:txBody>
      </p:sp>
      <p:sp>
        <p:nvSpPr>
          <p:cNvPr id="14338" name="Rectangle 2"/>
          <p:cNvSpPr>
            <a:spLocks noGrp="1" noRot="1" noChangeAspect="1" noChangeArrowheads="1" noTextEdit="1"/>
          </p:cNvSpPr>
          <p:nvPr>
            <p:ph type="sldImg"/>
          </p:nvPr>
        </p:nvSpPr>
        <p:spPr>
          <a:xfrm>
            <a:off x="1177925" y="696913"/>
            <a:ext cx="4641850" cy="3481387"/>
          </a:xfrm>
          <a:ln/>
        </p:spPr>
      </p:sp>
      <p:sp>
        <p:nvSpPr>
          <p:cNvPr id="1433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20393882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5E2E42CA-A09A-4793-8A18-57204D130B58}" type="slidenum">
              <a:rPr lang="en-US" altLang="en-US" sz="1200"/>
              <a:pPr algn="r"/>
              <a:t>10</a:t>
            </a:fld>
            <a:endParaRPr lang="en-US" altLang="en-US" sz="1200" dirty="0"/>
          </a:p>
        </p:txBody>
      </p:sp>
      <p:sp>
        <p:nvSpPr>
          <p:cNvPr id="16386" name="Rectangle 2"/>
          <p:cNvSpPr>
            <a:spLocks noGrp="1" noRot="1" noChangeAspect="1" noChangeArrowheads="1" noTextEdit="1"/>
          </p:cNvSpPr>
          <p:nvPr>
            <p:ph type="sldImg"/>
          </p:nvPr>
        </p:nvSpPr>
        <p:spPr>
          <a:xfrm>
            <a:off x="404813" y="696913"/>
            <a:ext cx="6188075" cy="3481387"/>
          </a:xfrm>
          <a:ln/>
        </p:spPr>
      </p:sp>
      <p:sp>
        <p:nvSpPr>
          <p:cNvPr id="1638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21962114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E7E4010D-B469-485C-9478-EC8472477B61}" type="slidenum">
              <a:rPr lang="en-US" altLang="en-US" sz="1200"/>
              <a:pPr algn="r"/>
              <a:t>11</a:t>
            </a:fld>
            <a:endParaRPr lang="en-US" altLang="en-US" sz="1200" dirty="0"/>
          </a:p>
        </p:txBody>
      </p:sp>
      <p:sp>
        <p:nvSpPr>
          <p:cNvPr id="12290" name="Rectangle 2"/>
          <p:cNvSpPr>
            <a:spLocks noGrp="1" noRot="1" noChangeAspect="1" noChangeArrowheads="1" noTextEdit="1"/>
          </p:cNvSpPr>
          <p:nvPr>
            <p:ph type="sldImg"/>
          </p:nvPr>
        </p:nvSpPr>
        <p:spPr>
          <a:xfrm>
            <a:off x="404813" y="696913"/>
            <a:ext cx="6188075" cy="3481387"/>
          </a:xfrm>
          <a:ln/>
        </p:spPr>
      </p:sp>
      <p:sp>
        <p:nvSpPr>
          <p:cNvPr id="1229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3767324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8F9A1746-BC92-49CA-A120-ACAD23E13744}" type="slidenum">
              <a:rPr lang="en-US" altLang="en-US" sz="1200"/>
              <a:pPr algn="r"/>
              <a:t>12</a:t>
            </a:fld>
            <a:endParaRPr lang="en-US" altLang="en-US" sz="1200" dirty="0"/>
          </a:p>
        </p:txBody>
      </p:sp>
      <p:sp>
        <p:nvSpPr>
          <p:cNvPr id="18434" name="Rectangle 2"/>
          <p:cNvSpPr>
            <a:spLocks noGrp="1" noRot="1" noChangeAspect="1" noChangeArrowheads="1" noTextEdit="1"/>
          </p:cNvSpPr>
          <p:nvPr>
            <p:ph type="sldImg"/>
          </p:nvPr>
        </p:nvSpPr>
        <p:spPr>
          <a:xfrm>
            <a:off x="1177925" y="696913"/>
            <a:ext cx="4641850" cy="3481387"/>
          </a:xfrm>
          <a:ln/>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4974864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FC7DE4E5-79F5-4AF4-9119-D11AC2C04ADD}" type="slidenum">
              <a:rPr lang="en-US" altLang="en-US" sz="1200"/>
              <a:pPr algn="r"/>
              <a:t>13</a:t>
            </a:fld>
            <a:endParaRPr lang="en-US" altLang="en-US" sz="1200" dirty="0"/>
          </a:p>
        </p:txBody>
      </p:sp>
      <p:sp>
        <p:nvSpPr>
          <p:cNvPr id="24578" name="Rectangle 2"/>
          <p:cNvSpPr>
            <a:spLocks noGrp="1" noRot="1" noChangeAspect="1" noChangeArrowheads="1" noTextEdit="1"/>
          </p:cNvSpPr>
          <p:nvPr>
            <p:ph type="sldImg"/>
          </p:nvPr>
        </p:nvSpPr>
        <p:spPr>
          <a:xfrm>
            <a:off x="1177925" y="696913"/>
            <a:ext cx="4641850" cy="3481387"/>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3777222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EAD16834-209D-4E76-8929-855939541692}" type="slidenum">
              <a:rPr lang="en-US" altLang="en-US" sz="1200"/>
              <a:pPr algn="r"/>
              <a:t>14</a:t>
            </a:fld>
            <a:endParaRPr lang="en-US" altLang="en-US" sz="1200" dirty="0"/>
          </a:p>
        </p:txBody>
      </p:sp>
      <p:sp>
        <p:nvSpPr>
          <p:cNvPr id="26626" name="Rectangle 2"/>
          <p:cNvSpPr>
            <a:spLocks noGrp="1" noRot="1" noChangeAspect="1" noChangeArrowheads="1" noTextEdit="1"/>
          </p:cNvSpPr>
          <p:nvPr>
            <p:ph type="sldImg"/>
          </p:nvPr>
        </p:nvSpPr>
        <p:spPr>
          <a:xfrm>
            <a:off x="1177925" y="696913"/>
            <a:ext cx="4641850" cy="3481387"/>
          </a:xfrm>
          <a:ln/>
        </p:spPr>
      </p:sp>
      <p:sp>
        <p:nvSpPr>
          <p:cNvPr id="2662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xmlns="" val="9812381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7BAA96B3-F44A-462E-9F3B-FC947B143EC7}" type="slidenum">
              <a:rPr lang="en-US" altLang="en-US" sz="1200"/>
              <a:pPr algn="r"/>
              <a:t>15</a:t>
            </a:fld>
            <a:endParaRPr lang="en-US" altLang="en-US" sz="1200" dirty="0"/>
          </a:p>
        </p:txBody>
      </p:sp>
      <p:sp>
        <p:nvSpPr>
          <p:cNvPr id="28674" name="Rectangle 2"/>
          <p:cNvSpPr>
            <a:spLocks noGrp="1" noRot="1" noChangeAspect="1" noChangeArrowheads="1" noTextEdit="1"/>
          </p:cNvSpPr>
          <p:nvPr>
            <p:ph type="sldImg"/>
          </p:nvPr>
        </p:nvSpPr>
        <p:spPr>
          <a:xfrm>
            <a:off x="1177925" y="696913"/>
            <a:ext cx="4641850" cy="3481387"/>
          </a:xfrm>
          <a:ln/>
        </p:spPr>
      </p:sp>
      <p:sp>
        <p:nvSpPr>
          <p:cNvPr id="2867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27261417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8F9A1746-BC92-49CA-A120-ACAD23E13744}" type="slidenum">
              <a:rPr lang="en-US" altLang="en-US" sz="1200"/>
              <a:pPr algn="r"/>
              <a:t>16</a:t>
            </a:fld>
            <a:endParaRPr lang="en-US" altLang="en-US" sz="1200" dirty="0"/>
          </a:p>
        </p:txBody>
      </p:sp>
      <p:sp>
        <p:nvSpPr>
          <p:cNvPr id="18434" name="Rectangle 2"/>
          <p:cNvSpPr>
            <a:spLocks noGrp="1" noRot="1" noChangeAspect="1" noChangeArrowheads="1" noTextEdit="1"/>
          </p:cNvSpPr>
          <p:nvPr>
            <p:ph type="sldImg"/>
          </p:nvPr>
        </p:nvSpPr>
        <p:spPr>
          <a:xfrm>
            <a:off x="1177925" y="696913"/>
            <a:ext cx="4641850" cy="3481387"/>
          </a:xfrm>
          <a:ln/>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31831840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FC368658-0DFD-4DB0-8AA5-9E00D9759535}" type="slidenum">
              <a:rPr lang="en-US" altLang="en-US" sz="1200"/>
              <a:pPr algn="r"/>
              <a:t>17</a:t>
            </a:fld>
            <a:endParaRPr lang="en-US" altLang="en-US" sz="1200" dirty="0"/>
          </a:p>
        </p:txBody>
      </p:sp>
      <p:sp>
        <p:nvSpPr>
          <p:cNvPr id="20482" name="Rectangle 2"/>
          <p:cNvSpPr>
            <a:spLocks noGrp="1" noRot="1" noChangeAspect="1" noChangeArrowheads="1" noTextEdit="1"/>
          </p:cNvSpPr>
          <p:nvPr>
            <p:ph type="sldImg"/>
          </p:nvPr>
        </p:nvSpPr>
        <p:spPr>
          <a:xfrm>
            <a:off x="1177925" y="696913"/>
            <a:ext cx="4641850" cy="3481387"/>
          </a:xfrm>
          <a:ln/>
        </p:spPr>
      </p:sp>
      <p:sp>
        <p:nvSpPr>
          <p:cNvPr id="2048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6694795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A1771A0E-559D-43D5-85C1-2D375155CEF8}" type="slidenum">
              <a:rPr lang="en-US" altLang="en-US" sz="1200"/>
              <a:pPr algn="r"/>
              <a:t>18</a:t>
            </a:fld>
            <a:endParaRPr lang="en-US" altLang="en-US" sz="1200" dirty="0"/>
          </a:p>
        </p:txBody>
      </p:sp>
      <p:sp>
        <p:nvSpPr>
          <p:cNvPr id="22530" name="Rectangle 2"/>
          <p:cNvSpPr>
            <a:spLocks noGrp="1" noRot="1" noChangeAspect="1" noChangeArrowheads="1" noTextEdit="1"/>
          </p:cNvSpPr>
          <p:nvPr>
            <p:ph type="sldImg"/>
          </p:nvPr>
        </p:nvSpPr>
        <p:spPr>
          <a:xfrm>
            <a:off x="1177925" y="696913"/>
            <a:ext cx="4641850" cy="3481387"/>
          </a:xfrm>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29210794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A1771A0E-559D-43D5-85C1-2D375155CEF8}" type="slidenum">
              <a:rPr lang="en-US" altLang="en-US" sz="1200"/>
              <a:pPr algn="r"/>
              <a:t>19</a:t>
            </a:fld>
            <a:endParaRPr lang="en-US" altLang="en-US" sz="1200" dirty="0"/>
          </a:p>
        </p:txBody>
      </p:sp>
      <p:sp>
        <p:nvSpPr>
          <p:cNvPr id="22530" name="Rectangle 2"/>
          <p:cNvSpPr>
            <a:spLocks noGrp="1" noRot="1" noChangeAspect="1" noChangeArrowheads="1" noTextEdit="1"/>
          </p:cNvSpPr>
          <p:nvPr>
            <p:ph type="sldImg"/>
          </p:nvPr>
        </p:nvSpPr>
        <p:spPr>
          <a:xfrm>
            <a:off x="1177925" y="696913"/>
            <a:ext cx="4641850" cy="3481387"/>
          </a:xfrm>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29210794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86E3BFCD-61F2-489C-9C66-EB1B41452C50}" type="slidenum">
              <a:rPr lang="en-US" altLang="en-US" sz="1200"/>
              <a:pPr algn="r"/>
              <a:t>20</a:t>
            </a:fld>
            <a:endParaRPr lang="en-US" altLang="en-US" sz="1200" dirty="0"/>
          </a:p>
        </p:txBody>
      </p:sp>
      <p:sp>
        <p:nvSpPr>
          <p:cNvPr id="30722" name="Rectangle 2"/>
          <p:cNvSpPr>
            <a:spLocks noGrp="1" noRot="1" noChangeAspect="1" noChangeArrowheads="1" noTextEdit="1"/>
          </p:cNvSpPr>
          <p:nvPr>
            <p:ph type="sldImg"/>
          </p:nvPr>
        </p:nvSpPr>
        <p:spPr>
          <a:xfrm>
            <a:off x="404813" y="696913"/>
            <a:ext cx="6188075" cy="3481387"/>
          </a:xfrm>
          <a:ln/>
        </p:spPr>
      </p:sp>
      <p:sp>
        <p:nvSpPr>
          <p:cNvPr id="3072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10883393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ACC0252F-502D-463C-A8AA-53AD833A94B6}" type="slidenum">
              <a:rPr lang="en-US" altLang="en-US" sz="1200"/>
              <a:pPr algn="r"/>
              <a:t>21</a:t>
            </a:fld>
            <a:endParaRPr lang="en-US" altLang="en-US" sz="1200" dirty="0"/>
          </a:p>
        </p:txBody>
      </p:sp>
      <p:sp>
        <p:nvSpPr>
          <p:cNvPr id="32770" name="Rectangle 2"/>
          <p:cNvSpPr>
            <a:spLocks noGrp="1" noRot="1" noChangeAspect="1" noChangeArrowheads="1" noTextEdit="1"/>
          </p:cNvSpPr>
          <p:nvPr>
            <p:ph type="sldImg"/>
          </p:nvPr>
        </p:nvSpPr>
        <p:spPr>
          <a:xfrm>
            <a:off x="404813" y="696913"/>
            <a:ext cx="6188075" cy="3481387"/>
          </a:xfrm>
          <a:ln/>
        </p:spPr>
      </p:sp>
      <p:sp>
        <p:nvSpPr>
          <p:cNvPr id="3277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2336176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3AAE4D7F-1E33-42F8-B511-F7C8C40A7E44}" type="slidenum">
              <a:rPr lang="en-US" altLang="en-US" sz="1200"/>
              <a:pPr algn="r"/>
              <a:t>22</a:t>
            </a:fld>
            <a:endParaRPr lang="en-US" altLang="en-US" sz="1200" dirty="0"/>
          </a:p>
        </p:txBody>
      </p:sp>
      <p:sp>
        <p:nvSpPr>
          <p:cNvPr id="34818" name="Rectangle 2"/>
          <p:cNvSpPr>
            <a:spLocks noGrp="1" noRot="1" noChangeAspect="1" noChangeArrowheads="1" noTextEdit="1"/>
          </p:cNvSpPr>
          <p:nvPr>
            <p:ph type="sldImg"/>
          </p:nvPr>
        </p:nvSpPr>
        <p:spPr>
          <a:xfrm>
            <a:off x="404813" y="696913"/>
            <a:ext cx="6188075" cy="3481387"/>
          </a:xfrm>
          <a:ln/>
        </p:spPr>
      </p:sp>
      <p:sp>
        <p:nvSpPr>
          <p:cNvPr id="3481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5834806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DAE1106A-09D7-4CBD-A5F5-BE222B3FA3D1}" type="slidenum">
              <a:rPr lang="en-US" altLang="en-US" sz="1200"/>
              <a:pPr algn="r"/>
              <a:t>23</a:t>
            </a:fld>
            <a:endParaRPr lang="en-US" altLang="en-US" sz="1200" dirty="0"/>
          </a:p>
        </p:txBody>
      </p:sp>
      <p:sp>
        <p:nvSpPr>
          <p:cNvPr id="36866" name="Rectangle 2"/>
          <p:cNvSpPr>
            <a:spLocks noGrp="1" noRot="1" noChangeAspect="1" noChangeArrowheads="1" noTextEdit="1"/>
          </p:cNvSpPr>
          <p:nvPr>
            <p:ph type="sldImg"/>
          </p:nvPr>
        </p:nvSpPr>
        <p:spPr>
          <a:xfrm>
            <a:off x="1177925" y="696913"/>
            <a:ext cx="4641850" cy="3481387"/>
          </a:xfrm>
          <a:ln/>
        </p:spPr>
      </p:sp>
      <p:sp>
        <p:nvSpPr>
          <p:cNvPr id="3686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9624898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DAE1106A-09D7-4CBD-A5F5-BE222B3FA3D1}" type="slidenum">
              <a:rPr lang="en-US" altLang="en-US" sz="1200"/>
              <a:pPr algn="r"/>
              <a:t>24</a:t>
            </a:fld>
            <a:endParaRPr lang="en-US" altLang="en-US" sz="1200" dirty="0"/>
          </a:p>
        </p:txBody>
      </p:sp>
      <p:sp>
        <p:nvSpPr>
          <p:cNvPr id="36866" name="Rectangle 2"/>
          <p:cNvSpPr>
            <a:spLocks noGrp="1" noRot="1" noChangeAspect="1" noChangeArrowheads="1" noTextEdit="1"/>
          </p:cNvSpPr>
          <p:nvPr>
            <p:ph type="sldImg"/>
          </p:nvPr>
        </p:nvSpPr>
        <p:spPr>
          <a:xfrm>
            <a:off x="404813" y="696913"/>
            <a:ext cx="6188075" cy="3481387"/>
          </a:xfrm>
          <a:ln/>
        </p:spPr>
      </p:sp>
      <p:sp>
        <p:nvSpPr>
          <p:cNvPr id="3686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39343620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B19B9DFD-DF31-43CC-8BBB-94C6B775DF6A}" type="slidenum">
              <a:rPr lang="en-US" altLang="en-US" sz="1200"/>
              <a:pPr algn="r"/>
              <a:t>25</a:t>
            </a:fld>
            <a:endParaRPr lang="en-US" altLang="en-US" sz="1200" dirty="0"/>
          </a:p>
        </p:txBody>
      </p:sp>
      <p:sp>
        <p:nvSpPr>
          <p:cNvPr id="50178" name="Rectangle 2"/>
          <p:cNvSpPr>
            <a:spLocks noGrp="1" noRot="1" noChangeAspect="1" noChangeArrowheads="1" noTextEdit="1"/>
          </p:cNvSpPr>
          <p:nvPr>
            <p:ph type="sldImg"/>
          </p:nvPr>
        </p:nvSpPr>
        <p:spPr>
          <a:xfrm>
            <a:off x="404813" y="696913"/>
            <a:ext cx="6188075" cy="3481387"/>
          </a:xfrm>
          <a:ln/>
        </p:spPr>
      </p:sp>
      <p:sp>
        <p:nvSpPr>
          <p:cNvPr id="5017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37043410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B19B9DFD-DF31-43CC-8BBB-94C6B775DF6A}" type="slidenum">
              <a:rPr lang="en-US" altLang="en-US" sz="1200"/>
              <a:pPr algn="r"/>
              <a:t>26</a:t>
            </a:fld>
            <a:endParaRPr lang="en-US" altLang="en-US" sz="1200" dirty="0"/>
          </a:p>
        </p:txBody>
      </p:sp>
      <p:sp>
        <p:nvSpPr>
          <p:cNvPr id="50178" name="Rectangle 2"/>
          <p:cNvSpPr>
            <a:spLocks noGrp="1" noRot="1" noChangeAspect="1" noChangeArrowheads="1" noTextEdit="1"/>
          </p:cNvSpPr>
          <p:nvPr>
            <p:ph type="sldImg"/>
          </p:nvPr>
        </p:nvSpPr>
        <p:spPr>
          <a:xfrm>
            <a:off x="1177925" y="696913"/>
            <a:ext cx="4641850" cy="3481387"/>
          </a:xfrm>
          <a:ln/>
        </p:spPr>
      </p:sp>
      <p:sp>
        <p:nvSpPr>
          <p:cNvPr id="5017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28842101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B19B9DFD-DF31-43CC-8BBB-94C6B775DF6A}" type="slidenum">
              <a:rPr lang="en-US" altLang="en-US" sz="1200"/>
              <a:pPr algn="r"/>
              <a:t>27</a:t>
            </a:fld>
            <a:endParaRPr lang="en-US" altLang="en-US" sz="1200" dirty="0"/>
          </a:p>
        </p:txBody>
      </p:sp>
      <p:sp>
        <p:nvSpPr>
          <p:cNvPr id="50178" name="Rectangle 2"/>
          <p:cNvSpPr>
            <a:spLocks noGrp="1" noRot="1" noChangeAspect="1" noChangeArrowheads="1" noTextEdit="1"/>
          </p:cNvSpPr>
          <p:nvPr>
            <p:ph type="sldImg"/>
          </p:nvPr>
        </p:nvSpPr>
        <p:spPr>
          <a:xfrm>
            <a:off x="1177925" y="696913"/>
            <a:ext cx="4641850" cy="3481387"/>
          </a:xfrm>
          <a:ln/>
        </p:spPr>
      </p:sp>
      <p:sp>
        <p:nvSpPr>
          <p:cNvPr id="5017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29116392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2CA03AE4-EA27-469C-8E49-6A6D2386542F}" type="slidenum">
              <a:rPr lang="en-US" altLang="en-US" sz="1200"/>
              <a:pPr algn="r"/>
              <a:t>28</a:t>
            </a:fld>
            <a:endParaRPr lang="en-US" altLang="en-US" sz="1200" dirty="0"/>
          </a:p>
        </p:txBody>
      </p:sp>
      <p:sp>
        <p:nvSpPr>
          <p:cNvPr id="54274" name="Rectangle 2"/>
          <p:cNvSpPr>
            <a:spLocks noGrp="1" noRot="1" noChangeAspect="1" noChangeArrowheads="1" noTextEdit="1"/>
          </p:cNvSpPr>
          <p:nvPr>
            <p:ph type="sldImg"/>
          </p:nvPr>
        </p:nvSpPr>
        <p:spPr>
          <a:xfrm>
            <a:off x="1177925" y="696913"/>
            <a:ext cx="4641850" cy="3481387"/>
          </a:xfrm>
          <a:ln/>
        </p:spPr>
      </p:sp>
      <p:sp>
        <p:nvSpPr>
          <p:cNvPr id="5427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19026899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8F692E26-C62E-47DD-B019-6402D6B97215}" type="slidenum">
              <a:rPr lang="en-US" altLang="en-US" sz="1200"/>
              <a:pPr algn="r"/>
              <a:t>29</a:t>
            </a:fld>
            <a:endParaRPr lang="en-US" altLang="en-US" sz="1200" dirty="0"/>
          </a:p>
        </p:txBody>
      </p:sp>
      <p:sp>
        <p:nvSpPr>
          <p:cNvPr id="52226" name="Rectangle 2"/>
          <p:cNvSpPr>
            <a:spLocks noGrp="1" noRot="1" noChangeAspect="1" noChangeArrowheads="1" noTextEdit="1"/>
          </p:cNvSpPr>
          <p:nvPr>
            <p:ph type="sldImg"/>
          </p:nvPr>
        </p:nvSpPr>
        <p:spPr>
          <a:xfrm>
            <a:off x="1177925" y="696913"/>
            <a:ext cx="4641850" cy="3481387"/>
          </a:xfrm>
          <a:ln/>
        </p:spPr>
      </p:sp>
      <p:sp>
        <p:nvSpPr>
          <p:cNvPr id="5222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36626190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A9C50108-5EFA-4F84-9892-157B948F69F3}" type="slidenum">
              <a:rPr lang="en-US" altLang="en-US" sz="1200"/>
              <a:pPr algn="r"/>
              <a:t>30</a:t>
            </a:fld>
            <a:endParaRPr lang="en-US" altLang="en-US" sz="1200" dirty="0"/>
          </a:p>
        </p:txBody>
      </p:sp>
      <p:sp>
        <p:nvSpPr>
          <p:cNvPr id="56322" name="Rectangle 2"/>
          <p:cNvSpPr>
            <a:spLocks noGrp="1" noRot="1" noChangeAspect="1" noChangeArrowheads="1" noTextEdit="1"/>
          </p:cNvSpPr>
          <p:nvPr>
            <p:ph type="sldImg"/>
          </p:nvPr>
        </p:nvSpPr>
        <p:spPr>
          <a:xfrm>
            <a:off x="404813" y="696913"/>
            <a:ext cx="6188075" cy="3481387"/>
          </a:xfrm>
          <a:ln/>
        </p:spPr>
      </p:sp>
      <p:sp>
        <p:nvSpPr>
          <p:cNvPr id="5632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22597128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C2F2B756-9213-4637-9F3D-8CD40917EA0A}" type="slidenum">
              <a:rPr lang="en-US" altLang="en-US" sz="1200"/>
              <a:pPr algn="r"/>
              <a:t>31</a:t>
            </a:fld>
            <a:endParaRPr lang="en-US" altLang="en-US" sz="1200" dirty="0"/>
          </a:p>
        </p:txBody>
      </p:sp>
      <p:sp>
        <p:nvSpPr>
          <p:cNvPr id="62466" name="Rectangle 2"/>
          <p:cNvSpPr>
            <a:spLocks noGrp="1" noRot="1" noChangeAspect="1" noChangeArrowheads="1" noTextEdit="1"/>
          </p:cNvSpPr>
          <p:nvPr>
            <p:ph type="sldImg"/>
          </p:nvPr>
        </p:nvSpPr>
        <p:spPr>
          <a:xfrm>
            <a:off x="1177925" y="696913"/>
            <a:ext cx="4641850" cy="3481387"/>
          </a:xfrm>
          <a:ln/>
        </p:spPr>
      </p:sp>
      <p:sp>
        <p:nvSpPr>
          <p:cNvPr id="6246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12535135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C2F2B756-9213-4637-9F3D-8CD40917EA0A}" type="slidenum">
              <a:rPr lang="en-US" altLang="en-US" sz="1200"/>
              <a:pPr algn="r"/>
              <a:t>33</a:t>
            </a:fld>
            <a:endParaRPr lang="en-US" altLang="en-US" sz="1200" dirty="0"/>
          </a:p>
        </p:txBody>
      </p:sp>
      <p:sp>
        <p:nvSpPr>
          <p:cNvPr id="62466" name="Rectangle 2"/>
          <p:cNvSpPr>
            <a:spLocks noGrp="1" noRot="1" noChangeAspect="1" noChangeArrowheads="1" noTextEdit="1"/>
          </p:cNvSpPr>
          <p:nvPr>
            <p:ph type="sldImg"/>
          </p:nvPr>
        </p:nvSpPr>
        <p:spPr>
          <a:xfrm>
            <a:off x="1177925" y="696913"/>
            <a:ext cx="4641850" cy="3481387"/>
          </a:xfrm>
          <a:ln/>
        </p:spPr>
      </p:sp>
      <p:sp>
        <p:nvSpPr>
          <p:cNvPr id="6246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41811032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E8F6CFE8-F4B8-4635-B9A3-190ADFF2F8A1}" type="slidenum">
              <a:rPr lang="en-US" altLang="en-US" sz="1200"/>
              <a:pPr algn="r"/>
              <a:t>34</a:t>
            </a:fld>
            <a:endParaRPr lang="en-US" altLang="en-US" sz="1200" dirty="0"/>
          </a:p>
        </p:txBody>
      </p:sp>
      <p:sp>
        <p:nvSpPr>
          <p:cNvPr id="60418" name="Rectangle 2"/>
          <p:cNvSpPr>
            <a:spLocks noGrp="1" noRot="1" noChangeAspect="1" noChangeArrowheads="1" noTextEdit="1"/>
          </p:cNvSpPr>
          <p:nvPr>
            <p:ph type="sldImg"/>
          </p:nvPr>
        </p:nvSpPr>
        <p:spPr>
          <a:xfrm>
            <a:off x="1177925" y="696913"/>
            <a:ext cx="4641850" cy="3481387"/>
          </a:xfrm>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21552978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C2F2B756-9213-4637-9F3D-8CD40917EA0A}" type="slidenum">
              <a:rPr lang="en-US" altLang="en-US" sz="1200"/>
              <a:pPr algn="r"/>
              <a:t>35</a:t>
            </a:fld>
            <a:endParaRPr lang="en-US" altLang="en-US" sz="1200" dirty="0"/>
          </a:p>
        </p:txBody>
      </p:sp>
      <p:sp>
        <p:nvSpPr>
          <p:cNvPr id="62466" name="Rectangle 2"/>
          <p:cNvSpPr>
            <a:spLocks noGrp="1" noRot="1" noChangeAspect="1" noChangeArrowheads="1" noTextEdit="1"/>
          </p:cNvSpPr>
          <p:nvPr>
            <p:ph type="sldImg"/>
          </p:nvPr>
        </p:nvSpPr>
        <p:spPr>
          <a:xfrm>
            <a:off x="1177925" y="696913"/>
            <a:ext cx="4641850" cy="3481387"/>
          </a:xfrm>
          <a:ln/>
        </p:spPr>
      </p:sp>
      <p:sp>
        <p:nvSpPr>
          <p:cNvPr id="6246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8286248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C2F2B756-9213-4637-9F3D-8CD40917EA0A}" type="slidenum">
              <a:rPr lang="en-US" altLang="en-US" sz="1200"/>
              <a:pPr algn="r"/>
              <a:t>36</a:t>
            </a:fld>
            <a:endParaRPr lang="en-US" altLang="en-US" sz="1200" dirty="0"/>
          </a:p>
        </p:txBody>
      </p:sp>
      <p:sp>
        <p:nvSpPr>
          <p:cNvPr id="62466" name="Rectangle 2"/>
          <p:cNvSpPr>
            <a:spLocks noGrp="1" noRot="1" noChangeAspect="1" noChangeArrowheads="1" noTextEdit="1"/>
          </p:cNvSpPr>
          <p:nvPr>
            <p:ph type="sldImg"/>
          </p:nvPr>
        </p:nvSpPr>
        <p:spPr>
          <a:xfrm>
            <a:off x="1177925" y="696913"/>
            <a:ext cx="4641850" cy="3481387"/>
          </a:xfrm>
          <a:ln/>
        </p:spPr>
      </p:sp>
      <p:sp>
        <p:nvSpPr>
          <p:cNvPr id="6246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28105200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5188066E-62EE-4B9F-B875-24DB77358110}" type="slidenum">
              <a:rPr lang="en-US" altLang="en-US" sz="1200"/>
              <a:pPr algn="r"/>
              <a:t>37</a:t>
            </a:fld>
            <a:endParaRPr lang="en-US" altLang="en-US" sz="1200" dirty="0"/>
          </a:p>
        </p:txBody>
      </p:sp>
      <p:sp>
        <p:nvSpPr>
          <p:cNvPr id="64514" name="Rectangle 2"/>
          <p:cNvSpPr>
            <a:spLocks noGrp="1" noRot="1" noChangeAspect="1" noChangeArrowheads="1" noTextEdit="1"/>
          </p:cNvSpPr>
          <p:nvPr>
            <p:ph type="sldImg"/>
          </p:nvPr>
        </p:nvSpPr>
        <p:spPr>
          <a:xfrm>
            <a:off x="1177925" y="696913"/>
            <a:ext cx="4641850" cy="3481387"/>
          </a:xfrm>
          <a:ln/>
        </p:spPr>
      </p:sp>
      <p:sp>
        <p:nvSpPr>
          <p:cNvPr id="6451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38169728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DE0F9339-897F-48D6-BF47-88403A03B134}" type="slidenum">
              <a:rPr lang="en-US" altLang="en-US" sz="1200"/>
              <a:pPr algn="r"/>
              <a:t>38</a:t>
            </a:fld>
            <a:endParaRPr lang="en-US" altLang="en-US" sz="1200" dirty="0"/>
          </a:p>
        </p:txBody>
      </p:sp>
      <p:sp>
        <p:nvSpPr>
          <p:cNvPr id="66562" name="Rectangle 2"/>
          <p:cNvSpPr>
            <a:spLocks noGrp="1" noRot="1" noChangeAspect="1" noChangeArrowheads="1" noTextEdit="1"/>
          </p:cNvSpPr>
          <p:nvPr>
            <p:ph type="sldImg"/>
          </p:nvPr>
        </p:nvSpPr>
        <p:spPr>
          <a:xfrm>
            <a:off x="1177925" y="696913"/>
            <a:ext cx="4641850" cy="3481387"/>
          </a:xfrm>
          <a:ln/>
        </p:spPr>
      </p:sp>
      <p:sp>
        <p:nvSpPr>
          <p:cNvPr id="6656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8078169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4FEA4BD3-34B5-41A4-AD0A-924F71A2839F}" type="slidenum">
              <a:rPr lang="en-US" altLang="en-US" sz="1200"/>
              <a:pPr algn="r"/>
              <a:t>39</a:t>
            </a:fld>
            <a:endParaRPr lang="en-US" altLang="en-US" sz="1200" dirty="0"/>
          </a:p>
        </p:txBody>
      </p:sp>
      <p:sp>
        <p:nvSpPr>
          <p:cNvPr id="68610" name="Rectangle 2"/>
          <p:cNvSpPr>
            <a:spLocks noGrp="1" noRot="1" noChangeAspect="1" noChangeArrowheads="1" noTextEdit="1"/>
          </p:cNvSpPr>
          <p:nvPr>
            <p:ph type="sldImg"/>
          </p:nvPr>
        </p:nvSpPr>
        <p:spPr>
          <a:xfrm>
            <a:off x="404813" y="696913"/>
            <a:ext cx="6188075" cy="3481387"/>
          </a:xfrm>
          <a:ln/>
        </p:spPr>
      </p:sp>
      <p:sp>
        <p:nvSpPr>
          <p:cNvPr id="6861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7870332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4FEA4BD3-34B5-41A4-AD0A-924F71A2839F}" type="slidenum">
              <a:rPr lang="en-US" altLang="en-US" sz="1200"/>
              <a:pPr algn="r"/>
              <a:t>40</a:t>
            </a:fld>
            <a:endParaRPr lang="en-US" altLang="en-US" sz="1200" dirty="0"/>
          </a:p>
        </p:txBody>
      </p:sp>
      <p:sp>
        <p:nvSpPr>
          <p:cNvPr id="68610" name="Rectangle 2"/>
          <p:cNvSpPr>
            <a:spLocks noGrp="1" noRot="1" noChangeAspect="1" noChangeArrowheads="1" noTextEdit="1"/>
          </p:cNvSpPr>
          <p:nvPr>
            <p:ph type="sldImg"/>
          </p:nvPr>
        </p:nvSpPr>
        <p:spPr>
          <a:xfrm>
            <a:off x="1177925" y="696913"/>
            <a:ext cx="4641850" cy="3481387"/>
          </a:xfrm>
          <a:ln/>
        </p:spPr>
      </p:sp>
      <p:sp>
        <p:nvSpPr>
          <p:cNvPr id="6861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7870332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p:cNvSpPr txBox="1">
            <a:spLocks noGrp="1" noChangeArrowheads="1"/>
          </p:cNvSpPr>
          <p:nvPr/>
        </p:nvSpPr>
        <p:spPr bwMode="auto">
          <a:xfrm>
            <a:off x="3966315" y="8820783"/>
            <a:ext cx="3031385" cy="46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3022" tIns="46511" rIns="93022" bIns="46511"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04F48141-AC33-4BB4-B9B9-0E58D9A72CB1}" type="slidenum">
              <a:rPr lang="en-US" altLang="en-US" sz="1200"/>
              <a:pPr algn="r"/>
              <a:t>41</a:t>
            </a:fld>
            <a:endParaRPr lang="en-US" altLang="en-US" sz="1200" dirty="0"/>
          </a:p>
        </p:txBody>
      </p:sp>
      <p:sp>
        <p:nvSpPr>
          <p:cNvPr id="70658" name="Rectangle 2"/>
          <p:cNvSpPr>
            <a:spLocks noGrp="1" noRot="1" noChangeAspect="1" noChangeArrowheads="1" noTextEdit="1"/>
          </p:cNvSpPr>
          <p:nvPr>
            <p:ph type="sldImg"/>
          </p:nvPr>
        </p:nvSpPr>
        <p:spPr>
          <a:xfrm>
            <a:off x="1177925" y="696913"/>
            <a:ext cx="4641850" cy="3481387"/>
          </a:xfrm>
          <a:ln/>
        </p:spPr>
      </p:sp>
      <p:sp>
        <p:nvSpPr>
          <p:cNvPr id="7065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xmlns="" val="13460826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xmlns="" id="{A25BB261-D773-4836-B381-7A051175F570}"/>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xmlns="" id="{B4760F52-45E1-4E1D-A744-2F2290DE90CC}"/>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3260487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xmlns="" val="4124371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xmlns="" id="{336F2EBE-FF5F-4F9D-A3C2-A59A92D7809D}"/>
              </a:ext>
            </a:extLst>
          </p:cNvPr>
          <p:cNvSpPr>
            <a:spLocks noGrp="1" noChangeArrowheads="1"/>
          </p:cNvSpPr>
          <p:nvPr>
            <p:ph type="sldNum" sz="quarter" idx="10"/>
          </p:nvPr>
        </p:nvSpPr>
        <p:spPr>
          <a:ln/>
        </p:spPr>
        <p:txBody>
          <a:bodyPr/>
          <a:lstStyle>
            <a:lvl1pPr>
              <a:defRPr/>
            </a:lvl1pPr>
          </a:lstStyle>
          <a:p>
            <a:pPr>
              <a:defRPr/>
            </a:pPr>
            <a:fld id="{547F3CAF-32BF-49A6-93F1-59C9E4B7C957}" type="slidenum">
              <a:rPr lang="en-US" altLang="en-US"/>
              <a:pPr>
                <a:defRPr/>
              </a:pPr>
              <a:t>‹#›</a:t>
            </a:fld>
            <a:endParaRPr lang="en-US" altLang="en-US"/>
          </a:p>
        </p:txBody>
      </p:sp>
    </p:spTree>
    <p:extLst>
      <p:ext uri="{BB962C8B-B14F-4D97-AF65-F5344CB8AC3E}">
        <p14:creationId xmlns:p14="http://schemas.microsoft.com/office/powerpoint/2010/main" xmlns="" val="296070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xmlns="" id="{A6D4A7F0-1138-4608-80AA-D0A6F5D41187}"/>
              </a:ext>
            </a:extLst>
          </p:cNvPr>
          <p:cNvSpPr>
            <a:spLocks noGrp="1" noChangeArrowheads="1"/>
          </p:cNvSpPr>
          <p:nvPr>
            <p:ph type="sldNum" sz="quarter" idx="10"/>
          </p:nvPr>
        </p:nvSpPr>
        <p:spPr>
          <a:ln/>
        </p:spPr>
        <p:txBody>
          <a:bodyPr/>
          <a:lstStyle>
            <a:lvl1pPr>
              <a:defRPr/>
            </a:lvl1pPr>
          </a:lstStyle>
          <a:p>
            <a:pPr>
              <a:defRPr/>
            </a:pPr>
            <a:fld id="{00852D5F-D37B-4E9D-98AD-511A1ABBD6A9}" type="slidenum">
              <a:rPr lang="en-US" altLang="en-US"/>
              <a:pPr>
                <a:defRPr/>
              </a:pPr>
              <a:t>‹#›</a:t>
            </a:fld>
            <a:endParaRPr lang="en-US" altLang="en-US"/>
          </a:p>
        </p:txBody>
      </p:sp>
    </p:spTree>
    <p:extLst>
      <p:ext uri="{BB962C8B-B14F-4D97-AF65-F5344CB8AC3E}">
        <p14:creationId xmlns:p14="http://schemas.microsoft.com/office/powerpoint/2010/main" xmlns="" val="411080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xmlns="" id="{56DFCFB3-6710-4DD2-8404-7E55A930F352}"/>
              </a:ext>
            </a:extLst>
          </p:cNvPr>
          <p:cNvSpPr>
            <a:spLocks noGrp="1" noChangeArrowheads="1"/>
          </p:cNvSpPr>
          <p:nvPr>
            <p:ph type="sldNum" sz="quarter" idx="10"/>
          </p:nvPr>
        </p:nvSpPr>
        <p:spPr>
          <a:ln/>
        </p:spPr>
        <p:txBody>
          <a:bodyPr/>
          <a:lstStyle>
            <a:lvl1pPr>
              <a:defRPr/>
            </a:lvl1pPr>
          </a:lstStyle>
          <a:p>
            <a:pPr>
              <a:defRPr/>
            </a:pPr>
            <a:fld id="{C0191CCC-CC48-429B-87C9-7123B48E52D4}" type="slidenum">
              <a:rPr lang="en-US" altLang="en-US"/>
              <a:pPr>
                <a:defRPr/>
              </a:pPr>
              <a:t>‹#›</a:t>
            </a:fld>
            <a:endParaRPr lang="en-US" altLang="en-US"/>
          </a:p>
        </p:txBody>
      </p:sp>
    </p:spTree>
    <p:extLst>
      <p:ext uri="{BB962C8B-B14F-4D97-AF65-F5344CB8AC3E}">
        <p14:creationId xmlns:p14="http://schemas.microsoft.com/office/powerpoint/2010/main" xmlns="" val="251904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xmlns="" id="{BB431453-8F56-47C4-89BA-3EDF3CD092BA}"/>
              </a:ext>
            </a:extLst>
          </p:cNvPr>
          <p:cNvSpPr>
            <a:spLocks noGrp="1" noChangeArrowheads="1"/>
          </p:cNvSpPr>
          <p:nvPr>
            <p:ph type="sldNum" sz="quarter" idx="10"/>
          </p:nvPr>
        </p:nvSpPr>
        <p:spPr>
          <a:ln/>
        </p:spPr>
        <p:txBody>
          <a:bodyPr/>
          <a:lstStyle>
            <a:lvl1pPr>
              <a:defRPr/>
            </a:lvl1pPr>
          </a:lstStyle>
          <a:p>
            <a:pPr>
              <a:defRPr/>
            </a:pPr>
            <a:fld id="{5E9D92F0-DB25-4E6B-A10D-A7937AC7A365}" type="slidenum">
              <a:rPr lang="en-US" altLang="en-US"/>
              <a:pPr>
                <a:defRPr/>
              </a:pPr>
              <a:t>‹#›</a:t>
            </a:fld>
            <a:endParaRPr lang="en-US" altLang="en-US"/>
          </a:p>
        </p:txBody>
      </p:sp>
    </p:spTree>
    <p:extLst>
      <p:ext uri="{BB962C8B-B14F-4D97-AF65-F5344CB8AC3E}">
        <p14:creationId xmlns:p14="http://schemas.microsoft.com/office/powerpoint/2010/main" xmlns="" val="383600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xmlns="" id="{4BE8099E-18A5-481A-9697-216087BE0676}"/>
              </a:ext>
            </a:extLst>
          </p:cNvPr>
          <p:cNvSpPr>
            <a:spLocks noGrp="1" noChangeArrowheads="1"/>
          </p:cNvSpPr>
          <p:nvPr>
            <p:ph type="sldNum" sz="quarter" idx="10"/>
          </p:nvPr>
        </p:nvSpPr>
        <p:spPr>
          <a:ln/>
        </p:spPr>
        <p:txBody>
          <a:bodyPr/>
          <a:lstStyle>
            <a:lvl1pPr>
              <a:defRPr/>
            </a:lvl1pPr>
          </a:lstStyle>
          <a:p>
            <a:pPr>
              <a:defRPr/>
            </a:pPr>
            <a:fld id="{0E555C8E-F740-4D28-8DA3-D7B8E0F6F578}" type="slidenum">
              <a:rPr lang="en-US" altLang="en-US"/>
              <a:pPr>
                <a:defRPr/>
              </a:pPr>
              <a:t>‹#›</a:t>
            </a:fld>
            <a:endParaRPr lang="en-US" altLang="en-US"/>
          </a:p>
        </p:txBody>
      </p:sp>
    </p:spTree>
    <p:extLst>
      <p:ext uri="{BB962C8B-B14F-4D97-AF65-F5344CB8AC3E}">
        <p14:creationId xmlns:p14="http://schemas.microsoft.com/office/powerpoint/2010/main" xmlns="" val="2432147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xmlns="" id="{97E2C57D-1205-411A-BA90-DF60A810F6DB}"/>
              </a:ext>
            </a:extLst>
          </p:cNvPr>
          <p:cNvSpPr>
            <a:spLocks noGrp="1" noChangeArrowheads="1"/>
          </p:cNvSpPr>
          <p:nvPr>
            <p:ph type="sldNum" sz="quarter" idx="10"/>
          </p:nvPr>
        </p:nvSpPr>
        <p:spPr>
          <a:ln/>
        </p:spPr>
        <p:txBody>
          <a:bodyPr/>
          <a:lstStyle>
            <a:lvl1pPr>
              <a:defRPr/>
            </a:lvl1pPr>
          </a:lstStyle>
          <a:p>
            <a:pPr>
              <a:defRPr/>
            </a:pPr>
            <a:fld id="{2BBBE5B0-1186-4DAB-9E97-511F15F5C63C}" type="slidenum">
              <a:rPr lang="en-US" altLang="en-US"/>
              <a:pPr>
                <a:defRPr/>
              </a:pPr>
              <a:t>‹#›</a:t>
            </a:fld>
            <a:endParaRPr lang="en-US" altLang="en-US"/>
          </a:p>
        </p:txBody>
      </p:sp>
    </p:spTree>
    <p:extLst>
      <p:ext uri="{BB962C8B-B14F-4D97-AF65-F5344CB8AC3E}">
        <p14:creationId xmlns:p14="http://schemas.microsoft.com/office/powerpoint/2010/main" xmlns="" val="134880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xmlns="" id="{99EB6957-06EE-46F8-A450-3DB417A1F8A6}"/>
              </a:ext>
            </a:extLst>
          </p:cNvPr>
          <p:cNvSpPr>
            <a:spLocks noGrp="1" noChangeArrowheads="1"/>
          </p:cNvSpPr>
          <p:nvPr>
            <p:ph type="sldNum" sz="quarter" idx="10"/>
          </p:nvPr>
        </p:nvSpPr>
        <p:spPr>
          <a:ln/>
        </p:spPr>
        <p:txBody>
          <a:bodyPr/>
          <a:lstStyle>
            <a:lvl1pPr>
              <a:defRPr/>
            </a:lvl1pPr>
          </a:lstStyle>
          <a:p>
            <a:pPr>
              <a:defRPr/>
            </a:pPr>
            <a:fld id="{F291DB2E-7BC4-4C22-ACAE-0B8B3F0C5147}" type="slidenum">
              <a:rPr lang="en-US" altLang="en-US"/>
              <a:pPr>
                <a:defRPr/>
              </a:pPr>
              <a:t>‹#›</a:t>
            </a:fld>
            <a:endParaRPr lang="en-US" altLang="en-US"/>
          </a:p>
        </p:txBody>
      </p:sp>
    </p:spTree>
    <p:extLst>
      <p:ext uri="{BB962C8B-B14F-4D97-AF65-F5344CB8AC3E}">
        <p14:creationId xmlns:p14="http://schemas.microsoft.com/office/powerpoint/2010/main" xmlns="" val="2481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xmlns="" id="{85C950AD-734E-45C7-8042-5795FFAD6750}"/>
              </a:ext>
            </a:extLst>
          </p:cNvPr>
          <p:cNvSpPr>
            <a:spLocks noGrp="1" noChangeArrowheads="1"/>
          </p:cNvSpPr>
          <p:nvPr>
            <p:ph type="sldNum" sz="quarter" idx="10"/>
          </p:nvPr>
        </p:nvSpPr>
        <p:spPr>
          <a:ln/>
        </p:spPr>
        <p:txBody>
          <a:bodyPr/>
          <a:lstStyle>
            <a:lvl1pPr>
              <a:defRPr/>
            </a:lvl1pPr>
          </a:lstStyle>
          <a:p>
            <a:pPr>
              <a:defRPr/>
            </a:pPr>
            <a:fld id="{D7E5E31B-1343-4510-8DCD-65E7B6544692}" type="slidenum">
              <a:rPr lang="en-US" altLang="en-US"/>
              <a:pPr>
                <a:defRPr/>
              </a:pPr>
              <a:t>‹#›</a:t>
            </a:fld>
            <a:endParaRPr lang="en-US" altLang="en-US"/>
          </a:p>
        </p:txBody>
      </p:sp>
    </p:spTree>
    <p:extLst>
      <p:ext uri="{BB962C8B-B14F-4D97-AF65-F5344CB8AC3E}">
        <p14:creationId xmlns:p14="http://schemas.microsoft.com/office/powerpoint/2010/main" xmlns="" val="17630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xmlns="" id="{C7A7A2CD-B5B0-4CF6-8038-339B0E99E366}"/>
              </a:ext>
            </a:extLst>
          </p:cNvPr>
          <p:cNvSpPr>
            <a:spLocks noGrp="1" noChangeArrowheads="1"/>
          </p:cNvSpPr>
          <p:nvPr>
            <p:ph type="sldNum" sz="quarter" idx="10"/>
          </p:nvPr>
        </p:nvSpPr>
        <p:spPr>
          <a:ln/>
        </p:spPr>
        <p:txBody>
          <a:bodyPr/>
          <a:lstStyle>
            <a:lvl1pPr>
              <a:defRPr/>
            </a:lvl1pPr>
          </a:lstStyle>
          <a:p>
            <a:pPr>
              <a:defRPr/>
            </a:pPr>
            <a:fld id="{833574B0-C055-4E38-82A9-667A1DF1F8D0}" type="slidenum">
              <a:rPr lang="en-US" altLang="en-US"/>
              <a:pPr>
                <a:defRPr/>
              </a:pPr>
              <a:t>‹#›</a:t>
            </a:fld>
            <a:endParaRPr lang="en-US" altLang="en-US"/>
          </a:p>
        </p:txBody>
      </p:sp>
    </p:spTree>
    <p:extLst>
      <p:ext uri="{BB962C8B-B14F-4D97-AF65-F5344CB8AC3E}">
        <p14:creationId xmlns:p14="http://schemas.microsoft.com/office/powerpoint/2010/main" xmlns="" val="2894649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xmlns="" id="{A9796C49-4A73-449B-A170-DFFCD45313DF}"/>
              </a:ext>
            </a:extLst>
          </p:cNvPr>
          <p:cNvSpPr>
            <a:spLocks noGrp="1" noChangeArrowheads="1"/>
          </p:cNvSpPr>
          <p:nvPr>
            <p:ph type="sldNum" sz="quarter" idx="10"/>
          </p:nvPr>
        </p:nvSpPr>
        <p:spPr>
          <a:ln/>
        </p:spPr>
        <p:txBody>
          <a:bodyPr/>
          <a:lstStyle>
            <a:lvl1pPr>
              <a:defRPr/>
            </a:lvl1pPr>
          </a:lstStyle>
          <a:p>
            <a:pPr>
              <a:defRPr/>
            </a:pPr>
            <a:fld id="{300D9E99-A0D8-4F2F-B04A-331DF655FEAB}" type="slidenum">
              <a:rPr lang="en-US" altLang="en-US"/>
              <a:pPr>
                <a:defRPr/>
              </a:pPr>
              <a:t>‹#›</a:t>
            </a:fld>
            <a:endParaRPr lang="en-US" altLang="en-US"/>
          </a:p>
        </p:txBody>
      </p:sp>
    </p:spTree>
    <p:extLst>
      <p:ext uri="{BB962C8B-B14F-4D97-AF65-F5344CB8AC3E}">
        <p14:creationId xmlns:p14="http://schemas.microsoft.com/office/powerpoint/2010/main" xmlns="" val="242282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xmlns="" id="{56112478-D9B7-4D0D-ADE5-62D5EFAAFBBF}"/>
              </a:ext>
            </a:extLst>
          </p:cNvPr>
          <p:cNvSpPr>
            <a:spLocks noGrp="1" noChangeArrowheads="1"/>
          </p:cNvSpPr>
          <p:nvPr>
            <p:ph type="body" idx="1"/>
          </p:nvPr>
        </p:nvSpPr>
        <p:spPr bwMode="auto">
          <a:xfrm>
            <a:off x="748145" y="1093788"/>
            <a:ext cx="7727518" cy="49037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xmlns="" id="{D2EB5033-CF44-472B-B77D-FAA18581E631}"/>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pPr>
                <a:defRPr/>
              </a:pPr>
              <a:t>‹#›</a:t>
            </a:fld>
            <a:endParaRPr lang="en-US" altLang="en-US" dirty="0"/>
          </a:p>
        </p:txBody>
      </p:sp>
      <p:sp>
        <p:nvSpPr>
          <p:cNvPr id="1028" name="Text Box 4">
            <a:extLst>
              <a:ext uri="{FF2B5EF4-FFF2-40B4-BE49-F238E27FC236}">
                <a16:creationId xmlns:a16="http://schemas.microsoft.com/office/drawing/2014/main" xmlns="" id="{D0CFC8B2-2C6C-4CA4-9AFC-14298F0DD4EC}"/>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512005" name="Text Box 5">
            <a:extLst>
              <a:ext uri="{FF2B5EF4-FFF2-40B4-BE49-F238E27FC236}">
                <a16:creationId xmlns:a16="http://schemas.microsoft.com/office/drawing/2014/main" xmlns="" id="{ED25C836-0663-424A-84A7-5AB803422860}"/>
              </a:ext>
            </a:extLst>
          </p:cNvPr>
          <p:cNvSpPr txBox="1">
            <a:spLocks noChangeArrowheads="1"/>
          </p:cNvSpPr>
          <p:nvPr userDrawn="1"/>
        </p:nvSpPr>
        <p:spPr bwMode="auto">
          <a:xfrm>
            <a:off x="4479984" y="6613525"/>
            <a:ext cx="447558"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a:t>
            </a:r>
            <a:fld id="{669DE52E-05EC-4487-BE79-3F9A6A9F8797}"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512006" name="Rectangle 6">
            <a:extLst>
              <a:ext uri="{FF2B5EF4-FFF2-40B4-BE49-F238E27FC236}">
                <a16:creationId xmlns:a16="http://schemas.microsoft.com/office/drawing/2014/main" xmlns="" id="{BFAC4B4C-D3C2-4A14-871E-CC7D45F0769E}"/>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xmlns="" id="{5472E9A1-C06F-4393-872E-7F8100F91627}"/>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xmlns="" id="{0362D880-06BD-4D02-876C-3226AC8E6F10}"/>
              </a:ext>
            </a:extLst>
          </p:cNvPr>
          <p:cNvSpPr>
            <a:spLocks/>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pic>
        <p:nvPicPr>
          <p:cNvPr id="10" name="Picture 8" descr="Cover-6Ed"/>
          <p:cNvPicPr>
            <a:picLocks noChangeAspect="1" noChangeArrowheads="1"/>
          </p:cNvPicPr>
          <p:nvPr userDrawn="1"/>
        </p:nvPicPr>
        <p:blipFill>
          <a:blip r:embed="rId14"/>
          <a:stretch>
            <a:fillRect/>
          </a:stretch>
        </p:blipFill>
        <p:spPr bwMode="auto">
          <a:xfrm>
            <a:off x="5546" y="0"/>
            <a:ext cx="742012" cy="9476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61"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mailto:zhangtq@"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xmlns="" id="{1CB68582-BBE2-4F64-8E5F-7C76410784FB}"/>
              </a:ext>
            </a:extLst>
          </p:cNvPr>
          <p:cNvSpPr>
            <a:spLocks noGrp="1" noChangeArrowheads="1"/>
          </p:cNvSpPr>
          <p:nvPr>
            <p:ph type="ctrTitle"/>
          </p:nvPr>
        </p:nvSpPr>
        <p:spPr>
          <a:xfrm>
            <a:off x="914377" y="2286000"/>
            <a:ext cx="10362940" cy="1143000"/>
          </a:xfrm>
        </p:spPr>
        <p:txBody>
          <a:bodyPr/>
          <a:lstStyle/>
          <a:p>
            <a:pPr>
              <a:defRPr/>
            </a:pPr>
            <a:r>
              <a:rPr lang="en-US" altLang="en-US" dirty="0">
                <a:effectLst>
                  <a:outerShdw blurRad="38100" dist="38100" dir="2700000" algn="tl">
                    <a:srgbClr val="C0C0C0"/>
                  </a:outerShdw>
                </a:effectLst>
              </a:rPr>
              <a:t>Chapter 1: Introduction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页脚占位符 4"/>
          <p:cNvSpPr>
            <a:spLocks noGrp="1"/>
          </p:cNvSpPr>
          <p:nvPr>
            <p:ph type="ftr" sz="quarter" idx="4294967295"/>
          </p:nvPr>
        </p:nvSpPr>
        <p:spPr>
          <a:xfrm>
            <a:off x="4165495" y="6245225"/>
            <a:ext cx="3860703" cy="476250"/>
          </a:xfrm>
          <a:prstGeom prst="rect">
            <a:avLst/>
          </a:prstGeom>
          <a:noFill/>
        </p:spPr>
        <p:txBody>
          <a:bodyPr/>
          <a:lstStyle/>
          <a:p>
            <a:r>
              <a:rPr lang="en-US" altLang="zh-CN">
                <a:latin typeface="Arial" pitchFamily="34" charset="0"/>
              </a:rPr>
              <a:t>Tianqing Zhang  SCU</a:t>
            </a:r>
          </a:p>
        </p:txBody>
      </p:sp>
      <p:sp>
        <p:nvSpPr>
          <p:cNvPr id="5123" name="灯片编号占位符 5"/>
          <p:cNvSpPr>
            <a:spLocks noGrp="1"/>
          </p:cNvSpPr>
          <p:nvPr>
            <p:ph type="sldNum" sz="quarter" idx="4294967295"/>
          </p:nvPr>
        </p:nvSpPr>
        <p:spPr>
          <a:xfrm>
            <a:off x="8737381" y="6245225"/>
            <a:ext cx="2844728" cy="476250"/>
          </a:xfrm>
          <a:prstGeom prst="rect">
            <a:avLst/>
          </a:prstGeom>
          <a:noFill/>
        </p:spPr>
        <p:txBody>
          <a:bodyPr/>
          <a:lstStyle/>
          <a:p>
            <a:fld id="{65EA6AD6-45B5-48A2-A2F9-16B692F63E00}" type="slidenum">
              <a:rPr lang="en-US" altLang="zh-CN" smtClean="0">
                <a:latin typeface="Arial" pitchFamily="34" charset="0"/>
              </a:rPr>
              <a:pPr/>
              <a:t>2</a:t>
            </a:fld>
            <a:endParaRPr lang="en-US" altLang="zh-CN">
              <a:latin typeface="Arial" pitchFamily="34" charset="0"/>
            </a:endParaRPr>
          </a:p>
        </p:txBody>
      </p:sp>
      <p:sp>
        <p:nvSpPr>
          <p:cNvPr id="5124" name="Rectangle 2"/>
          <p:cNvSpPr>
            <a:spLocks noGrp="1" noChangeArrowheads="1"/>
          </p:cNvSpPr>
          <p:nvPr>
            <p:ph type="title"/>
          </p:nvPr>
        </p:nvSpPr>
        <p:spPr>
          <a:xfrm>
            <a:off x="1024441" y="117475"/>
            <a:ext cx="10769330" cy="609600"/>
          </a:xfrm>
        </p:spPr>
        <p:txBody>
          <a:bodyPr/>
          <a:lstStyle/>
          <a:p>
            <a:pPr eaLnBrk="1" hangingPunct="1"/>
            <a:r>
              <a:rPr lang="zh-CN" altLang="en-US" b="0">
                <a:ea typeface="宋体" pitchFamily="2" charset="-122"/>
              </a:rPr>
              <a:t>教学目的、 要求</a:t>
            </a:r>
          </a:p>
        </p:txBody>
      </p:sp>
      <p:sp>
        <p:nvSpPr>
          <p:cNvPr id="5125" name="Rectangle 3"/>
          <p:cNvSpPr>
            <a:spLocks noGrp="1" noChangeArrowheads="1"/>
          </p:cNvSpPr>
          <p:nvPr>
            <p:ph type="body" idx="1"/>
          </p:nvPr>
        </p:nvSpPr>
        <p:spPr>
          <a:xfrm>
            <a:off x="1020391" y="1543947"/>
            <a:ext cx="10972525" cy="4752975"/>
          </a:xfrm>
        </p:spPr>
        <p:txBody>
          <a:bodyPr/>
          <a:lstStyle/>
          <a:p>
            <a:pPr eaLnBrk="1" hangingPunct="1"/>
            <a:r>
              <a:rPr lang="zh-CN" altLang="en-US" sz="1800" b="1" dirty="0">
                <a:latin typeface="宋体" panose="02010600030101010101" pitchFamily="2" charset="-122"/>
                <a:ea typeface="宋体" panose="02010600030101010101" pitchFamily="2" charset="-122"/>
              </a:rPr>
              <a:t>数据库基础知识，着重于基本概念和原理</a:t>
            </a:r>
            <a:endParaRPr lang="en-US" altLang="zh-CN" sz="1400" b="1" dirty="0">
              <a:latin typeface="宋体" panose="02010600030101010101" pitchFamily="2" charset="-122"/>
              <a:ea typeface="宋体" panose="02010600030101010101" pitchFamily="2" charset="-122"/>
            </a:endParaRPr>
          </a:p>
          <a:p>
            <a:pPr marL="933450" lvl="1" indent="-533400" eaLnBrk="1" hangingPunct="1"/>
            <a:r>
              <a:rPr lang="en-US" altLang="zh-CN" sz="1800" b="1" dirty="0">
                <a:latin typeface="宋体" panose="02010600030101010101" pitchFamily="2" charset="-122"/>
                <a:ea typeface="宋体" panose="02010600030101010101" pitchFamily="2" charset="-122"/>
              </a:rPr>
              <a:t>SQL</a:t>
            </a:r>
            <a:r>
              <a:rPr lang="zh-CN" altLang="en-US" sz="1800" b="1" dirty="0">
                <a:latin typeface="宋体" panose="02010600030101010101" pitchFamily="2" charset="-122"/>
                <a:ea typeface="宋体" panose="02010600030101010101" pitchFamily="2" charset="-122"/>
              </a:rPr>
              <a:t>语言</a:t>
            </a:r>
            <a:endParaRPr lang="en-US" altLang="zh-CN" sz="1400" b="1" dirty="0">
              <a:latin typeface="宋体" panose="02010600030101010101" pitchFamily="2" charset="-122"/>
              <a:ea typeface="宋体" panose="02010600030101010101" pitchFamily="2" charset="-122"/>
            </a:endParaRPr>
          </a:p>
          <a:p>
            <a:pPr marL="933450" lvl="1" indent="-533400" eaLnBrk="1" hangingPunct="1"/>
            <a:r>
              <a:rPr lang="zh-CN" altLang="en-US" sz="1800" b="1" dirty="0">
                <a:latin typeface="宋体" panose="02010600030101010101" pitchFamily="2" charset="-122"/>
                <a:ea typeface="宋体" panose="02010600030101010101" pitchFamily="2" charset="-122"/>
              </a:rPr>
              <a:t>数据库设计   理论</a:t>
            </a: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实践</a:t>
            </a:r>
            <a:endParaRPr lang="en-US" altLang="zh-CN" sz="1400" b="1" dirty="0">
              <a:latin typeface="宋体" panose="02010600030101010101" pitchFamily="2" charset="-122"/>
              <a:ea typeface="宋体" panose="02010600030101010101" pitchFamily="2" charset="-122"/>
            </a:endParaRPr>
          </a:p>
          <a:p>
            <a:pPr marL="933450" lvl="1" indent="-533400" eaLnBrk="1" hangingPunct="1"/>
            <a:r>
              <a:rPr lang="zh-CN" altLang="en-US" sz="1800" b="1" dirty="0">
                <a:latin typeface="宋体" panose="02010600030101010101" pitchFamily="2" charset="-122"/>
                <a:ea typeface="宋体" panose="02010600030101010101" pitchFamily="2" charset="-122"/>
              </a:rPr>
              <a:t>事务管理   并发  恢复</a:t>
            </a:r>
            <a:endParaRPr lang="en-US" altLang="zh-CN" sz="1400" b="1" dirty="0">
              <a:latin typeface="宋体" panose="02010600030101010101" pitchFamily="2" charset="-122"/>
              <a:ea typeface="宋体" panose="02010600030101010101" pitchFamily="2" charset="-122"/>
            </a:endParaRPr>
          </a:p>
          <a:p>
            <a:pPr eaLnBrk="1" hangingPunct="1"/>
            <a:r>
              <a:rPr lang="zh-CN" altLang="en-US" sz="1800" b="1" dirty="0">
                <a:latin typeface="宋体" panose="02010600030101010101" pitchFamily="2" charset="-122"/>
                <a:ea typeface="宋体" panose="02010600030101010101" pitchFamily="2" charset="-122"/>
              </a:rPr>
              <a:t>考试成绩：</a:t>
            </a:r>
            <a:endParaRPr lang="en-US" altLang="zh-CN" sz="1400" b="1" dirty="0">
              <a:latin typeface="宋体" panose="02010600030101010101" pitchFamily="2" charset="-122"/>
              <a:ea typeface="宋体" panose="02010600030101010101" pitchFamily="2" charset="-122"/>
            </a:endParaRPr>
          </a:p>
          <a:p>
            <a:pPr marL="533400" indent="-533400" eaLnBrk="1" hangingPunct="1">
              <a:buFontTx/>
              <a:buNone/>
            </a:pPr>
            <a:r>
              <a:rPr lang="zh-CN" altLang="en-US" sz="1800" b="1" dirty="0">
                <a:latin typeface="宋体" panose="02010600030101010101" pitchFamily="2" charset="-122"/>
                <a:ea typeface="宋体" panose="02010600030101010101" pitchFamily="2" charset="-122"/>
              </a:rPr>
              <a:t>     平时成绩    </a:t>
            </a:r>
            <a:r>
              <a:rPr lang="en-US" altLang="zh-CN" sz="1800" b="1" dirty="0">
                <a:latin typeface="宋体" panose="02010600030101010101" pitchFamily="2" charset="-122"/>
                <a:ea typeface="宋体" panose="02010600030101010101" pitchFamily="2" charset="-122"/>
              </a:rPr>
              <a:t>30</a:t>
            </a: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   </a:t>
            </a:r>
            <a:r>
              <a:rPr lang="zh-CN" altLang="en-US" sz="1800" b="1" dirty="0">
                <a:latin typeface="宋体" panose="02010600030101010101" pitchFamily="2" charset="-122"/>
                <a:ea typeface="宋体" panose="02010600030101010101" pitchFamily="2" charset="-122"/>
              </a:rPr>
              <a:t>作业，签到，小测验</a:t>
            </a:r>
            <a:endParaRPr lang="en-US" altLang="zh-CN" sz="1400" b="1" dirty="0">
              <a:latin typeface="宋体" panose="02010600030101010101" pitchFamily="2" charset="-122"/>
              <a:ea typeface="宋体" panose="02010600030101010101" pitchFamily="2" charset="-122"/>
            </a:endParaRPr>
          </a:p>
          <a:p>
            <a:pPr marL="533400" indent="-533400" eaLnBrk="1" hangingPunct="1">
              <a:buFontTx/>
              <a:buNone/>
            </a:pPr>
            <a:r>
              <a:rPr lang="en-US" altLang="zh-CN" sz="1800" b="1" dirty="0">
                <a:latin typeface="宋体" panose="02010600030101010101" pitchFamily="2" charset="-122"/>
                <a:ea typeface="宋体" panose="02010600030101010101" pitchFamily="2" charset="-122"/>
              </a:rPr>
              <a:t>     </a:t>
            </a:r>
            <a:r>
              <a:rPr lang="zh-CN" altLang="en-US" sz="1800" b="1" dirty="0">
                <a:latin typeface="宋体" panose="02010600030101010101" pitchFamily="2" charset="-122"/>
                <a:ea typeface="宋体" panose="02010600030101010101" pitchFamily="2" charset="-122"/>
              </a:rPr>
              <a:t>期末考试    </a:t>
            </a:r>
            <a:r>
              <a:rPr lang="en-US" altLang="zh-CN" sz="1800" b="1" dirty="0">
                <a:latin typeface="宋体" panose="02010600030101010101" pitchFamily="2" charset="-122"/>
                <a:ea typeface="宋体" panose="02010600030101010101" pitchFamily="2" charset="-122"/>
              </a:rPr>
              <a:t>40</a:t>
            </a: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 </a:t>
            </a:r>
          </a:p>
          <a:p>
            <a:pPr marL="533400" indent="-533400" eaLnBrk="1" hangingPunct="1">
              <a:buFontTx/>
              <a:buNone/>
            </a:pPr>
            <a:r>
              <a:rPr lang="en-US" altLang="zh-CN" sz="1800" b="1" dirty="0">
                <a:latin typeface="宋体" panose="02010600030101010101" pitchFamily="2" charset="-122"/>
                <a:ea typeface="宋体" panose="02010600030101010101" pitchFamily="2" charset="-122"/>
              </a:rPr>
              <a:t>     </a:t>
            </a:r>
            <a:r>
              <a:rPr lang="zh-CN" altLang="en-US" sz="1800" b="1" dirty="0">
                <a:latin typeface="宋体" panose="02010600030101010101" pitchFamily="2" charset="-122"/>
                <a:ea typeface="宋体" panose="02010600030101010101" pitchFamily="2" charset="-122"/>
              </a:rPr>
              <a:t>课程设计    </a:t>
            </a:r>
            <a:r>
              <a:rPr lang="en-US" altLang="zh-CN" sz="1800" b="1" dirty="0">
                <a:latin typeface="宋体" panose="02010600030101010101" pitchFamily="2" charset="-122"/>
                <a:ea typeface="宋体" panose="02010600030101010101" pitchFamily="2" charset="-122"/>
              </a:rPr>
              <a:t>30</a:t>
            </a: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a:t>
            </a:r>
          </a:p>
          <a:p>
            <a:pPr eaLnBrk="1" hangingPunct="1"/>
            <a:r>
              <a:rPr lang="zh-CN" altLang="en-US" sz="1800" b="1" dirty="0">
                <a:solidFill>
                  <a:srgbClr val="FF0000"/>
                </a:solidFill>
                <a:latin typeface="宋体" panose="02010600030101010101" pitchFamily="2" charset="-122"/>
                <a:ea typeface="宋体" panose="02010600030101010101" pitchFamily="2" charset="-122"/>
              </a:rPr>
              <a:t>学习方法</a:t>
            </a:r>
            <a:r>
              <a:rPr lang="zh-CN" altLang="en-US" sz="1800" b="1" dirty="0">
                <a:latin typeface="宋体" panose="02010600030101010101" pitchFamily="2" charset="-122"/>
                <a:ea typeface="宋体" panose="02010600030101010101" pitchFamily="2" charset="-122"/>
              </a:rPr>
              <a:t> ：</a:t>
            </a:r>
          </a:p>
          <a:p>
            <a:pPr marL="533400" indent="-533400" eaLnBrk="1" hangingPunct="1">
              <a:buFont typeface="Monotype Sorts"/>
              <a:buNone/>
            </a:pPr>
            <a:r>
              <a:rPr lang="zh-CN" altLang="en-US" sz="1800" b="1" dirty="0">
                <a:latin typeface="宋体" panose="02010600030101010101" pitchFamily="2" charset="-122"/>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PowerPoint </a:t>
            </a:r>
            <a:r>
              <a:rPr lang="zh-CN" altLang="en-US" sz="1800" b="1" dirty="0">
                <a:latin typeface="宋体" panose="02010600030101010101" pitchFamily="2" charset="-122"/>
                <a:ea typeface="宋体" panose="02010600030101010101" pitchFamily="2" charset="-122"/>
              </a:rPr>
              <a:t>每</a:t>
            </a:r>
            <a:r>
              <a:rPr lang="en-US" altLang="zh-CN" sz="1800" b="1" dirty="0">
                <a:latin typeface="宋体" panose="02010600030101010101" pitchFamily="2" charset="-122"/>
                <a:ea typeface="宋体" panose="02010600030101010101" pitchFamily="2" charset="-122"/>
              </a:rPr>
              <a:t>1-2</a:t>
            </a:r>
            <a:r>
              <a:rPr lang="zh-CN" altLang="en-US" sz="1800" b="1" dirty="0">
                <a:latin typeface="宋体" panose="02010600030101010101" pitchFamily="2" charset="-122"/>
                <a:ea typeface="宋体" panose="02010600030101010101" pitchFamily="2" charset="-122"/>
              </a:rPr>
              <a:t>分钟一页。信息量较大，</a:t>
            </a:r>
          </a:p>
          <a:p>
            <a:pPr marL="533400" indent="-533400" eaLnBrk="1" hangingPunct="1">
              <a:buFont typeface="Monotype Sorts"/>
              <a:buNone/>
            </a:pPr>
            <a:r>
              <a:rPr lang="zh-CN" altLang="en-US" sz="1800" b="1" dirty="0">
                <a:latin typeface="宋体" panose="02010600030101010101" pitchFamily="2" charset="-122"/>
                <a:ea typeface="宋体" panose="02010600030101010101" pitchFamily="2" charset="-122"/>
              </a:rPr>
              <a:t>      希望作笔记。试验表明，复制</a:t>
            </a:r>
            <a:r>
              <a:rPr lang="en-US" altLang="zh-CN" sz="1800" b="1" dirty="0">
                <a:latin typeface="宋体" panose="02010600030101010101" pitchFamily="2" charset="-122"/>
                <a:ea typeface="宋体" panose="02010600030101010101" pitchFamily="2" charset="-122"/>
              </a:rPr>
              <a:t>PPT,</a:t>
            </a:r>
            <a:r>
              <a:rPr lang="zh-CN" altLang="en-US" sz="1800" b="1" dirty="0">
                <a:latin typeface="宋体" panose="02010600030101010101" pitchFamily="2" charset="-122"/>
                <a:ea typeface="宋体" panose="02010600030101010101" pitchFamily="2" charset="-122"/>
              </a:rPr>
              <a:t>效果不好</a:t>
            </a:r>
          </a:p>
          <a:p>
            <a:pPr marL="533400" indent="-533400" eaLnBrk="1" hangingPunct="1">
              <a:buFont typeface="Monotype Sorts"/>
              <a:buNone/>
            </a:pPr>
            <a:r>
              <a:rPr lang="zh-CN" altLang="en-US" sz="1800" b="1" dirty="0">
                <a:latin typeface="宋体" panose="02010600030101010101" pitchFamily="2" charset="-122"/>
                <a:ea typeface="宋体" panose="02010600030101010101" pitchFamily="2" charset="-122"/>
              </a:rPr>
              <a:t>      不动笔墨不读书，铅笔在书上作笔记</a:t>
            </a:r>
          </a:p>
          <a:p>
            <a:pPr marL="533400" indent="-533400" eaLnBrk="1" hangingPunct="1">
              <a:buFont typeface="Monotype Sorts"/>
              <a:buNone/>
            </a:pPr>
            <a:r>
              <a:rPr lang="zh-CN" altLang="en-US" sz="1800" dirty="0">
                <a:latin typeface="宋体" panose="02010600030101010101" pitchFamily="2" charset="-122"/>
                <a:ea typeface="宋体" panose="02010600030101010101" pitchFamily="2" charset="-122"/>
              </a:rPr>
              <a:t>     </a:t>
            </a:r>
            <a:r>
              <a:rPr lang="zh-CN" altLang="en-US" sz="1800" dirty="0">
                <a:solidFill>
                  <a:srgbClr val="CC0000"/>
                </a:solidFill>
                <a:latin typeface="宋体" panose="02010600030101010101" pitchFamily="2" charset="-122"/>
                <a:ea typeface="宋体" panose="02010600030101010101" pitchFamily="2" charset="-122"/>
              </a:rPr>
              <a:t>实践非常重要！</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页脚占位符 4"/>
          <p:cNvSpPr>
            <a:spLocks noGrp="1"/>
          </p:cNvSpPr>
          <p:nvPr>
            <p:ph type="ftr" sz="quarter" idx="4294967295"/>
          </p:nvPr>
        </p:nvSpPr>
        <p:spPr>
          <a:xfrm>
            <a:off x="4165495" y="6245225"/>
            <a:ext cx="3860703" cy="476250"/>
          </a:xfrm>
          <a:prstGeom prst="rect">
            <a:avLst/>
          </a:prstGeom>
          <a:noFill/>
        </p:spPr>
        <p:txBody>
          <a:bodyPr/>
          <a:lstStyle/>
          <a:p>
            <a:r>
              <a:rPr lang="en-US" altLang="zh-CN">
                <a:latin typeface="Arial" pitchFamily="34" charset="0"/>
              </a:rPr>
              <a:t>Tianqing Zhang  SCU</a:t>
            </a:r>
          </a:p>
        </p:txBody>
      </p:sp>
      <p:sp>
        <p:nvSpPr>
          <p:cNvPr id="6147" name="灯片编号占位符 5"/>
          <p:cNvSpPr>
            <a:spLocks noGrp="1"/>
          </p:cNvSpPr>
          <p:nvPr>
            <p:ph type="sldNum" sz="quarter" idx="4294967295"/>
          </p:nvPr>
        </p:nvSpPr>
        <p:spPr>
          <a:xfrm>
            <a:off x="8737381" y="6245225"/>
            <a:ext cx="2844728" cy="476250"/>
          </a:xfrm>
          <a:prstGeom prst="rect">
            <a:avLst/>
          </a:prstGeom>
          <a:noFill/>
        </p:spPr>
        <p:txBody>
          <a:bodyPr/>
          <a:lstStyle/>
          <a:p>
            <a:fld id="{06971B66-B0AC-4DA4-B390-D4E1D900A086}" type="slidenum">
              <a:rPr lang="en-US" altLang="zh-CN" smtClean="0">
                <a:latin typeface="Arial" pitchFamily="34" charset="0"/>
              </a:rPr>
              <a:pPr/>
              <a:t>3</a:t>
            </a:fld>
            <a:endParaRPr lang="en-US" altLang="zh-CN">
              <a:latin typeface="Arial" pitchFamily="34" charset="0"/>
            </a:endParaRPr>
          </a:p>
        </p:txBody>
      </p:sp>
      <p:sp>
        <p:nvSpPr>
          <p:cNvPr id="6148" name="Rectangle 2"/>
          <p:cNvSpPr>
            <a:spLocks noGrp="1" noChangeArrowheads="1"/>
          </p:cNvSpPr>
          <p:nvPr>
            <p:ph type="title"/>
          </p:nvPr>
        </p:nvSpPr>
        <p:spPr>
          <a:xfrm>
            <a:off x="1024441" y="117475"/>
            <a:ext cx="10769330" cy="609600"/>
          </a:xfrm>
        </p:spPr>
        <p:txBody>
          <a:bodyPr/>
          <a:lstStyle/>
          <a:p>
            <a:pPr eaLnBrk="1" hangingPunct="1"/>
            <a:endParaRPr lang="zh-CN" altLang="zh-CN">
              <a:ea typeface="宋体" pitchFamily="2" charset="-122"/>
            </a:endParaRPr>
          </a:p>
        </p:txBody>
      </p:sp>
      <p:sp>
        <p:nvSpPr>
          <p:cNvPr id="6149" name="Rectangle 3"/>
          <p:cNvSpPr>
            <a:spLocks noGrp="1" noChangeArrowheads="1"/>
          </p:cNvSpPr>
          <p:nvPr>
            <p:ph type="body" idx="1"/>
          </p:nvPr>
        </p:nvSpPr>
        <p:spPr>
          <a:xfrm>
            <a:off x="926064" y="808038"/>
            <a:ext cx="10303099" cy="4903787"/>
          </a:xfrm>
        </p:spPr>
        <p:txBody>
          <a:bodyPr/>
          <a:lstStyle/>
          <a:p>
            <a:pPr eaLnBrk="1" hangingPunct="1">
              <a:lnSpc>
                <a:spcPct val="90000"/>
              </a:lnSpc>
            </a:pPr>
            <a:r>
              <a:rPr kumimoji="1" lang="en-US" altLang="zh-CN" sz="3199" b="1" dirty="0">
                <a:ea typeface="宋体" pitchFamily="2" charset="-122"/>
              </a:rPr>
              <a:t>Book</a:t>
            </a:r>
            <a:endParaRPr kumimoji="1" lang="en-US" altLang="zh-CN" sz="2400" b="1" dirty="0">
              <a:ea typeface="宋体" pitchFamily="2" charset="-122"/>
              <a:sym typeface="Wingdings" pitchFamily="2" charset="2"/>
            </a:endParaRPr>
          </a:p>
          <a:p>
            <a:pPr lvl="1" eaLnBrk="1" hangingPunct="1">
              <a:lnSpc>
                <a:spcPct val="90000"/>
              </a:lnSpc>
            </a:pPr>
            <a:r>
              <a:rPr lang="en-US" altLang="zh-CN" sz="2666" dirty="0">
                <a:solidFill>
                  <a:srgbClr val="3366FF"/>
                </a:solidFill>
                <a:ea typeface="宋体" pitchFamily="2" charset="-122"/>
              </a:rPr>
              <a:t>by   </a:t>
            </a:r>
            <a:r>
              <a:rPr lang="en-US" altLang="zh-CN" sz="2666" dirty="0" err="1">
                <a:ea typeface="宋体" pitchFamily="2" charset="-122"/>
              </a:rPr>
              <a:t>Silberschatz</a:t>
            </a:r>
            <a:endParaRPr lang="en-US" altLang="zh-CN" sz="2000" dirty="0">
              <a:ea typeface="宋体" pitchFamily="2" charset="-122"/>
            </a:endParaRPr>
          </a:p>
          <a:p>
            <a:pPr lvl="1" eaLnBrk="1" hangingPunct="1">
              <a:lnSpc>
                <a:spcPct val="90000"/>
              </a:lnSpc>
            </a:pPr>
            <a:r>
              <a:rPr lang="zh-CN" altLang="en-US" sz="3733" dirty="0">
                <a:ea typeface="宋体" pitchFamily="2" charset="-122"/>
              </a:rPr>
              <a:t>数据库系统概念</a:t>
            </a:r>
            <a:r>
              <a:rPr lang="zh-CN" altLang="en-US" dirty="0">
                <a:ea typeface="宋体" pitchFamily="2" charset="-122"/>
              </a:rPr>
              <a:t> </a:t>
            </a:r>
            <a:r>
              <a:rPr lang="en-US" altLang="zh-CN" dirty="0">
                <a:ea typeface="宋体" pitchFamily="2" charset="-122"/>
              </a:rPr>
              <a:t>Database System Concepts</a:t>
            </a:r>
            <a:endParaRPr lang="en-US" altLang="zh-CN" sz="2000" dirty="0">
              <a:ea typeface="宋体" pitchFamily="2" charset="-122"/>
            </a:endParaRPr>
          </a:p>
          <a:p>
            <a:pPr eaLnBrk="1" hangingPunct="1">
              <a:lnSpc>
                <a:spcPct val="90000"/>
              </a:lnSpc>
            </a:pPr>
            <a:r>
              <a:rPr lang="en-US" altLang="zh-CN" sz="3199" dirty="0">
                <a:ea typeface="宋体" pitchFamily="2" charset="-122"/>
              </a:rPr>
              <a:t>Reference book</a:t>
            </a:r>
          </a:p>
          <a:p>
            <a:pPr lvl="1" eaLnBrk="1" hangingPunct="1">
              <a:lnSpc>
                <a:spcPct val="90000"/>
              </a:lnSpc>
            </a:pPr>
            <a:r>
              <a:rPr kumimoji="1" lang="en-US" altLang="zh-CN" sz="2666" b="1" dirty="0">
                <a:ea typeface="宋体" pitchFamily="2" charset="-122"/>
              </a:rPr>
              <a:t>Thomas M. Connolly, et al. </a:t>
            </a:r>
            <a:endParaRPr kumimoji="1" lang="en-US" altLang="zh-CN" sz="2000" b="1" i="1" dirty="0">
              <a:ea typeface="宋体" pitchFamily="2" charset="-122"/>
            </a:endParaRPr>
          </a:p>
          <a:p>
            <a:pPr lvl="1" eaLnBrk="1" hangingPunct="1">
              <a:lnSpc>
                <a:spcPct val="90000"/>
              </a:lnSpc>
            </a:pPr>
            <a:r>
              <a:rPr kumimoji="1" lang="en-US" altLang="zh-CN" sz="2666" b="1" i="1" dirty="0">
                <a:ea typeface="宋体" pitchFamily="2" charset="-122"/>
              </a:rPr>
              <a:t>Database Systems: </a:t>
            </a:r>
          </a:p>
          <a:p>
            <a:pPr lvl="2" eaLnBrk="1" hangingPunct="1">
              <a:lnSpc>
                <a:spcPct val="90000"/>
              </a:lnSpc>
              <a:buFontTx/>
              <a:buNone/>
            </a:pPr>
            <a:r>
              <a:rPr kumimoji="1" lang="en-US" altLang="zh-CN" sz="2133" b="1" i="1" dirty="0">
                <a:ea typeface="宋体" pitchFamily="2" charset="-122"/>
              </a:rPr>
              <a:t>A practical approach to Design, Implementation, and Management</a:t>
            </a:r>
            <a:endParaRPr lang="en-US" altLang="zh-CN" sz="1600" dirty="0">
              <a:solidFill>
                <a:srgbClr val="3366FF"/>
              </a:solidFill>
              <a:ea typeface="宋体" pitchFamily="2" charset="-122"/>
            </a:endParaRPr>
          </a:p>
          <a:p>
            <a:pPr eaLnBrk="1" hangingPunct="1">
              <a:lnSpc>
                <a:spcPct val="90000"/>
              </a:lnSpc>
            </a:pPr>
            <a:r>
              <a:rPr lang="zh-CN" altLang="en-US" sz="3199" dirty="0">
                <a:solidFill>
                  <a:srgbClr val="3366FF"/>
                </a:solidFill>
                <a:ea typeface="宋体" pitchFamily="2" charset="-122"/>
              </a:rPr>
              <a:t>交流</a:t>
            </a:r>
          </a:p>
          <a:p>
            <a:pPr lvl="1" eaLnBrk="1" hangingPunct="1">
              <a:lnSpc>
                <a:spcPct val="90000"/>
              </a:lnSpc>
            </a:pPr>
            <a:r>
              <a:rPr lang="en-US" altLang="zh-CN" sz="2666" dirty="0">
                <a:solidFill>
                  <a:srgbClr val="3366FF"/>
                </a:solidFill>
                <a:ea typeface="宋体" pitchFamily="2" charset="-122"/>
                <a:hlinkClick r:id="rId2"/>
              </a:rPr>
              <a:t>zhangtq@</a:t>
            </a:r>
            <a:r>
              <a:rPr lang="en-US" altLang="zh-CN" sz="2666" dirty="0">
                <a:solidFill>
                  <a:srgbClr val="3366FF"/>
                </a:solidFill>
                <a:ea typeface="宋体" pitchFamily="2" charset="-122"/>
              </a:rPr>
              <a:t>scu.edu.cn</a:t>
            </a:r>
            <a:endParaRPr lang="en-US" altLang="zh-CN" sz="2000" dirty="0">
              <a:solidFill>
                <a:srgbClr val="3366FF"/>
              </a:solidFill>
              <a:ea typeface="宋体" pitchFamily="2" charset="-122"/>
            </a:endParaRPr>
          </a:p>
          <a:p>
            <a:pPr lvl="1" eaLnBrk="1" hangingPunct="1">
              <a:lnSpc>
                <a:spcPct val="90000"/>
              </a:lnSpc>
            </a:pPr>
            <a:r>
              <a:rPr lang="en-US" altLang="zh-CN" sz="2666" dirty="0">
                <a:solidFill>
                  <a:srgbClr val="3366FF"/>
                </a:solidFill>
                <a:ea typeface="宋体" pitchFamily="2" charset="-122"/>
              </a:rPr>
              <a:t>139 8196 4715</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页脚占位符 4"/>
          <p:cNvSpPr>
            <a:spLocks noGrp="1"/>
          </p:cNvSpPr>
          <p:nvPr>
            <p:ph type="ftr" sz="quarter" idx="4294967295"/>
          </p:nvPr>
        </p:nvSpPr>
        <p:spPr>
          <a:xfrm>
            <a:off x="4165495" y="6245225"/>
            <a:ext cx="3860703" cy="476250"/>
          </a:xfrm>
          <a:prstGeom prst="rect">
            <a:avLst/>
          </a:prstGeom>
          <a:noFill/>
        </p:spPr>
        <p:txBody>
          <a:bodyPr/>
          <a:lstStyle/>
          <a:p>
            <a:r>
              <a:rPr lang="en-US" altLang="zh-CN">
                <a:latin typeface="Arial" pitchFamily="34" charset="0"/>
              </a:rPr>
              <a:t>Tianqing Zhang  SCU</a:t>
            </a:r>
          </a:p>
        </p:txBody>
      </p:sp>
      <p:sp>
        <p:nvSpPr>
          <p:cNvPr id="7171" name="灯片编号占位符 5"/>
          <p:cNvSpPr>
            <a:spLocks noGrp="1"/>
          </p:cNvSpPr>
          <p:nvPr>
            <p:ph type="sldNum" sz="quarter" idx="4294967295"/>
          </p:nvPr>
        </p:nvSpPr>
        <p:spPr>
          <a:xfrm>
            <a:off x="8737381" y="6245225"/>
            <a:ext cx="2844728" cy="476250"/>
          </a:xfrm>
          <a:prstGeom prst="rect">
            <a:avLst/>
          </a:prstGeom>
          <a:noFill/>
        </p:spPr>
        <p:txBody>
          <a:bodyPr/>
          <a:lstStyle/>
          <a:p>
            <a:fld id="{A47BC1DF-68CC-48B4-A1B7-A4358C8F8005}" type="slidenum">
              <a:rPr lang="en-US" altLang="zh-CN" smtClean="0">
                <a:latin typeface="Arial" pitchFamily="34" charset="0"/>
              </a:rPr>
              <a:pPr/>
              <a:t>4</a:t>
            </a:fld>
            <a:endParaRPr lang="en-US" altLang="zh-CN">
              <a:latin typeface="Arial" pitchFamily="34" charset="0"/>
            </a:endParaRPr>
          </a:p>
        </p:txBody>
      </p:sp>
      <p:sp>
        <p:nvSpPr>
          <p:cNvPr id="7172" name="Rectangle 2"/>
          <p:cNvSpPr>
            <a:spLocks noGrp="1" noChangeArrowheads="1"/>
          </p:cNvSpPr>
          <p:nvPr>
            <p:ph type="title"/>
          </p:nvPr>
        </p:nvSpPr>
        <p:spPr>
          <a:xfrm>
            <a:off x="1024441" y="117475"/>
            <a:ext cx="10769330" cy="609600"/>
          </a:xfrm>
        </p:spPr>
        <p:txBody>
          <a:bodyPr/>
          <a:lstStyle/>
          <a:p>
            <a:pPr eaLnBrk="1" hangingPunct="1"/>
            <a:r>
              <a:rPr lang="zh-CN" altLang="en-US" sz="4266" b="0">
                <a:ea typeface="宋体" pitchFamily="2" charset="-122"/>
              </a:rPr>
              <a:t>教科书作者介绍</a:t>
            </a:r>
          </a:p>
        </p:txBody>
      </p:sp>
      <p:sp>
        <p:nvSpPr>
          <p:cNvPr id="7173" name="Rectangle 3"/>
          <p:cNvSpPr>
            <a:spLocks noGrp="1" noChangeArrowheads="1"/>
          </p:cNvSpPr>
          <p:nvPr>
            <p:ph type="body" idx="1"/>
          </p:nvPr>
        </p:nvSpPr>
        <p:spPr>
          <a:xfrm>
            <a:off x="501638" y="1052513"/>
            <a:ext cx="7321366" cy="4968875"/>
          </a:xfrm>
        </p:spPr>
        <p:txBody>
          <a:bodyPr/>
          <a:lstStyle/>
          <a:p>
            <a:pPr marL="381000" indent="-381000" eaLnBrk="1" hangingPunct="1">
              <a:lnSpc>
                <a:spcPct val="80000"/>
              </a:lnSpc>
              <a:buFontTx/>
              <a:buNone/>
            </a:pPr>
            <a:endParaRPr lang="en-US" altLang="zh-CN" sz="2400" dirty="0">
              <a:ea typeface="宋体" pitchFamily="2" charset="-122"/>
            </a:endParaRPr>
          </a:p>
          <a:p>
            <a:pPr marL="381000" indent="-381000" eaLnBrk="1" hangingPunct="1">
              <a:lnSpc>
                <a:spcPct val="80000"/>
              </a:lnSpc>
              <a:buFontTx/>
              <a:buNone/>
            </a:pPr>
            <a:r>
              <a:rPr lang="en-US" altLang="zh-CN" sz="3199" dirty="0">
                <a:ea typeface="宋体" pitchFamily="2" charset="-122"/>
              </a:rPr>
              <a:t> </a:t>
            </a:r>
            <a:r>
              <a:rPr lang="en-US" altLang="zh-CN" sz="3199" b="1" dirty="0">
                <a:solidFill>
                  <a:srgbClr val="FF3300"/>
                </a:solidFill>
                <a:ea typeface="宋体" pitchFamily="2" charset="-122"/>
              </a:rPr>
              <a:t>Abraham  </a:t>
            </a:r>
            <a:r>
              <a:rPr lang="en-US" altLang="zh-CN" sz="3199" b="1" dirty="0" err="1">
                <a:solidFill>
                  <a:srgbClr val="FF3300"/>
                </a:solidFill>
                <a:ea typeface="宋体" pitchFamily="2" charset="-122"/>
              </a:rPr>
              <a:t>Silberschatz</a:t>
            </a:r>
            <a:r>
              <a:rPr lang="en-US" altLang="zh-CN" sz="3199" dirty="0">
                <a:ea typeface="宋体" pitchFamily="2" charset="-122"/>
              </a:rPr>
              <a:t> ,</a:t>
            </a:r>
          </a:p>
          <a:p>
            <a:pPr marL="381000" indent="-381000" eaLnBrk="1" hangingPunct="1">
              <a:lnSpc>
                <a:spcPct val="80000"/>
              </a:lnSpc>
              <a:buFontTx/>
              <a:buNone/>
            </a:pPr>
            <a:r>
              <a:rPr lang="en-US" altLang="zh-CN" sz="3199" dirty="0">
                <a:ea typeface="宋体" pitchFamily="2" charset="-122"/>
              </a:rPr>
              <a:t>      </a:t>
            </a:r>
            <a:r>
              <a:rPr lang="zh-CN" altLang="en-US" sz="3199" dirty="0">
                <a:ea typeface="宋体" pitchFamily="2" charset="-122"/>
              </a:rPr>
              <a:t>阿伯拉罕</a:t>
            </a:r>
            <a:r>
              <a:rPr lang="en-US" altLang="zh-CN" sz="3199" dirty="0">
                <a:ea typeface="宋体" pitchFamily="2" charset="-122"/>
              </a:rPr>
              <a:t>. </a:t>
            </a:r>
            <a:r>
              <a:rPr lang="zh-CN" altLang="en-US" sz="3199" dirty="0">
                <a:ea typeface="宋体" pitchFamily="2" charset="-122"/>
              </a:rPr>
              <a:t>西尔伯沙茨 ，耶鲁大学计算机系教授，</a:t>
            </a:r>
          </a:p>
          <a:p>
            <a:pPr marL="381000" indent="-381000" eaLnBrk="1" hangingPunct="1">
              <a:lnSpc>
                <a:spcPct val="80000"/>
              </a:lnSpc>
              <a:buFontTx/>
              <a:buNone/>
            </a:pPr>
            <a:r>
              <a:rPr lang="en-US" altLang="zh-CN" sz="3199" b="1" dirty="0">
                <a:solidFill>
                  <a:srgbClr val="FF3300"/>
                </a:solidFill>
                <a:ea typeface="宋体" pitchFamily="2" charset="-122"/>
              </a:rPr>
              <a:t>Henry  F. </a:t>
            </a:r>
            <a:r>
              <a:rPr lang="en-US" altLang="zh-CN" sz="3199" b="1" dirty="0" err="1">
                <a:solidFill>
                  <a:srgbClr val="FF3300"/>
                </a:solidFill>
                <a:ea typeface="宋体" pitchFamily="2" charset="-122"/>
              </a:rPr>
              <a:t>Korth</a:t>
            </a:r>
            <a:r>
              <a:rPr lang="en-US" altLang="zh-CN" sz="3199" dirty="0">
                <a:ea typeface="宋体" pitchFamily="2" charset="-122"/>
              </a:rPr>
              <a:t>    </a:t>
            </a:r>
            <a:r>
              <a:rPr lang="zh-CN" altLang="en-US" sz="3199" dirty="0">
                <a:ea typeface="宋体" pitchFamily="2" charset="-122"/>
              </a:rPr>
              <a:t>里海大学，原贝尔实验室 数据库研究室主任。</a:t>
            </a:r>
          </a:p>
          <a:p>
            <a:pPr marL="381000" indent="-381000" eaLnBrk="1" hangingPunct="1">
              <a:lnSpc>
                <a:spcPct val="80000"/>
              </a:lnSpc>
              <a:buFontTx/>
              <a:buNone/>
            </a:pPr>
            <a:r>
              <a:rPr lang="en-US" altLang="zh-CN" sz="3199" b="1" dirty="0">
                <a:solidFill>
                  <a:srgbClr val="FF3300"/>
                </a:solidFill>
                <a:ea typeface="宋体" pitchFamily="2" charset="-122"/>
              </a:rPr>
              <a:t>S. </a:t>
            </a:r>
            <a:r>
              <a:rPr lang="en-US" altLang="zh-CN" sz="3199" b="1" dirty="0" err="1">
                <a:solidFill>
                  <a:srgbClr val="FF3300"/>
                </a:solidFill>
                <a:ea typeface="宋体" pitchFamily="2" charset="-122"/>
              </a:rPr>
              <a:t>Sudarshan</a:t>
            </a:r>
            <a:r>
              <a:rPr lang="en-US" altLang="zh-CN" sz="3199" dirty="0">
                <a:ea typeface="宋体" pitchFamily="2" charset="-122"/>
              </a:rPr>
              <a:t>       </a:t>
            </a:r>
            <a:r>
              <a:rPr lang="zh-CN" altLang="en-US" sz="3199" dirty="0">
                <a:ea typeface="宋体" pitchFamily="2" charset="-122"/>
              </a:rPr>
              <a:t>印度  </a:t>
            </a:r>
            <a:r>
              <a:rPr lang="en-US" altLang="zh-CN" sz="3199" dirty="0">
                <a:ea typeface="宋体" pitchFamily="2" charset="-122"/>
              </a:rPr>
              <a:t>I </a:t>
            </a:r>
            <a:r>
              <a:rPr lang="en-US" altLang="zh-CN" sz="3199" dirty="0" err="1">
                <a:ea typeface="宋体" pitchFamily="2" charset="-122"/>
              </a:rPr>
              <a:t>I</a:t>
            </a:r>
            <a:r>
              <a:rPr lang="en-US" altLang="zh-CN" sz="3199" dirty="0">
                <a:ea typeface="宋体" pitchFamily="2" charset="-122"/>
              </a:rPr>
              <a:t> T</a:t>
            </a:r>
            <a:r>
              <a:rPr lang="zh-CN" altLang="en-US" sz="3199" dirty="0">
                <a:ea typeface="宋体" pitchFamily="2" charset="-122"/>
              </a:rPr>
              <a:t>计算机工程与科学系，原在 贝尔实验室   </a:t>
            </a:r>
          </a:p>
          <a:p>
            <a:pPr marL="381000" indent="-381000" eaLnBrk="1" hangingPunct="1">
              <a:lnSpc>
                <a:spcPct val="80000"/>
              </a:lnSpc>
              <a:buFontTx/>
              <a:buNone/>
            </a:pPr>
            <a:endParaRPr lang="zh-CN" altLang="en-US" sz="2400" dirty="0">
              <a:ea typeface="宋体" pitchFamily="2" charset="-122"/>
            </a:endParaRPr>
          </a:p>
          <a:p>
            <a:pPr marL="381000" indent="-381000" eaLnBrk="1" hangingPunct="1">
              <a:lnSpc>
                <a:spcPct val="80000"/>
              </a:lnSpc>
              <a:buFontTx/>
              <a:buNone/>
            </a:pPr>
            <a:r>
              <a:rPr lang="zh-CN" altLang="en-US" sz="3199" dirty="0">
                <a:ea typeface="宋体" pitchFamily="2" charset="-122"/>
              </a:rPr>
              <a:t>第</a:t>
            </a:r>
            <a:r>
              <a:rPr lang="en-US" altLang="zh-CN" sz="3199" dirty="0">
                <a:ea typeface="宋体" pitchFamily="2" charset="-122"/>
              </a:rPr>
              <a:t>5</a:t>
            </a:r>
            <a:r>
              <a:rPr lang="zh-CN" altLang="en-US" sz="3199" dirty="0">
                <a:ea typeface="宋体" pitchFamily="2" charset="-122"/>
              </a:rPr>
              <a:t>、</a:t>
            </a:r>
            <a:r>
              <a:rPr lang="en-US" altLang="zh-CN" sz="3199" dirty="0">
                <a:ea typeface="宋体" pitchFamily="2" charset="-122"/>
              </a:rPr>
              <a:t>6</a:t>
            </a:r>
            <a:r>
              <a:rPr lang="zh-CN" altLang="en-US" sz="3199" dirty="0">
                <a:ea typeface="宋体" pitchFamily="2" charset="-122"/>
              </a:rPr>
              <a:t>版好 第</a:t>
            </a:r>
            <a:r>
              <a:rPr lang="en-US" altLang="zh-CN" sz="3199" dirty="0">
                <a:ea typeface="宋体" pitchFamily="2" charset="-122"/>
              </a:rPr>
              <a:t>7</a:t>
            </a:r>
            <a:r>
              <a:rPr lang="zh-CN" altLang="en-US" sz="3199" dirty="0">
                <a:ea typeface="宋体" pitchFamily="2" charset="-122"/>
              </a:rPr>
              <a:t>版很好</a:t>
            </a:r>
          </a:p>
          <a:p>
            <a:pPr marL="381000" indent="-381000" eaLnBrk="1" hangingPunct="1">
              <a:lnSpc>
                <a:spcPct val="80000"/>
              </a:lnSpc>
              <a:buFontTx/>
              <a:buNone/>
            </a:pPr>
            <a:r>
              <a:rPr lang="zh-CN" altLang="en-US" sz="3199" dirty="0">
                <a:ea typeface="宋体" pitchFamily="2" charset="-122"/>
              </a:rPr>
              <a:t>       </a:t>
            </a:r>
            <a:r>
              <a:rPr lang="zh-CN" altLang="en-US" sz="3199" b="1" dirty="0">
                <a:ea typeface="宋体" pitchFamily="2" charset="-122"/>
              </a:rPr>
              <a:t>一本质量在不断</a:t>
            </a:r>
            <a:r>
              <a:rPr lang="zh-CN" altLang="en-US" sz="3199" b="1">
                <a:ea typeface="宋体" pitchFamily="2" charset="-122"/>
              </a:rPr>
              <a:t>上升的教材。</a:t>
            </a:r>
            <a:endParaRPr lang="zh-CN" altLang="en-US" sz="2400" b="1" dirty="0">
              <a:ea typeface="宋体" pitchFamily="2" charset="-122"/>
            </a:endParaRPr>
          </a:p>
          <a:p>
            <a:pPr marL="381000" indent="-381000" eaLnBrk="1" hangingPunct="1">
              <a:lnSpc>
                <a:spcPct val="80000"/>
              </a:lnSpc>
              <a:buFontTx/>
              <a:buNone/>
            </a:pPr>
            <a:endParaRPr lang="zh-CN" altLang="en-US" sz="2400" b="1" dirty="0">
              <a:ea typeface="宋体" pitchFamily="2" charset="-122"/>
            </a:endParaRPr>
          </a:p>
          <a:p>
            <a:pPr marL="381000" indent="-381000" eaLnBrk="1" hangingPunct="1">
              <a:lnSpc>
                <a:spcPct val="80000"/>
              </a:lnSpc>
              <a:buFontTx/>
              <a:buNone/>
            </a:pPr>
            <a:r>
              <a:rPr lang="zh-CN" altLang="en-US" sz="3199" dirty="0">
                <a:ea typeface="宋体" pitchFamily="2" charset="-122"/>
              </a:rPr>
              <a:t>  </a:t>
            </a:r>
          </a:p>
        </p:txBody>
      </p:sp>
      <p:pic>
        <p:nvPicPr>
          <p:cNvPr id="7174" name="Picture 5" descr="作者照片"/>
          <p:cNvPicPr>
            <a:picLocks noChangeAspect="1" noChangeArrowheads="1"/>
          </p:cNvPicPr>
          <p:nvPr/>
        </p:nvPicPr>
        <p:blipFill>
          <a:blip r:embed="rId3"/>
          <a:srcRect/>
          <a:stretch>
            <a:fillRect/>
          </a:stretch>
        </p:blipFill>
        <p:spPr bwMode="auto">
          <a:xfrm>
            <a:off x="8563819" y="981075"/>
            <a:ext cx="3045807" cy="345598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a:xfrm>
            <a:off x="1024441" y="117475"/>
            <a:ext cx="10769330" cy="609600"/>
          </a:xfrm>
        </p:spPr>
        <p:txBody>
          <a:bodyPr/>
          <a:lstStyle/>
          <a:p>
            <a:r>
              <a:rPr lang="en-US" altLang="en-US" sz="3733" dirty="0">
                <a:effectLst>
                  <a:outerShdw blurRad="38100" dist="38100" dir="2700000" algn="tl">
                    <a:srgbClr val="C0C0C0"/>
                  </a:outerShdw>
                </a:effectLst>
              </a:rPr>
              <a:t>Outline</a:t>
            </a:r>
          </a:p>
        </p:txBody>
      </p:sp>
      <p:sp>
        <p:nvSpPr>
          <p:cNvPr id="7170" name="Rectangle 3"/>
          <p:cNvSpPr>
            <a:spLocks noGrp="1" noChangeArrowheads="1"/>
          </p:cNvSpPr>
          <p:nvPr>
            <p:ph idx="1"/>
          </p:nvPr>
        </p:nvSpPr>
        <p:spPr>
          <a:xfrm>
            <a:off x="1024442" y="1093791"/>
            <a:ext cx="10468263" cy="3538368"/>
          </a:xfrm>
        </p:spPr>
        <p:txBody>
          <a:bodyPr lIns="91440"/>
          <a:lstStyle/>
          <a:p>
            <a:pPr indent="-365760"/>
            <a:r>
              <a:rPr lang="en-US" altLang="en-US" sz="2266" dirty="0"/>
              <a:t>Database-System Applications</a:t>
            </a:r>
          </a:p>
          <a:p>
            <a:pPr indent="-365760"/>
            <a:r>
              <a:rPr lang="en-US" altLang="en-US" sz="2266" dirty="0"/>
              <a:t>Purpose of Database Systems</a:t>
            </a:r>
          </a:p>
          <a:p>
            <a:pPr indent="-365760"/>
            <a:r>
              <a:rPr lang="en-US" altLang="en-US" sz="2266" dirty="0"/>
              <a:t>View of Data</a:t>
            </a:r>
          </a:p>
          <a:p>
            <a:pPr indent="-365760"/>
            <a:r>
              <a:rPr lang="en-US" altLang="en-US" sz="2266" dirty="0"/>
              <a:t>Database Languages</a:t>
            </a:r>
          </a:p>
          <a:p>
            <a:pPr indent="-365760"/>
            <a:r>
              <a:rPr lang="en-US" altLang="en-US" sz="2266" dirty="0"/>
              <a:t>Database Design</a:t>
            </a:r>
          </a:p>
          <a:p>
            <a:pPr indent="-365760"/>
            <a:r>
              <a:rPr lang="en-US" altLang="en-US" sz="2266" dirty="0"/>
              <a:t>Database Engine</a:t>
            </a:r>
          </a:p>
          <a:p>
            <a:pPr indent="-365760"/>
            <a:r>
              <a:rPr lang="en-US" altLang="en-US" sz="2266" dirty="0"/>
              <a:t>Database Architecture</a:t>
            </a:r>
          </a:p>
          <a:p>
            <a:pPr indent="-365760"/>
            <a:r>
              <a:rPr lang="en-US" altLang="en-US" sz="2266" dirty="0"/>
              <a:t>Database Users and Administrators</a:t>
            </a:r>
          </a:p>
          <a:p>
            <a:pPr indent="-365760"/>
            <a:r>
              <a:rPr lang="en-US" altLang="en-US" sz="2266" dirty="0"/>
              <a:t>History of Database Systems</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7"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Database Systems</a:t>
            </a:r>
            <a:endParaRPr lang="en-US" altLang="en-US" sz="3200" dirty="0">
              <a:effectLst/>
            </a:endParaRPr>
          </a:p>
        </p:txBody>
      </p:sp>
      <p:sp>
        <p:nvSpPr>
          <p:cNvPr id="9218" name="Rectangle 3"/>
          <p:cNvSpPr>
            <a:spLocks noGrp="1" noChangeArrowheads="1"/>
          </p:cNvSpPr>
          <p:nvPr>
            <p:ph idx="1"/>
          </p:nvPr>
        </p:nvSpPr>
        <p:spPr>
          <a:xfrm>
            <a:off x="1024442" y="946718"/>
            <a:ext cx="9866806" cy="5139757"/>
          </a:xfrm>
        </p:spPr>
        <p:txBody>
          <a:bodyPr/>
          <a:lstStyle/>
          <a:p>
            <a:pPr indent="-365760"/>
            <a:r>
              <a:rPr lang="en-US" altLang="en-US" sz="2266" dirty="0">
                <a:solidFill>
                  <a:srgbClr val="FF0000"/>
                </a:solidFill>
              </a:rPr>
              <a:t>DBMS</a:t>
            </a:r>
            <a:r>
              <a:rPr lang="en-US" altLang="en-US" sz="2266" dirty="0"/>
              <a:t> contains information about a particular enterprise</a:t>
            </a:r>
          </a:p>
          <a:p>
            <a:pPr lvl="1"/>
            <a:r>
              <a:rPr lang="en-US" altLang="en-US" sz="2266" dirty="0"/>
              <a:t>Collection of interrelated data </a:t>
            </a:r>
            <a:r>
              <a:rPr lang="zh-CN" altLang="en-US" sz="2266" dirty="0">
                <a:latin typeface="华文宋体" pitchFamily="2" charset="-122"/>
                <a:ea typeface="华文宋体" pitchFamily="2" charset="-122"/>
              </a:rPr>
              <a:t>相关数据集（</a:t>
            </a:r>
            <a:r>
              <a:rPr lang="en-US" altLang="zh-CN" sz="2266" dirty="0"/>
              <a:t>database</a:t>
            </a:r>
            <a:r>
              <a:rPr lang="zh-CN" altLang="en-US" sz="2266" dirty="0">
                <a:latin typeface="华文宋体" pitchFamily="2" charset="-122"/>
                <a:ea typeface="华文宋体" pitchFamily="2" charset="-122"/>
              </a:rPr>
              <a:t>）</a:t>
            </a:r>
            <a:endParaRPr lang="en-US" altLang="en-US" sz="1700" dirty="0">
              <a:latin typeface="华文宋体" pitchFamily="2" charset="-122"/>
              <a:ea typeface="华文宋体" pitchFamily="2" charset="-122"/>
            </a:endParaRPr>
          </a:p>
          <a:p>
            <a:pPr lvl="1"/>
            <a:r>
              <a:rPr lang="en-US" altLang="en-US" sz="2266" dirty="0"/>
              <a:t>Set of programs to access the data  </a:t>
            </a:r>
            <a:r>
              <a:rPr lang="zh-CN" altLang="en-US" sz="2266" dirty="0">
                <a:latin typeface="华文宋体" pitchFamily="2" charset="-122"/>
                <a:ea typeface="华文宋体" pitchFamily="2" charset="-122"/>
              </a:rPr>
              <a:t>用于访问数据的程序</a:t>
            </a:r>
            <a:endParaRPr lang="en-US" altLang="en-US" sz="1700" dirty="0">
              <a:latin typeface="华文宋体" pitchFamily="2" charset="-122"/>
              <a:ea typeface="华文宋体" pitchFamily="2" charset="-122"/>
            </a:endParaRPr>
          </a:p>
          <a:p>
            <a:pPr lvl="1"/>
            <a:r>
              <a:rPr lang="en-US" altLang="en-US" sz="2266" dirty="0"/>
              <a:t>An environment that is both </a:t>
            </a:r>
            <a:r>
              <a:rPr lang="en-US" altLang="en-US" sz="2266" i="1" dirty="0">
                <a:solidFill>
                  <a:srgbClr val="FF0000"/>
                </a:solidFill>
              </a:rPr>
              <a:t>convenient</a:t>
            </a:r>
            <a:r>
              <a:rPr lang="en-US" altLang="en-US" sz="2266" dirty="0"/>
              <a:t> and </a:t>
            </a:r>
            <a:r>
              <a:rPr lang="en-US" altLang="en-US" sz="2266" i="1" dirty="0">
                <a:solidFill>
                  <a:srgbClr val="FF0000"/>
                </a:solidFill>
              </a:rPr>
              <a:t>efficient</a:t>
            </a:r>
            <a:r>
              <a:rPr lang="en-US" altLang="en-US" sz="2266" dirty="0"/>
              <a:t> to use</a:t>
            </a:r>
          </a:p>
          <a:p>
            <a:pPr indent="-365760"/>
            <a:r>
              <a:rPr lang="en-US" altLang="en-US" sz="2266" dirty="0"/>
              <a:t>Database systems are used to manage collections of data that are:</a:t>
            </a:r>
          </a:p>
          <a:p>
            <a:pPr lvl="1"/>
            <a:r>
              <a:rPr lang="en-US" altLang="en-US" sz="2266" dirty="0">
                <a:solidFill>
                  <a:srgbClr val="FF0000"/>
                </a:solidFill>
              </a:rPr>
              <a:t>Highly valuable </a:t>
            </a:r>
            <a:r>
              <a:rPr lang="zh-CN" altLang="en-US" dirty="0">
                <a:solidFill>
                  <a:srgbClr val="FF0000"/>
                </a:solidFill>
                <a:latin typeface="华文宋体" pitchFamily="2" charset="-122"/>
                <a:ea typeface="华文宋体" pitchFamily="2" charset="-122"/>
              </a:rPr>
              <a:t>高价值</a:t>
            </a:r>
            <a:endParaRPr lang="en-US" altLang="en-US" dirty="0">
              <a:solidFill>
                <a:srgbClr val="FF0000"/>
              </a:solidFill>
              <a:latin typeface="华文宋体" pitchFamily="2" charset="-122"/>
              <a:ea typeface="华文宋体" pitchFamily="2" charset="-122"/>
            </a:endParaRPr>
          </a:p>
          <a:p>
            <a:pPr lvl="1"/>
            <a:r>
              <a:rPr lang="en-US" altLang="en-US" sz="2266" dirty="0">
                <a:solidFill>
                  <a:srgbClr val="FF0000"/>
                </a:solidFill>
              </a:rPr>
              <a:t>Relatively large </a:t>
            </a:r>
            <a:r>
              <a:rPr lang="zh-CN" altLang="en-US" dirty="0">
                <a:solidFill>
                  <a:srgbClr val="FF0000"/>
                </a:solidFill>
                <a:latin typeface="华文宋体" pitchFamily="2" charset="-122"/>
                <a:ea typeface="华文宋体" pitchFamily="2" charset="-122"/>
              </a:rPr>
              <a:t>相对庞大</a:t>
            </a:r>
            <a:endParaRPr lang="en-US" altLang="en-US" dirty="0">
              <a:solidFill>
                <a:srgbClr val="FF0000"/>
              </a:solidFill>
              <a:latin typeface="华文宋体" pitchFamily="2" charset="-122"/>
              <a:ea typeface="华文宋体" pitchFamily="2" charset="-122"/>
            </a:endParaRPr>
          </a:p>
          <a:p>
            <a:pPr lvl="1"/>
            <a:r>
              <a:rPr lang="en-US" altLang="en-US" sz="2266" dirty="0"/>
              <a:t>Accessed by multiple users and applications, often at the same time. </a:t>
            </a:r>
            <a:r>
              <a:rPr lang="zh-CN" altLang="en-US" dirty="0">
                <a:solidFill>
                  <a:srgbClr val="FF0000"/>
                </a:solidFill>
                <a:latin typeface="华文宋体" pitchFamily="2" charset="-122"/>
                <a:ea typeface="华文宋体" pitchFamily="2" charset="-122"/>
              </a:rPr>
              <a:t>多用户、应用同时（并发）访问</a:t>
            </a:r>
            <a:endParaRPr lang="en-US" altLang="en-US" sz="1700" dirty="0">
              <a:solidFill>
                <a:srgbClr val="FF0000"/>
              </a:solidFill>
              <a:latin typeface="华文宋体" pitchFamily="2" charset="-122"/>
              <a:ea typeface="华文宋体" pitchFamily="2" charset="-122"/>
            </a:endParaRPr>
          </a:p>
          <a:p>
            <a:pPr marL="365760" indent="-365760"/>
            <a:r>
              <a:rPr lang="en-US" altLang="en-US" sz="2266" dirty="0"/>
              <a:t>A modern database system is a complex software system whose task is to manage a large, complex collection of data.</a:t>
            </a:r>
          </a:p>
          <a:p>
            <a:pPr indent="-365760"/>
            <a:r>
              <a:rPr lang="en-US" sz="2266" dirty="0">
                <a:ea typeface="ＭＳ Ｐゴシック" pitchFamily="34" charset="-128"/>
              </a:rPr>
              <a:t>Databases touch all aspects of our lives</a:t>
            </a:r>
          </a:p>
          <a:p>
            <a:endParaRPr lang="en-US" altLang="en-US" dirty="0"/>
          </a:p>
          <a:p>
            <a:pPr>
              <a:buNone/>
            </a:pPr>
            <a:endParaRPr lang="en-US" altLang="en-US" dirty="0"/>
          </a:p>
          <a:p>
            <a:endParaRPr lang="en-US" altLang="en-US" dirty="0"/>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24441" y="117475"/>
            <a:ext cx="10769330" cy="609600"/>
          </a:xfrm>
          <a:noFill/>
        </p:spPr>
        <p:txBody>
          <a:bodyPr/>
          <a:lstStyle/>
          <a:p>
            <a:r>
              <a:rPr lang="en-US" sz="3733" dirty="0">
                <a:effectLst/>
                <a:ea typeface="ＭＳ Ｐゴシック" pitchFamily="34" charset="-128"/>
              </a:rPr>
              <a:t>Database Applications Examples</a:t>
            </a:r>
          </a:p>
        </p:txBody>
      </p:sp>
      <p:sp>
        <p:nvSpPr>
          <p:cNvPr id="5123" name="Rectangle 3"/>
          <p:cNvSpPr>
            <a:spLocks noGrp="1" noChangeArrowheads="1"/>
          </p:cNvSpPr>
          <p:nvPr>
            <p:ph idx="1"/>
          </p:nvPr>
        </p:nvSpPr>
        <p:spPr>
          <a:xfrm>
            <a:off x="1053016" y="757928"/>
            <a:ext cx="10101959" cy="5485709"/>
          </a:xfrm>
        </p:spPr>
        <p:txBody>
          <a:bodyPr/>
          <a:lstStyle/>
          <a:p>
            <a:r>
              <a:rPr lang="en-US" sz="2266" dirty="0">
                <a:ea typeface="ＭＳ Ｐゴシック" pitchFamily="34" charset="-128"/>
              </a:rPr>
              <a:t>Enterprise Information</a:t>
            </a:r>
          </a:p>
          <a:p>
            <a:pPr lvl="1"/>
            <a:r>
              <a:rPr lang="en-US" sz="2266" dirty="0">
                <a:ea typeface="ＭＳ Ｐゴシック" pitchFamily="34" charset="-128"/>
              </a:rPr>
              <a:t>Sales: customers, products, purchases  </a:t>
            </a:r>
            <a:r>
              <a:rPr lang="zh-CN" altLang="en-US" dirty="0">
                <a:latin typeface="华文宋体" pitchFamily="2" charset="-122"/>
                <a:ea typeface="华文宋体" pitchFamily="2" charset="-122"/>
                <a:cs typeface="ＭＳ Ｐゴシック" charset="0"/>
              </a:rPr>
              <a:t>销售</a:t>
            </a:r>
            <a:endParaRPr lang="en-US" altLang="en-US" dirty="0">
              <a:latin typeface="华文宋体" pitchFamily="2" charset="-122"/>
              <a:ea typeface="华文宋体" pitchFamily="2" charset="-122"/>
              <a:cs typeface="ＭＳ Ｐゴシック" charset="0"/>
            </a:endParaRPr>
          </a:p>
          <a:p>
            <a:pPr lvl="1"/>
            <a:r>
              <a:rPr lang="en-US" sz="2266" dirty="0">
                <a:ea typeface="ＭＳ Ｐゴシック" pitchFamily="34" charset="-128"/>
              </a:rPr>
              <a:t>Accounting: payments, receipts, assets  </a:t>
            </a:r>
            <a:r>
              <a:rPr lang="zh-CN" altLang="en-US" dirty="0">
                <a:latin typeface="华文宋体" pitchFamily="2" charset="-122"/>
                <a:ea typeface="华文宋体" pitchFamily="2" charset="-122"/>
                <a:cs typeface="ＭＳ Ｐゴシック" charset="0"/>
              </a:rPr>
              <a:t>会计</a:t>
            </a:r>
            <a:endParaRPr lang="en-US" altLang="en-US" dirty="0">
              <a:latin typeface="华文宋体" pitchFamily="2" charset="-122"/>
              <a:ea typeface="华文宋体" pitchFamily="2" charset="-122"/>
              <a:cs typeface="ＭＳ Ｐゴシック" charset="0"/>
            </a:endParaRPr>
          </a:p>
          <a:p>
            <a:pPr lvl="1"/>
            <a:r>
              <a:rPr lang="en-US" sz="2266" dirty="0">
                <a:ea typeface="ＭＳ Ｐゴシック" pitchFamily="34" charset="-128"/>
              </a:rPr>
              <a:t>Human Resources: Information about employees, salaries, payroll taxes. </a:t>
            </a:r>
            <a:r>
              <a:rPr lang="zh-CN" altLang="en-US" dirty="0">
                <a:latin typeface="华文宋体" pitchFamily="2" charset="-122"/>
                <a:ea typeface="华文宋体" pitchFamily="2" charset="-122"/>
                <a:cs typeface="ＭＳ Ｐゴシック" charset="0"/>
              </a:rPr>
              <a:t>人力资源</a:t>
            </a:r>
            <a:endParaRPr lang="en-US" altLang="en-US" dirty="0">
              <a:latin typeface="华文宋体" pitchFamily="2" charset="-122"/>
              <a:ea typeface="华文宋体" pitchFamily="2" charset="-122"/>
              <a:cs typeface="ＭＳ Ｐゴシック" charset="0"/>
            </a:endParaRPr>
          </a:p>
          <a:p>
            <a:r>
              <a:rPr lang="en-US" sz="2266" dirty="0">
                <a:ea typeface="ＭＳ Ｐゴシック" pitchFamily="34" charset="-128"/>
              </a:rPr>
              <a:t>Manufacturing: management of production, inventory, orders, supply chain. </a:t>
            </a:r>
            <a:r>
              <a:rPr lang="zh-CN" altLang="en-US" dirty="0">
                <a:latin typeface="华文宋体" pitchFamily="2" charset="-122"/>
                <a:ea typeface="华文宋体" pitchFamily="2" charset="-122"/>
              </a:rPr>
              <a:t>制造</a:t>
            </a:r>
            <a:endParaRPr lang="en-US" altLang="en-US" dirty="0">
              <a:latin typeface="华文宋体" pitchFamily="2" charset="-122"/>
              <a:ea typeface="华文宋体" pitchFamily="2" charset="-122"/>
            </a:endParaRPr>
          </a:p>
          <a:p>
            <a:r>
              <a:rPr lang="en-US" sz="2266" dirty="0">
                <a:ea typeface="ＭＳ Ｐゴシック" pitchFamily="34" charset="-128"/>
              </a:rPr>
              <a:t>Banking and finance </a:t>
            </a:r>
            <a:r>
              <a:rPr lang="zh-CN" altLang="en-US" dirty="0">
                <a:latin typeface="华文宋体" pitchFamily="2" charset="-122"/>
                <a:ea typeface="华文宋体" pitchFamily="2" charset="-122"/>
              </a:rPr>
              <a:t>银行 金融</a:t>
            </a:r>
            <a:endParaRPr lang="en-US" altLang="en-US" dirty="0">
              <a:latin typeface="华文宋体" pitchFamily="2" charset="-122"/>
              <a:ea typeface="华文宋体" pitchFamily="2" charset="-122"/>
            </a:endParaRPr>
          </a:p>
          <a:p>
            <a:pPr lvl="1"/>
            <a:r>
              <a:rPr lang="en-US" sz="2266" dirty="0">
                <a:ea typeface="ＭＳ Ｐゴシック" pitchFamily="34" charset="-128"/>
              </a:rPr>
              <a:t>customer information, accounts, loans, and banking transactions.</a:t>
            </a:r>
          </a:p>
          <a:p>
            <a:pPr lvl="1"/>
            <a:r>
              <a:rPr lang="en-US" sz="2266" dirty="0">
                <a:ea typeface="ＭＳ Ｐゴシック" pitchFamily="34" charset="-128"/>
              </a:rPr>
              <a:t>Credit card transactions</a:t>
            </a:r>
          </a:p>
          <a:p>
            <a:pPr lvl="1"/>
            <a:r>
              <a:rPr lang="en-US" sz="2266" dirty="0">
                <a:ea typeface="ＭＳ Ｐゴシック" pitchFamily="34" charset="-128"/>
              </a:rPr>
              <a:t>Finance:  sales and purchases of financial instruments (e.g., stocks and bonds; storing real-time market data</a:t>
            </a:r>
          </a:p>
          <a:p>
            <a:r>
              <a:rPr lang="en-US" sz="2266" dirty="0">
                <a:ea typeface="ＭＳ Ｐゴシック" pitchFamily="34" charset="-128"/>
              </a:rPr>
              <a:t>Universities:  registration, grades </a:t>
            </a:r>
            <a:r>
              <a:rPr lang="zh-CN" altLang="en-US" dirty="0">
                <a:latin typeface="华文宋体" pitchFamily="2" charset="-122"/>
                <a:ea typeface="华文宋体" pitchFamily="2" charset="-122"/>
              </a:rPr>
              <a:t>大学</a:t>
            </a:r>
            <a:endParaRPr lang="en-US" altLang="en-US" dirty="0">
              <a:latin typeface="华文宋体" pitchFamily="2" charset="-122"/>
              <a:ea typeface="华文宋体" pitchFamily="2" charset="-122"/>
            </a:endParaRPr>
          </a:p>
          <a:p>
            <a:pPr>
              <a:buNone/>
            </a:pPr>
            <a:endParaRPr lang="en-US" dirty="0">
              <a:ea typeface="ＭＳ Ｐゴシック" pitchFamily="34" charset="-128"/>
            </a:endParaRPr>
          </a:p>
          <a:p>
            <a:endParaRPr lang="en-US" dirty="0">
              <a:ea typeface="ＭＳ Ｐゴシック" pitchFamily="34" charset="-128"/>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154485" y="117475"/>
            <a:ext cx="10769330" cy="609600"/>
          </a:xfrm>
          <a:noFill/>
        </p:spPr>
        <p:txBody>
          <a:bodyPr/>
          <a:lstStyle/>
          <a:p>
            <a:r>
              <a:rPr lang="en-US" sz="3733" dirty="0">
                <a:effectLst/>
                <a:ea typeface="ＭＳ Ｐゴシック" pitchFamily="34" charset="-128"/>
              </a:rPr>
              <a:t>Database Applications Examples (Cont.)</a:t>
            </a:r>
          </a:p>
        </p:txBody>
      </p:sp>
      <p:sp>
        <p:nvSpPr>
          <p:cNvPr id="5123" name="Rectangle 3"/>
          <p:cNvSpPr>
            <a:spLocks noGrp="1" noChangeArrowheads="1"/>
          </p:cNvSpPr>
          <p:nvPr>
            <p:ph idx="1"/>
          </p:nvPr>
        </p:nvSpPr>
        <p:spPr>
          <a:xfrm>
            <a:off x="1006112" y="1093790"/>
            <a:ext cx="10155799" cy="4903787"/>
          </a:xfrm>
        </p:spPr>
        <p:txBody>
          <a:bodyPr/>
          <a:lstStyle/>
          <a:p>
            <a:r>
              <a:rPr lang="en-US" sz="2266" dirty="0">
                <a:ea typeface="ＭＳ Ｐゴシック" pitchFamily="34" charset="-128"/>
              </a:rPr>
              <a:t>Airlines: reservations, schedules </a:t>
            </a:r>
            <a:r>
              <a:rPr lang="zh-CN" altLang="en-US" sz="2266" dirty="0">
                <a:latin typeface="华文宋体" pitchFamily="2" charset="-122"/>
                <a:ea typeface="华文宋体" pitchFamily="2" charset="-122"/>
              </a:rPr>
              <a:t>航空 订票 计划调度</a:t>
            </a:r>
            <a:endParaRPr lang="en-US" sz="1700" dirty="0">
              <a:latin typeface="华文宋体" pitchFamily="2" charset="-122"/>
              <a:ea typeface="华文宋体" pitchFamily="2" charset="-122"/>
            </a:endParaRPr>
          </a:p>
          <a:p>
            <a:r>
              <a:rPr lang="en-US" sz="2266" dirty="0">
                <a:ea typeface="ＭＳ Ｐゴシック" pitchFamily="34" charset="-128"/>
              </a:rPr>
              <a:t>Telecommunication: records of calls, texts, and data usage, generating monthly bills, maintaining balances on prepaid calling cards  </a:t>
            </a:r>
            <a:r>
              <a:rPr lang="zh-CN" altLang="en-US" dirty="0">
                <a:latin typeface="华文宋体" pitchFamily="2" charset="-122"/>
                <a:ea typeface="华文宋体" pitchFamily="2" charset="-122"/>
              </a:rPr>
              <a:t>电信</a:t>
            </a:r>
            <a:endParaRPr lang="en-US" altLang="en-US" dirty="0">
              <a:latin typeface="华文宋体" pitchFamily="2" charset="-122"/>
              <a:ea typeface="华文宋体" pitchFamily="2" charset="-122"/>
            </a:endParaRPr>
          </a:p>
          <a:p>
            <a:r>
              <a:rPr lang="en-US" sz="2266" dirty="0">
                <a:ea typeface="ＭＳ Ｐゴシック" pitchFamily="34" charset="-128"/>
              </a:rPr>
              <a:t>Web-based services</a:t>
            </a:r>
          </a:p>
          <a:p>
            <a:pPr lvl="1"/>
            <a:r>
              <a:rPr lang="en-US" sz="2266" dirty="0">
                <a:ea typeface="ＭＳ Ｐゴシック" pitchFamily="34" charset="-128"/>
              </a:rPr>
              <a:t>Online retailers: order tracking, customized recommendations</a:t>
            </a:r>
          </a:p>
          <a:p>
            <a:pPr lvl="1"/>
            <a:r>
              <a:rPr lang="en-US" sz="2266" dirty="0">
                <a:ea typeface="ＭＳ Ｐゴシック" pitchFamily="34" charset="-128"/>
              </a:rPr>
              <a:t>Online advertisements</a:t>
            </a:r>
          </a:p>
          <a:p>
            <a:r>
              <a:rPr lang="en-US" sz="2266" dirty="0">
                <a:ea typeface="ＭＳ Ｐゴシック" pitchFamily="34" charset="-128"/>
              </a:rPr>
              <a:t>Document databases </a:t>
            </a:r>
            <a:r>
              <a:rPr lang="zh-CN" altLang="en-US" dirty="0">
                <a:latin typeface="华文宋体" pitchFamily="2" charset="-122"/>
                <a:ea typeface="华文宋体" pitchFamily="2" charset="-122"/>
              </a:rPr>
              <a:t>文档数据库</a:t>
            </a:r>
            <a:endParaRPr lang="en-US" altLang="en-US" dirty="0">
              <a:latin typeface="华文宋体" pitchFamily="2" charset="-122"/>
              <a:ea typeface="华文宋体" pitchFamily="2" charset="-122"/>
            </a:endParaRPr>
          </a:p>
          <a:p>
            <a:r>
              <a:rPr lang="en-US" sz="2266" dirty="0">
                <a:ea typeface="ＭＳ Ｐゴシック" pitchFamily="34" charset="-128"/>
              </a:rPr>
              <a:t>Navigation systems: For maintaining the locations of varies places of interest along with the exact routes of roads, train systems, buses, etc.  </a:t>
            </a:r>
            <a:r>
              <a:rPr lang="zh-CN" altLang="en-US" dirty="0">
                <a:latin typeface="华文宋体" pitchFamily="2" charset="-122"/>
                <a:ea typeface="华文宋体" pitchFamily="2" charset="-122"/>
              </a:rPr>
              <a:t>导航系统</a:t>
            </a:r>
            <a:endParaRPr lang="en-US" altLang="en-US" dirty="0">
              <a:latin typeface="华文宋体" pitchFamily="2" charset="-122"/>
              <a:ea typeface="华文宋体" pitchFamily="2" charset="-122"/>
            </a:endParaRPr>
          </a:p>
          <a:p>
            <a:pPr lvl="1"/>
            <a:endParaRPr lang="en-US" dirty="0">
              <a:ea typeface="ＭＳ Ｐゴシック" pitchFamily="34" charset="-128"/>
            </a:endParaRPr>
          </a:p>
          <a:p>
            <a:pPr>
              <a:buNone/>
            </a:pPr>
            <a:endParaRPr lang="en-US" dirty="0">
              <a:ea typeface="ＭＳ Ｐゴシック" pitchFamily="34" charset="-128"/>
            </a:endParaRPr>
          </a:p>
          <a:p>
            <a:endParaRPr lang="en-US" dirty="0">
              <a:ea typeface="ＭＳ Ｐゴシック" pitchFamily="34" charset="-128"/>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Purpose of Database Systems</a:t>
            </a:r>
          </a:p>
        </p:txBody>
      </p:sp>
      <p:sp>
        <p:nvSpPr>
          <p:cNvPr id="13314" name="Rectangle 3"/>
          <p:cNvSpPr>
            <a:spLocks noGrp="1" noChangeArrowheads="1"/>
          </p:cNvSpPr>
          <p:nvPr>
            <p:ph idx="1"/>
          </p:nvPr>
        </p:nvSpPr>
        <p:spPr>
          <a:xfrm>
            <a:off x="1432228" y="1851328"/>
            <a:ext cx="9753354" cy="3988640"/>
          </a:xfrm>
        </p:spPr>
        <p:txBody>
          <a:bodyPr/>
          <a:lstStyle/>
          <a:p>
            <a:r>
              <a:rPr lang="en-US" altLang="en-US" sz="2266" dirty="0">
                <a:solidFill>
                  <a:srgbClr val="FF0000"/>
                </a:solidFill>
              </a:rPr>
              <a:t>Data redundancy</a:t>
            </a:r>
            <a:r>
              <a:rPr lang="en-US" altLang="en-US" sz="2266" dirty="0"/>
              <a:t>(</a:t>
            </a:r>
            <a:r>
              <a:rPr lang="zh-CN" altLang="en-US" dirty="0">
                <a:latin typeface="华文宋体" pitchFamily="2" charset="-122"/>
                <a:ea typeface="华文宋体" pitchFamily="2" charset="-122"/>
              </a:rPr>
              <a:t>数据冗余</a:t>
            </a:r>
            <a:r>
              <a:rPr lang="en-US" altLang="zh-CN" sz="2266" dirty="0"/>
              <a:t>)</a:t>
            </a:r>
            <a:r>
              <a:rPr lang="en-US" altLang="en-US" sz="2266" dirty="0"/>
              <a:t> and </a:t>
            </a:r>
            <a:r>
              <a:rPr lang="en-US" altLang="en-US" sz="2266" dirty="0">
                <a:solidFill>
                  <a:srgbClr val="FF0000"/>
                </a:solidFill>
              </a:rPr>
              <a:t>inconsistency</a:t>
            </a:r>
            <a:r>
              <a:rPr lang="en-US" altLang="en-US" sz="2266" dirty="0"/>
              <a:t>(</a:t>
            </a:r>
            <a:r>
              <a:rPr lang="zh-CN" altLang="en-US" dirty="0">
                <a:latin typeface="华文宋体" pitchFamily="2" charset="-122"/>
                <a:ea typeface="华文宋体" pitchFamily="2" charset="-122"/>
              </a:rPr>
              <a:t>不一致</a:t>
            </a:r>
            <a:r>
              <a:rPr lang="en-US" altLang="zh-CN" sz="2266" dirty="0"/>
              <a:t>)</a:t>
            </a:r>
            <a:r>
              <a:rPr lang="en-US" altLang="en-US" sz="2266" dirty="0"/>
              <a:t>: data is stored  in multiple file formats resulting induplication of information in different files</a:t>
            </a:r>
          </a:p>
          <a:p>
            <a:r>
              <a:rPr lang="en-US" altLang="en-US" sz="2266" dirty="0"/>
              <a:t>Difficulty in accessing data </a:t>
            </a:r>
            <a:r>
              <a:rPr lang="zh-CN" altLang="en-US" dirty="0">
                <a:latin typeface="华文宋体" pitchFamily="2" charset="-122"/>
                <a:ea typeface="华文宋体" pitchFamily="2" charset="-122"/>
              </a:rPr>
              <a:t>数据访问困难</a:t>
            </a:r>
            <a:endParaRPr lang="en-US" altLang="en-US" sz="1700" dirty="0"/>
          </a:p>
          <a:p>
            <a:pPr lvl="1"/>
            <a:r>
              <a:rPr lang="en-US" altLang="en-US" sz="2266" dirty="0"/>
              <a:t>Need to write a new program to carry out each new task</a:t>
            </a:r>
          </a:p>
          <a:p>
            <a:r>
              <a:rPr lang="en-US" altLang="en-US" sz="2266" dirty="0"/>
              <a:t>Data isolation  </a:t>
            </a:r>
            <a:r>
              <a:rPr lang="zh-CN" altLang="en-US" dirty="0">
                <a:latin typeface="华文宋体" pitchFamily="2" charset="-122"/>
                <a:ea typeface="华文宋体" pitchFamily="2" charset="-122"/>
              </a:rPr>
              <a:t>数据孤立</a:t>
            </a:r>
            <a:endParaRPr lang="en-US" altLang="en-US" dirty="0">
              <a:latin typeface="华文宋体" pitchFamily="2" charset="-122"/>
              <a:ea typeface="华文宋体" pitchFamily="2" charset="-122"/>
            </a:endParaRPr>
          </a:p>
          <a:p>
            <a:pPr lvl="1"/>
            <a:r>
              <a:rPr lang="en-US" altLang="en-US" sz="2266" dirty="0"/>
              <a:t>Multiple files and formats</a:t>
            </a:r>
          </a:p>
          <a:p>
            <a:r>
              <a:rPr lang="en-US" altLang="en-US" sz="2266" dirty="0"/>
              <a:t>Integrity problems </a:t>
            </a:r>
            <a:r>
              <a:rPr lang="zh-CN" altLang="en-US" sz="2266" dirty="0">
                <a:latin typeface="华文宋体" pitchFamily="2" charset="-122"/>
                <a:ea typeface="华文宋体" pitchFamily="2" charset="-122"/>
              </a:rPr>
              <a:t>完整性问题</a:t>
            </a:r>
            <a:endParaRPr lang="en-US" altLang="en-US" sz="1700" dirty="0"/>
          </a:p>
          <a:p>
            <a:pPr lvl="1"/>
            <a:r>
              <a:rPr lang="en-US" altLang="en-US" sz="2266" dirty="0"/>
              <a:t>Integrity constraints  (e.g., account balance &gt; 0) become </a:t>
            </a:r>
            <a:r>
              <a:rPr lang="ja-JP" altLang="en-US" sz="2266" dirty="0"/>
              <a:t>“</a:t>
            </a:r>
            <a:r>
              <a:rPr lang="en-US" altLang="ja-JP" sz="2266" dirty="0"/>
              <a:t>buried</a:t>
            </a:r>
            <a:r>
              <a:rPr lang="ja-JP" altLang="en-US" sz="2266" dirty="0"/>
              <a:t>”</a:t>
            </a:r>
            <a:r>
              <a:rPr lang="en-US" altLang="ja-JP" sz="2266" dirty="0"/>
              <a:t> in program code rather than being stated explicitly</a:t>
            </a:r>
          </a:p>
          <a:p>
            <a:pPr lvl="1"/>
            <a:r>
              <a:rPr lang="en-US" altLang="en-US" sz="2266" dirty="0"/>
              <a:t>Hard to add new constraints or change existing ones</a:t>
            </a:r>
          </a:p>
        </p:txBody>
      </p:sp>
      <p:sp>
        <p:nvSpPr>
          <p:cNvPr id="4" name="TextBox 3"/>
          <p:cNvSpPr txBox="1"/>
          <p:nvPr/>
        </p:nvSpPr>
        <p:spPr>
          <a:xfrm>
            <a:off x="1024439" y="1142251"/>
            <a:ext cx="10161141" cy="615553"/>
          </a:xfrm>
          <a:prstGeom prst="rect">
            <a:avLst/>
          </a:prstGeom>
          <a:noFill/>
        </p:spPr>
        <p:txBody>
          <a:bodyPr wrap="square" rtlCol="0">
            <a:spAutoFit/>
          </a:bodyPr>
          <a:lstStyle/>
          <a:p>
            <a:r>
              <a:rPr kumimoji="1" lang="en-US" altLang="en-US" sz="2266" dirty="0">
                <a:latin typeface="+mn-lt"/>
                <a:cs typeface="ＭＳ Ｐゴシック" charset="0"/>
              </a:rPr>
              <a:t>In the early days, database applications were built directly on top of file systems, which leads to:</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Purpose of Database Systems (Cont.)</a:t>
            </a:r>
          </a:p>
        </p:txBody>
      </p:sp>
      <p:sp>
        <p:nvSpPr>
          <p:cNvPr id="15362" name="Rectangle 3"/>
          <p:cNvSpPr>
            <a:spLocks noGrp="1" noChangeArrowheads="1"/>
          </p:cNvSpPr>
          <p:nvPr>
            <p:ph idx="1"/>
          </p:nvPr>
        </p:nvSpPr>
        <p:spPr>
          <a:xfrm>
            <a:off x="995867" y="822328"/>
            <a:ext cx="10208174" cy="5378447"/>
          </a:xfrm>
        </p:spPr>
        <p:txBody>
          <a:bodyPr/>
          <a:lstStyle/>
          <a:p>
            <a:r>
              <a:rPr lang="en-US" altLang="en-US" sz="2000" dirty="0"/>
              <a:t>Atomicity of updates (</a:t>
            </a:r>
            <a:r>
              <a:rPr lang="zh-CN" altLang="en-US" sz="2000" dirty="0">
                <a:latin typeface="华文宋体" pitchFamily="2" charset="-122"/>
                <a:ea typeface="华文宋体" pitchFamily="2" charset="-122"/>
              </a:rPr>
              <a:t>更新原子性</a:t>
            </a:r>
            <a:r>
              <a:rPr lang="en-US" altLang="en-US" sz="2000" dirty="0"/>
              <a:t>)</a:t>
            </a:r>
          </a:p>
          <a:p>
            <a:pPr lvl="1"/>
            <a:r>
              <a:rPr lang="en-US" altLang="en-US" sz="2000" dirty="0"/>
              <a:t>Failures may leave database in an inconsistent state with partial updates carried out</a:t>
            </a:r>
          </a:p>
          <a:p>
            <a:pPr lvl="1"/>
            <a:r>
              <a:rPr lang="en-US" altLang="en-US" sz="2000" dirty="0"/>
              <a:t>Example: Transfer of funds from one account to another should either complete or not happen at all</a:t>
            </a:r>
          </a:p>
          <a:p>
            <a:r>
              <a:rPr lang="en-US" altLang="en-US" sz="2000" dirty="0"/>
              <a:t>Concurrent access by multiple users (</a:t>
            </a:r>
            <a:r>
              <a:rPr lang="zh-CN" altLang="en-US" sz="1600" dirty="0">
                <a:latin typeface="华文宋体" pitchFamily="2" charset="-122"/>
                <a:ea typeface="华文宋体" pitchFamily="2" charset="-122"/>
              </a:rPr>
              <a:t>多用户并发访问</a:t>
            </a:r>
            <a:r>
              <a:rPr lang="en-US" altLang="en-US" sz="2000" dirty="0"/>
              <a:t>)</a:t>
            </a:r>
          </a:p>
          <a:p>
            <a:pPr lvl="1"/>
            <a:r>
              <a:rPr lang="en-US" altLang="en-US" sz="2000" dirty="0"/>
              <a:t>Concurrent access needed for performance</a:t>
            </a:r>
          </a:p>
          <a:p>
            <a:pPr lvl="1"/>
            <a:r>
              <a:rPr lang="en-US" altLang="en-US" sz="2000" dirty="0"/>
              <a:t>Uncontrolled concurrent accesses can lead to inconsistencies</a:t>
            </a:r>
          </a:p>
          <a:p>
            <a:pPr lvl="2"/>
            <a:r>
              <a:rPr lang="en-US" altLang="en-US" sz="2000" dirty="0"/>
              <a:t>Ex: Two people reading a balance (say 100) and updating it by withdrawing money (say 50 each) at the same time</a:t>
            </a:r>
          </a:p>
          <a:p>
            <a:r>
              <a:rPr lang="en-US" altLang="en-US" sz="2000" dirty="0"/>
              <a:t>Security problems (</a:t>
            </a:r>
            <a:r>
              <a:rPr lang="zh-CN" altLang="en-US" sz="1600" dirty="0">
                <a:latin typeface="华文宋体" pitchFamily="2" charset="-122"/>
                <a:ea typeface="华文宋体" pitchFamily="2" charset="-122"/>
              </a:rPr>
              <a:t>安全性问题</a:t>
            </a:r>
            <a:r>
              <a:rPr lang="en-US" altLang="zh-CN" sz="2000" dirty="0"/>
              <a:t>)</a:t>
            </a:r>
            <a:endParaRPr lang="en-US" altLang="en-US" sz="1600" dirty="0"/>
          </a:p>
          <a:p>
            <a:pPr lvl="1"/>
            <a:r>
              <a:rPr lang="en-US" altLang="en-US" sz="2000" dirty="0"/>
              <a:t>Hard to provide user access to some, but not all, data</a:t>
            </a:r>
            <a:endParaRPr lang="en-US" altLang="en-US" sz="2266" dirty="0"/>
          </a:p>
          <a:p>
            <a:pPr marL="457200" lvl="1" indent="0">
              <a:buNone/>
            </a:pPr>
            <a:endParaRPr lang="en-US" altLang="en-US" sz="1700" dirty="0"/>
          </a:p>
          <a:p>
            <a:pPr>
              <a:buNone/>
            </a:pPr>
            <a:r>
              <a:rPr lang="en-US" altLang="en-US" b="1" dirty="0">
                <a:solidFill>
                  <a:srgbClr val="002060"/>
                </a:solidFill>
              </a:rPr>
              <a:t>    </a:t>
            </a:r>
            <a:r>
              <a:rPr lang="en-US" altLang="en-US" b="1" dirty="0">
                <a:solidFill>
                  <a:srgbClr val="FF0000"/>
                </a:solidFill>
              </a:rPr>
              <a:t>Database systems offer solutions to all the above problems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5"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University Database Example</a:t>
            </a:r>
          </a:p>
        </p:txBody>
      </p:sp>
      <p:sp>
        <p:nvSpPr>
          <p:cNvPr id="11266" name="Rectangle 3"/>
          <p:cNvSpPr>
            <a:spLocks noGrp="1" noChangeArrowheads="1"/>
          </p:cNvSpPr>
          <p:nvPr>
            <p:ph idx="1"/>
          </p:nvPr>
        </p:nvSpPr>
        <p:spPr>
          <a:xfrm>
            <a:off x="1024442" y="1045022"/>
            <a:ext cx="10184814" cy="4903787"/>
          </a:xfrm>
        </p:spPr>
        <p:txBody>
          <a:bodyPr/>
          <a:lstStyle/>
          <a:p>
            <a:r>
              <a:rPr lang="en-US" altLang="en-US" sz="2266" dirty="0"/>
              <a:t>In this text we will be using a </a:t>
            </a:r>
            <a:r>
              <a:rPr lang="en-US" altLang="en-US" sz="2266" dirty="0">
                <a:solidFill>
                  <a:srgbClr val="FF0000"/>
                </a:solidFill>
              </a:rPr>
              <a:t>university database</a:t>
            </a:r>
            <a:r>
              <a:rPr lang="en-US" altLang="en-US" sz="2266" dirty="0"/>
              <a:t> to illustrate all the concepts </a:t>
            </a:r>
            <a:r>
              <a:rPr lang="zh-CN" altLang="en-US" sz="2266" dirty="0">
                <a:latin typeface="宋体" panose="02010600030101010101" pitchFamily="2" charset="-122"/>
                <a:ea typeface="宋体" panose="02010600030101010101" pitchFamily="2" charset="-122"/>
              </a:rPr>
              <a:t>全书通例</a:t>
            </a:r>
            <a:endParaRPr lang="en-US" altLang="en-US" sz="1700" dirty="0">
              <a:latin typeface="宋体" panose="02010600030101010101" pitchFamily="2" charset="-122"/>
              <a:ea typeface="宋体" panose="02010600030101010101" pitchFamily="2" charset="-122"/>
            </a:endParaRPr>
          </a:p>
          <a:p>
            <a:r>
              <a:rPr lang="en-US" altLang="en-US" sz="2266" dirty="0"/>
              <a:t>Data consists of information about:</a:t>
            </a:r>
          </a:p>
          <a:p>
            <a:pPr lvl="1"/>
            <a:r>
              <a:rPr lang="en-US" altLang="en-US" sz="2266" dirty="0"/>
              <a:t>Students</a:t>
            </a:r>
          </a:p>
          <a:p>
            <a:pPr lvl="1"/>
            <a:r>
              <a:rPr lang="en-US" altLang="en-US" sz="2266" dirty="0"/>
              <a:t>Instructors</a:t>
            </a:r>
          </a:p>
          <a:p>
            <a:pPr lvl="1"/>
            <a:r>
              <a:rPr lang="en-US" altLang="en-US" sz="2266" dirty="0"/>
              <a:t>Classes</a:t>
            </a:r>
          </a:p>
          <a:p>
            <a:r>
              <a:rPr lang="en-US" altLang="en-US" sz="2266" dirty="0"/>
              <a:t>Application program examples:</a:t>
            </a:r>
          </a:p>
          <a:p>
            <a:pPr lvl="1"/>
            <a:r>
              <a:rPr lang="en-US" altLang="en-US" sz="2266" dirty="0"/>
              <a:t>Add new students, instructors, and courses</a:t>
            </a:r>
          </a:p>
          <a:p>
            <a:pPr lvl="1"/>
            <a:r>
              <a:rPr lang="en-US" altLang="en-US" sz="2266" dirty="0"/>
              <a:t>Register students for courses, and generate class rosters (</a:t>
            </a:r>
            <a:r>
              <a:rPr lang="zh-CN" altLang="en-US" sz="2266" dirty="0">
                <a:latin typeface="宋体" pitchFamily="2" charset="-122"/>
                <a:ea typeface="宋体" pitchFamily="2" charset="-122"/>
              </a:rPr>
              <a:t>名册</a:t>
            </a:r>
            <a:r>
              <a:rPr lang="en-US" altLang="en-US" sz="2266" dirty="0"/>
              <a:t>)</a:t>
            </a:r>
          </a:p>
          <a:p>
            <a:pPr lvl="1"/>
            <a:r>
              <a:rPr lang="en-US" altLang="en-US" sz="2266" dirty="0"/>
              <a:t>Assign grades to students, compute grade point averages (GPA) and generate transcripts</a:t>
            </a:r>
          </a:p>
          <a:p>
            <a:pPr>
              <a:buFont typeface="Monotype Sorts" charset="2"/>
              <a:buNone/>
            </a:pPr>
            <a:endParaRPr lang="en-US" altLang="en-US" sz="1700" dirty="0"/>
          </a:p>
          <a:p>
            <a:endParaRPr lang="en-US" altLang="en-US" sz="1700" dirty="0"/>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View of Data </a:t>
            </a:r>
            <a:r>
              <a:rPr lang="zh-CN" altLang="en-US" sz="3733" dirty="0">
                <a:effectLst/>
                <a:latin typeface="华文宋体" pitchFamily="2" charset="-122"/>
                <a:ea typeface="华文宋体" pitchFamily="2" charset="-122"/>
              </a:rPr>
              <a:t>数据视图</a:t>
            </a:r>
            <a:endParaRPr lang="en-US" altLang="en-US" sz="2800" dirty="0">
              <a:effectLst/>
              <a:latin typeface="华文宋体" pitchFamily="2" charset="-122"/>
              <a:ea typeface="华文宋体" pitchFamily="2" charset="-122"/>
            </a:endParaRPr>
          </a:p>
        </p:txBody>
      </p:sp>
      <p:sp>
        <p:nvSpPr>
          <p:cNvPr id="17410" name="Rectangle 3"/>
          <p:cNvSpPr>
            <a:spLocks noGrp="1" noChangeArrowheads="1"/>
          </p:cNvSpPr>
          <p:nvPr>
            <p:ph idx="1"/>
          </p:nvPr>
        </p:nvSpPr>
        <p:spPr>
          <a:xfrm>
            <a:off x="1024442" y="1029810"/>
            <a:ext cx="10196651" cy="4895503"/>
          </a:xfrm>
        </p:spPr>
        <p:txBody>
          <a:bodyPr/>
          <a:lstStyle/>
          <a:p>
            <a:pPr>
              <a:tabLst>
                <a:tab pos="1365647" algn="l"/>
                <a:tab pos="2744391" algn="l"/>
                <a:tab pos="2957513" algn="l"/>
              </a:tabLst>
            </a:pPr>
            <a:r>
              <a:rPr lang="en-US" altLang="en-US" sz="2266" dirty="0"/>
              <a:t>A database system is a collection of interrelated data and a set of programs that allow users to access and modify these data. </a:t>
            </a:r>
          </a:p>
          <a:p>
            <a:pPr>
              <a:tabLst>
                <a:tab pos="1365647" algn="l"/>
                <a:tab pos="2744391" algn="l"/>
                <a:tab pos="2957513" algn="l"/>
              </a:tabLst>
            </a:pPr>
            <a:r>
              <a:rPr lang="en-US" altLang="en-US" sz="2266" dirty="0"/>
              <a:t>A major purpose of a database system is to provide users with an abstract view of the data.</a:t>
            </a:r>
          </a:p>
          <a:p>
            <a:pPr lvl="1">
              <a:tabLst>
                <a:tab pos="1365647" algn="l"/>
                <a:tab pos="2744391" algn="l"/>
                <a:tab pos="2957513" algn="l"/>
              </a:tabLst>
            </a:pPr>
            <a:r>
              <a:rPr lang="en-US" altLang="en-US" sz="2266" dirty="0"/>
              <a:t>Data models  </a:t>
            </a:r>
            <a:r>
              <a:rPr lang="zh-CN" altLang="en-US" sz="2266" dirty="0">
                <a:latin typeface="华文宋体" pitchFamily="2" charset="-122"/>
                <a:ea typeface="华文宋体" pitchFamily="2" charset="-122"/>
              </a:rPr>
              <a:t>数据模型</a:t>
            </a:r>
            <a:endParaRPr lang="en-US" altLang="en-US" sz="1700" dirty="0">
              <a:latin typeface="华文宋体" pitchFamily="2" charset="-122"/>
              <a:ea typeface="华文宋体" pitchFamily="2" charset="-122"/>
            </a:endParaRPr>
          </a:p>
          <a:p>
            <a:pPr lvl="2">
              <a:tabLst>
                <a:tab pos="1365647" algn="l"/>
                <a:tab pos="2744391" algn="l"/>
                <a:tab pos="2957513" algn="l"/>
              </a:tabLst>
            </a:pPr>
            <a:r>
              <a:rPr lang="en-US" altLang="en-US" sz="2266" dirty="0"/>
              <a:t>A collection of conceptual tools for describing data, data relationships, data semantics, and consistency constraints.</a:t>
            </a:r>
          </a:p>
          <a:p>
            <a:pPr lvl="1">
              <a:tabLst>
                <a:tab pos="1365647" algn="l"/>
                <a:tab pos="2744391" algn="l"/>
                <a:tab pos="2957513" algn="l"/>
              </a:tabLst>
            </a:pPr>
            <a:r>
              <a:rPr lang="en-US" altLang="en-US" sz="2266" dirty="0"/>
              <a:t>Data abstraction  </a:t>
            </a:r>
            <a:r>
              <a:rPr lang="zh-CN" altLang="en-US" dirty="0">
                <a:latin typeface="华文宋体" pitchFamily="2" charset="-122"/>
                <a:ea typeface="华文宋体" pitchFamily="2" charset="-122"/>
              </a:rPr>
              <a:t>数据抽象</a:t>
            </a:r>
            <a:endParaRPr lang="en-US" altLang="en-US" dirty="0">
              <a:latin typeface="华文宋体" pitchFamily="2" charset="-122"/>
              <a:ea typeface="华文宋体" pitchFamily="2" charset="-122"/>
            </a:endParaRPr>
          </a:p>
          <a:p>
            <a:pPr lvl="2">
              <a:tabLst>
                <a:tab pos="1365647" algn="l"/>
                <a:tab pos="2744391" algn="l"/>
                <a:tab pos="2957513" algn="l"/>
              </a:tabLst>
            </a:pPr>
            <a:r>
              <a:rPr lang="en-US" altLang="en-US" sz="2266" dirty="0"/>
              <a:t>Hide the complexity  of data structures to represent data in the database from users through several levels of data abstraction.</a:t>
            </a:r>
          </a:p>
          <a:p>
            <a:pPr lvl="1">
              <a:tabLst>
                <a:tab pos="1365647" algn="l"/>
                <a:tab pos="2744391" algn="l"/>
                <a:tab pos="2957513" algn="l"/>
              </a:tabLst>
            </a:pPr>
            <a:endParaRPr lang="en-US" altLang="en-US" dirty="0"/>
          </a:p>
          <a:p>
            <a:pPr lvl="1">
              <a:tabLst>
                <a:tab pos="1365647" algn="l"/>
                <a:tab pos="2744391" algn="l"/>
                <a:tab pos="2957513" algn="l"/>
              </a:tabLst>
            </a:pPr>
            <a:endParaRPr lang="en-US" altLang="en-US" dirty="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Data Models</a:t>
            </a:r>
          </a:p>
        </p:txBody>
      </p:sp>
      <p:sp>
        <p:nvSpPr>
          <p:cNvPr id="23554" name="Rectangle 3"/>
          <p:cNvSpPr>
            <a:spLocks noGrp="1" noChangeArrowheads="1"/>
          </p:cNvSpPr>
          <p:nvPr>
            <p:ph idx="1"/>
          </p:nvPr>
        </p:nvSpPr>
        <p:spPr>
          <a:xfrm>
            <a:off x="1024442" y="1057215"/>
            <a:ext cx="10403241" cy="4819329"/>
          </a:xfrm>
        </p:spPr>
        <p:txBody>
          <a:bodyPr/>
          <a:lstStyle/>
          <a:p>
            <a:r>
              <a:rPr lang="en-US" altLang="en-US" sz="2266" dirty="0"/>
              <a:t>A collection of tools for describing </a:t>
            </a:r>
            <a:r>
              <a:rPr lang="zh-CN" altLang="en-US" sz="2266" dirty="0">
                <a:latin typeface="华文宋体" pitchFamily="2" charset="-122"/>
                <a:ea typeface="华文宋体" pitchFamily="2" charset="-122"/>
              </a:rPr>
              <a:t>软工具集</a:t>
            </a:r>
            <a:endParaRPr lang="en-US" altLang="en-US" sz="1700" dirty="0">
              <a:latin typeface="华文宋体" pitchFamily="2" charset="-122"/>
              <a:ea typeface="华文宋体" pitchFamily="2" charset="-122"/>
            </a:endParaRPr>
          </a:p>
          <a:p>
            <a:pPr lvl="1">
              <a:lnSpc>
                <a:spcPct val="80000"/>
              </a:lnSpc>
            </a:pPr>
            <a:r>
              <a:rPr lang="en-US" altLang="en-US" sz="2266" dirty="0"/>
              <a:t>Data </a:t>
            </a:r>
            <a:r>
              <a:rPr lang="zh-CN" altLang="en-US" dirty="0">
                <a:latin typeface="华文宋体" pitchFamily="2" charset="-122"/>
                <a:ea typeface="华文宋体" pitchFamily="2" charset="-122"/>
                <a:cs typeface="ＭＳ Ｐゴシック" charset="0"/>
              </a:rPr>
              <a:t>数据</a:t>
            </a:r>
            <a:endParaRPr lang="en-US" altLang="en-US" dirty="0">
              <a:latin typeface="华文宋体" pitchFamily="2" charset="-122"/>
              <a:ea typeface="华文宋体" pitchFamily="2" charset="-122"/>
              <a:cs typeface="ＭＳ Ｐゴシック" charset="0"/>
            </a:endParaRPr>
          </a:p>
          <a:p>
            <a:pPr lvl="1">
              <a:lnSpc>
                <a:spcPct val="80000"/>
              </a:lnSpc>
            </a:pPr>
            <a:r>
              <a:rPr lang="en-US" altLang="en-US" sz="2266" dirty="0"/>
              <a:t>Data relationships  </a:t>
            </a:r>
            <a:r>
              <a:rPr lang="zh-CN" altLang="en-US" dirty="0">
                <a:latin typeface="华文宋体" pitchFamily="2" charset="-122"/>
                <a:ea typeface="华文宋体" pitchFamily="2" charset="-122"/>
                <a:cs typeface="ＭＳ Ｐゴシック" charset="0"/>
              </a:rPr>
              <a:t>数据联系</a:t>
            </a:r>
            <a:endParaRPr lang="en-US" altLang="en-US" dirty="0">
              <a:latin typeface="华文宋体" pitchFamily="2" charset="-122"/>
              <a:ea typeface="华文宋体" pitchFamily="2" charset="-122"/>
              <a:cs typeface="ＭＳ Ｐゴシック" charset="0"/>
            </a:endParaRPr>
          </a:p>
          <a:p>
            <a:pPr lvl="1">
              <a:lnSpc>
                <a:spcPct val="80000"/>
              </a:lnSpc>
            </a:pPr>
            <a:r>
              <a:rPr lang="en-US" altLang="en-US" sz="2266" dirty="0"/>
              <a:t>Data semantics </a:t>
            </a:r>
            <a:r>
              <a:rPr lang="zh-CN" altLang="en-US" dirty="0">
                <a:latin typeface="华文宋体" pitchFamily="2" charset="-122"/>
                <a:ea typeface="华文宋体" pitchFamily="2" charset="-122"/>
                <a:cs typeface="ＭＳ Ｐゴシック" charset="0"/>
              </a:rPr>
              <a:t>数据语义</a:t>
            </a:r>
            <a:endParaRPr lang="en-US" altLang="en-US" dirty="0">
              <a:latin typeface="华文宋体" pitchFamily="2" charset="-122"/>
              <a:ea typeface="华文宋体" pitchFamily="2" charset="-122"/>
              <a:cs typeface="ＭＳ Ｐゴシック" charset="0"/>
            </a:endParaRPr>
          </a:p>
          <a:p>
            <a:pPr lvl="1">
              <a:lnSpc>
                <a:spcPct val="80000"/>
              </a:lnSpc>
            </a:pPr>
            <a:r>
              <a:rPr lang="en-US" altLang="en-US" sz="2266" dirty="0"/>
              <a:t>Data constraints </a:t>
            </a:r>
            <a:r>
              <a:rPr lang="zh-CN" altLang="en-US" dirty="0">
                <a:latin typeface="华文宋体" pitchFamily="2" charset="-122"/>
                <a:ea typeface="华文宋体" pitchFamily="2" charset="-122"/>
                <a:cs typeface="ＭＳ Ｐゴシック" charset="0"/>
              </a:rPr>
              <a:t>数据约束</a:t>
            </a:r>
            <a:endParaRPr lang="en-US" altLang="en-US" dirty="0">
              <a:latin typeface="华文宋体" pitchFamily="2" charset="-122"/>
              <a:ea typeface="华文宋体" pitchFamily="2" charset="-122"/>
              <a:cs typeface="ＭＳ Ｐゴシック" charset="0"/>
            </a:endParaRPr>
          </a:p>
          <a:p>
            <a:r>
              <a:rPr lang="en-US" altLang="en-US" sz="2266" dirty="0">
                <a:solidFill>
                  <a:srgbClr val="FF0000"/>
                </a:solidFill>
              </a:rPr>
              <a:t>Relational model </a:t>
            </a:r>
            <a:r>
              <a:rPr lang="zh-CN" altLang="en-US" dirty="0">
                <a:solidFill>
                  <a:srgbClr val="FF0000"/>
                </a:solidFill>
                <a:latin typeface="华文宋体" pitchFamily="2" charset="-122"/>
                <a:ea typeface="华文宋体" pitchFamily="2" charset="-122"/>
              </a:rPr>
              <a:t>关系模型</a:t>
            </a:r>
            <a:endParaRPr lang="en-US" altLang="en-US" dirty="0">
              <a:solidFill>
                <a:srgbClr val="FF0000"/>
              </a:solidFill>
              <a:latin typeface="华文宋体" pitchFamily="2" charset="-122"/>
              <a:ea typeface="华文宋体" pitchFamily="2" charset="-122"/>
            </a:endParaRPr>
          </a:p>
          <a:p>
            <a:r>
              <a:rPr lang="en-US" altLang="en-US" sz="2266" dirty="0">
                <a:solidFill>
                  <a:srgbClr val="FF0000"/>
                </a:solidFill>
              </a:rPr>
              <a:t>Entity-Relationship data model</a:t>
            </a:r>
            <a:r>
              <a:rPr lang="en-US" altLang="en-US" sz="2266" dirty="0"/>
              <a:t> (mainly for database design) </a:t>
            </a:r>
            <a:r>
              <a:rPr lang="zh-CN" altLang="en-US" dirty="0">
                <a:solidFill>
                  <a:srgbClr val="FF0000"/>
                </a:solidFill>
                <a:latin typeface="华文宋体" pitchFamily="2" charset="-122"/>
                <a:ea typeface="华文宋体" pitchFamily="2" charset="-122"/>
              </a:rPr>
              <a:t>实体联系模型</a:t>
            </a:r>
            <a:endParaRPr lang="en-US" altLang="en-US" dirty="0">
              <a:solidFill>
                <a:srgbClr val="FF0000"/>
              </a:solidFill>
              <a:latin typeface="华文宋体" pitchFamily="2" charset="-122"/>
              <a:ea typeface="华文宋体" pitchFamily="2" charset="-122"/>
            </a:endParaRPr>
          </a:p>
          <a:p>
            <a:r>
              <a:rPr lang="en-US" altLang="en-US" sz="2266" dirty="0"/>
              <a:t>Object-based data models (Object-oriented and Object-relational)</a:t>
            </a:r>
          </a:p>
          <a:p>
            <a:r>
              <a:rPr lang="en-US" altLang="en-US" sz="2266" dirty="0"/>
              <a:t>Semi-structured data model  (XML)</a:t>
            </a:r>
          </a:p>
          <a:p>
            <a:r>
              <a:rPr lang="en-US" altLang="en-US" sz="2266" dirty="0"/>
              <a:t>Other older models:</a:t>
            </a:r>
          </a:p>
          <a:p>
            <a:pPr lvl="1"/>
            <a:r>
              <a:rPr lang="en-US" altLang="en-US" sz="2266" dirty="0"/>
              <a:t>Network model </a:t>
            </a:r>
          </a:p>
          <a:p>
            <a:pPr lvl="1"/>
            <a:r>
              <a:rPr lang="en-US" altLang="en-US" sz="2266" dirty="0"/>
              <a:t>Hierarchical model</a:t>
            </a:r>
          </a:p>
          <a:p>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Relational Model </a:t>
            </a:r>
            <a:r>
              <a:rPr lang="zh-CN" altLang="en-US" sz="3733" dirty="0">
                <a:effectLst/>
                <a:latin typeface="华文宋体" pitchFamily="2" charset="-122"/>
                <a:ea typeface="华文宋体" pitchFamily="2" charset="-122"/>
              </a:rPr>
              <a:t>关系模型</a:t>
            </a:r>
            <a:endParaRPr lang="en-US" altLang="en-US" sz="2800" dirty="0">
              <a:effectLst/>
              <a:latin typeface="华文宋体" pitchFamily="2" charset="-122"/>
              <a:ea typeface="华文宋体" pitchFamily="2" charset="-122"/>
            </a:endParaRPr>
          </a:p>
        </p:txBody>
      </p:sp>
      <p:sp>
        <p:nvSpPr>
          <p:cNvPr id="25602" name="Rectangle 3"/>
          <p:cNvSpPr>
            <a:spLocks noGrp="1" noChangeArrowheads="1"/>
          </p:cNvSpPr>
          <p:nvPr>
            <p:ph idx="1"/>
          </p:nvPr>
        </p:nvSpPr>
        <p:spPr>
          <a:xfrm>
            <a:off x="1024441" y="1191327"/>
            <a:ext cx="10565797" cy="1490914"/>
          </a:xfrm>
        </p:spPr>
        <p:txBody>
          <a:bodyPr/>
          <a:lstStyle/>
          <a:p>
            <a:r>
              <a:rPr lang="en-US" altLang="en-US" sz="2266" dirty="0"/>
              <a:t>All the data is stored in various tables.</a:t>
            </a:r>
          </a:p>
          <a:p>
            <a:r>
              <a:rPr lang="en-US" altLang="en-US" sz="2266" dirty="0"/>
              <a:t>Example of tabular data in the relational model</a:t>
            </a:r>
          </a:p>
        </p:txBody>
      </p:sp>
      <p:sp>
        <p:nvSpPr>
          <p:cNvPr id="25603" name="Line 31"/>
          <p:cNvSpPr>
            <a:spLocks noChangeShapeType="1"/>
          </p:cNvSpPr>
          <p:nvPr/>
        </p:nvSpPr>
        <p:spPr bwMode="auto">
          <a:xfrm flipH="1">
            <a:off x="5728683" y="2348699"/>
            <a:ext cx="857229" cy="478631"/>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en-IN" sz="1200"/>
          </a:p>
        </p:txBody>
      </p:sp>
      <p:sp>
        <p:nvSpPr>
          <p:cNvPr id="25604" name="Text Box 32"/>
          <p:cNvSpPr txBox="1">
            <a:spLocks noChangeArrowheads="1"/>
          </p:cNvSpPr>
          <p:nvPr/>
        </p:nvSpPr>
        <p:spPr bwMode="auto">
          <a:xfrm>
            <a:off x="6032777" y="2072236"/>
            <a:ext cx="1323405"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dirty="0"/>
              <a:t>Columns</a:t>
            </a:r>
            <a:endParaRPr lang="en-US" altLang="en-US" sz="1200" dirty="0"/>
          </a:p>
        </p:txBody>
      </p:sp>
      <p:sp>
        <p:nvSpPr>
          <p:cNvPr id="25605" name="Line 33"/>
          <p:cNvSpPr>
            <a:spLocks noChangeShapeType="1"/>
          </p:cNvSpPr>
          <p:nvPr/>
        </p:nvSpPr>
        <p:spPr bwMode="auto">
          <a:xfrm flipH="1">
            <a:off x="4746934" y="2345745"/>
            <a:ext cx="1509675" cy="467916"/>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en-IN" sz="1200"/>
          </a:p>
        </p:txBody>
      </p:sp>
      <p:sp>
        <p:nvSpPr>
          <p:cNvPr id="25607" name="Text Box 38"/>
          <p:cNvSpPr txBox="1">
            <a:spLocks noChangeArrowheads="1"/>
          </p:cNvSpPr>
          <p:nvPr/>
        </p:nvSpPr>
        <p:spPr bwMode="auto">
          <a:xfrm>
            <a:off x="7495599" y="3163194"/>
            <a:ext cx="928008"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dirty="0"/>
              <a:t>Rows</a:t>
            </a:r>
          </a:p>
        </p:txBody>
      </p:sp>
      <p:sp>
        <p:nvSpPr>
          <p:cNvPr id="25608" name="Line 39"/>
          <p:cNvSpPr>
            <a:spLocks noChangeShapeType="1"/>
          </p:cNvSpPr>
          <p:nvPr/>
        </p:nvSpPr>
        <p:spPr bwMode="auto">
          <a:xfrm flipH="1">
            <a:off x="6488631" y="3327914"/>
            <a:ext cx="757027" cy="1"/>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en-IN" sz="1200"/>
          </a:p>
        </p:txBody>
      </p:sp>
      <p:sp>
        <p:nvSpPr>
          <p:cNvPr id="25609" name="Line 40"/>
          <p:cNvSpPr>
            <a:spLocks noChangeShapeType="1"/>
          </p:cNvSpPr>
          <p:nvPr/>
        </p:nvSpPr>
        <p:spPr bwMode="auto">
          <a:xfrm flipH="1">
            <a:off x="6488629" y="3327915"/>
            <a:ext cx="757029" cy="1430348"/>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en-IN" sz="1200"/>
          </a:p>
        </p:txBody>
      </p:sp>
      <p:pic>
        <p:nvPicPr>
          <p:cNvPr id="11" name="Picture 2" descr="Edgar F. Codd"/>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0069041" y="4330436"/>
            <a:ext cx="1206979" cy="855654"/>
          </a:xfrm>
          <a:prstGeom prst="rect">
            <a:avLst/>
          </a:prstGeom>
          <a:noFill/>
          <a:extLst>
            <a:ext uri="{909E8E84-426E-40DD-AFC4-6F175D3DCCD1}">
              <a14:hiddenFill xmlns:a14="http://schemas.microsoft.com/office/drawing/2010/main" xmlns="">
                <a:solidFill>
                  <a:srgbClr val="FFFFFF"/>
                </a:solidFill>
              </a14:hiddenFill>
            </a:ext>
          </a:extLst>
        </p:spPr>
      </p:pic>
      <p:sp>
        <p:nvSpPr>
          <p:cNvPr id="12" name="TextBox 11"/>
          <p:cNvSpPr txBox="1"/>
          <p:nvPr/>
        </p:nvSpPr>
        <p:spPr>
          <a:xfrm>
            <a:off x="9410422" y="5374285"/>
            <a:ext cx="2524219" cy="584775"/>
          </a:xfrm>
          <a:prstGeom prst="rect">
            <a:avLst/>
          </a:prstGeom>
          <a:noFill/>
        </p:spPr>
        <p:txBody>
          <a:bodyPr wrap="none" rtlCol="0">
            <a:spAutoFit/>
          </a:bodyPr>
          <a:lstStyle/>
          <a:p>
            <a:pPr algn="ctr"/>
            <a:r>
              <a:rPr lang="en-IN" b="1"/>
              <a:t>Ted Codd</a:t>
            </a:r>
            <a:br>
              <a:rPr lang="en-IN" b="1"/>
            </a:br>
            <a:r>
              <a:rPr lang="en-IN"/>
              <a:t>Turing Award 1981</a:t>
            </a:r>
            <a:endParaRPr lang="en-IN" dirty="0"/>
          </a:p>
        </p:txBody>
      </p:sp>
      <p:pic>
        <p:nvPicPr>
          <p:cNvPr id="3" name="Graphic 2">
            <a:extLst>
              <a:ext uri="{FF2B5EF4-FFF2-40B4-BE49-F238E27FC236}">
                <a16:creationId xmlns:a16="http://schemas.microsoft.com/office/drawing/2014/main" xmlns="" id="{29DA0EEC-6C2D-4DCD-BC9B-F1B582F1DE6E}"/>
              </a:ext>
            </a:extLst>
          </p:cNvPr>
          <p:cNvPicPr>
            <a:picLocks noChangeAspect="1"/>
          </p:cNvPicPr>
          <p:nvPr/>
        </p:nvPicPr>
        <p:blipFill rotWithShape="1">
          <a:blip r:embed="rId4">
            <a:extLst>
              <a:ext uri="{96DAC541-7B7A-43D3-8B79-37D633B846F1}">
                <asvg:svgBlip xmlns:asvg="http://schemas.microsoft.com/office/drawing/2016/SVG/main" xmlns="" r:embed="rId5"/>
              </a:ext>
            </a:extLst>
          </a:blip>
          <a:srcRect b="43026"/>
          <a:stretch/>
        </p:blipFill>
        <p:spPr>
          <a:xfrm>
            <a:off x="1426644" y="2741510"/>
            <a:ext cx="5159268" cy="369951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A Sample Relational Database</a:t>
            </a:r>
          </a:p>
        </p:txBody>
      </p:sp>
      <p:pic>
        <p:nvPicPr>
          <p:cNvPr id="4" name="Graphic 3">
            <a:extLst>
              <a:ext uri="{FF2B5EF4-FFF2-40B4-BE49-F238E27FC236}">
                <a16:creationId xmlns:a16="http://schemas.microsoft.com/office/drawing/2014/main" xmlns="" id="{FA83B5AE-3E57-485D-8D9A-2AFE639166FF}"/>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3612813" y="803604"/>
            <a:ext cx="4560141" cy="573936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Levels of Abstraction</a:t>
            </a:r>
          </a:p>
        </p:txBody>
      </p:sp>
      <p:sp>
        <p:nvSpPr>
          <p:cNvPr id="17410" name="Rectangle 3"/>
          <p:cNvSpPr>
            <a:spLocks noGrp="1" noChangeArrowheads="1"/>
          </p:cNvSpPr>
          <p:nvPr>
            <p:ph idx="1"/>
          </p:nvPr>
        </p:nvSpPr>
        <p:spPr>
          <a:xfrm>
            <a:off x="1024441" y="1093790"/>
            <a:ext cx="10184816" cy="4903787"/>
          </a:xfrm>
        </p:spPr>
        <p:txBody>
          <a:bodyPr/>
          <a:lstStyle/>
          <a:p>
            <a:pPr>
              <a:tabLst>
                <a:tab pos="1365647" algn="l"/>
                <a:tab pos="2744391" algn="l"/>
                <a:tab pos="2957513" algn="l"/>
              </a:tabLst>
            </a:pPr>
            <a:r>
              <a:rPr lang="en-US" altLang="en-US" sz="2266" b="1" dirty="0">
                <a:solidFill>
                  <a:srgbClr val="FF0000"/>
                </a:solidFill>
              </a:rPr>
              <a:t>Physical level</a:t>
            </a:r>
            <a:r>
              <a:rPr lang="en-US" altLang="en-US" sz="2266" dirty="0">
                <a:solidFill>
                  <a:srgbClr val="002060"/>
                </a:solidFill>
              </a:rPr>
              <a:t>:</a:t>
            </a:r>
            <a:r>
              <a:rPr lang="en-US" altLang="en-US" sz="2266" b="1" dirty="0">
                <a:solidFill>
                  <a:srgbClr val="002060"/>
                </a:solidFill>
              </a:rPr>
              <a:t> </a:t>
            </a:r>
            <a:r>
              <a:rPr lang="en-US" altLang="en-US" sz="2266" dirty="0"/>
              <a:t>describes how a record (e.g., instructor) is stored. </a:t>
            </a:r>
            <a:r>
              <a:rPr lang="zh-CN" altLang="en-US" dirty="0">
                <a:latin typeface="华文宋体" pitchFamily="2" charset="-122"/>
                <a:ea typeface="华文宋体" pitchFamily="2" charset="-122"/>
              </a:rPr>
              <a:t>物理层</a:t>
            </a:r>
            <a:endParaRPr lang="en-US" altLang="en-US" dirty="0">
              <a:latin typeface="华文宋体" pitchFamily="2" charset="-122"/>
              <a:ea typeface="华文宋体" pitchFamily="2" charset="-122"/>
            </a:endParaRPr>
          </a:p>
          <a:p>
            <a:pPr>
              <a:tabLst>
                <a:tab pos="1365647" algn="l"/>
                <a:tab pos="2744391" algn="l"/>
                <a:tab pos="2957513" algn="l"/>
              </a:tabLst>
            </a:pPr>
            <a:r>
              <a:rPr lang="en-US" altLang="en-US" sz="2266" b="1" dirty="0">
                <a:solidFill>
                  <a:srgbClr val="FF0000"/>
                </a:solidFill>
              </a:rPr>
              <a:t>Logical level</a:t>
            </a:r>
            <a:r>
              <a:rPr lang="en-US" altLang="en-US" sz="2266" dirty="0">
                <a:solidFill>
                  <a:srgbClr val="002060"/>
                </a:solidFill>
              </a:rPr>
              <a:t>:</a:t>
            </a:r>
            <a:r>
              <a:rPr lang="en-US" altLang="en-US" sz="2266" b="1" dirty="0">
                <a:solidFill>
                  <a:srgbClr val="002060"/>
                </a:solidFill>
              </a:rPr>
              <a:t> </a:t>
            </a:r>
            <a:r>
              <a:rPr lang="en-US" altLang="en-US" sz="2266" dirty="0"/>
              <a:t>describes data stored in database, and the relationships among the data. </a:t>
            </a:r>
            <a:r>
              <a:rPr lang="zh-CN" altLang="en-US" dirty="0">
                <a:latin typeface="华文宋体" pitchFamily="2" charset="-122"/>
                <a:ea typeface="华文宋体" pitchFamily="2" charset="-122"/>
              </a:rPr>
              <a:t>逻辑层</a:t>
            </a:r>
            <a:endParaRPr lang="en-US" altLang="en-US" dirty="0">
              <a:latin typeface="华文宋体" pitchFamily="2" charset="-122"/>
              <a:ea typeface="华文宋体" pitchFamily="2" charset="-122"/>
            </a:endParaRPr>
          </a:p>
          <a:p>
            <a:pPr lvl="1">
              <a:buNone/>
              <a:tabLst>
                <a:tab pos="1365647" algn="l"/>
                <a:tab pos="2744391" algn="l"/>
                <a:tab pos="2957513" algn="l"/>
              </a:tabLst>
            </a:pPr>
            <a:r>
              <a:rPr lang="en-US" altLang="en-US" sz="2266" b="1" dirty="0"/>
              <a:t>	type</a:t>
            </a:r>
            <a:r>
              <a:rPr lang="en-US" altLang="en-US" sz="2266" dirty="0"/>
              <a:t> </a:t>
            </a:r>
            <a:r>
              <a:rPr lang="en-US" altLang="en-US" sz="2266" i="1" dirty="0"/>
              <a:t>instructor</a:t>
            </a:r>
            <a:r>
              <a:rPr lang="en-US" altLang="en-US" sz="2266" dirty="0"/>
              <a:t> = </a:t>
            </a:r>
            <a:r>
              <a:rPr lang="en-US" altLang="en-US" sz="2266" b="1" dirty="0"/>
              <a:t>record</a:t>
            </a:r>
            <a:endParaRPr lang="en-US" altLang="en-US" sz="1700" dirty="0"/>
          </a:p>
          <a:p>
            <a:pPr lvl="1">
              <a:buNone/>
              <a:tabLst>
                <a:tab pos="1365647" algn="l"/>
                <a:tab pos="2744391" algn="l"/>
                <a:tab pos="2957513" algn="l"/>
              </a:tabLst>
            </a:pPr>
            <a:r>
              <a:rPr lang="en-US" altLang="en-US" sz="2266" dirty="0"/>
              <a:t>		</a:t>
            </a:r>
            <a:r>
              <a:rPr lang="en-US" altLang="en-US" sz="2266" i="1" dirty="0"/>
              <a:t>ID</a:t>
            </a:r>
            <a:r>
              <a:rPr lang="en-US" altLang="en-US" sz="2266" dirty="0"/>
              <a:t> : string; </a:t>
            </a:r>
            <a:r>
              <a:rPr lang="en-US" altLang="en-US" sz="1700" dirty="0"/>
              <a:t/>
            </a:r>
            <a:br>
              <a:rPr lang="en-US" altLang="en-US" sz="1700" dirty="0"/>
            </a:br>
            <a:r>
              <a:rPr lang="en-US" altLang="en-US" sz="2266" dirty="0"/>
              <a:t>	</a:t>
            </a:r>
            <a:r>
              <a:rPr lang="en-US" altLang="en-US" sz="2266" i="1" dirty="0"/>
              <a:t>name</a:t>
            </a:r>
            <a:r>
              <a:rPr lang="en-US" altLang="en-US" sz="2266" dirty="0"/>
              <a:t> : string;</a:t>
            </a:r>
            <a:r>
              <a:rPr lang="en-US" altLang="en-US" sz="1700" dirty="0"/>
              <a:t/>
            </a:r>
            <a:br>
              <a:rPr lang="en-US" altLang="en-US" sz="1700" dirty="0"/>
            </a:br>
            <a:r>
              <a:rPr lang="en-US" altLang="en-US" sz="2266" dirty="0"/>
              <a:t>	</a:t>
            </a:r>
            <a:r>
              <a:rPr lang="en-US" altLang="en-US" sz="2266" i="1" dirty="0" err="1"/>
              <a:t>dept_name</a:t>
            </a:r>
            <a:r>
              <a:rPr lang="en-US" altLang="en-US" sz="2266" dirty="0"/>
              <a:t> : string;</a:t>
            </a:r>
            <a:r>
              <a:rPr lang="en-US" altLang="en-US" sz="1700" dirty="0"/>
              <a:t/>
            </a:r>
            <a:br>
              <a:rPr lang="en-US" altLang="en-US" sz="1700" dirty="0"/>
            </a:br>
            <a:r>
              <a:rPr lang="en-US" altLang="en-US" sz="2266" dirty="0"/>
              <a:t>	</a:t>
            </a:r>
            <a:r>
              <a:rPr lang="en-US" altLang="en-US" sz="2266" i="1" dirty="0"/>
              <a:t>salary</a:t>
            </a:r>
            <a:r>
              <a:rPr lang="en-US" altLang="en-US" sz="2266" dirty="0"/>
              <a:t> : integer;</a:t>
            </a:r>
          </a:p>
          <a:p>
            <a:pPr lvl="4">
              <a:buNone/>
              <a:tabLst>
                <a:tab pos="1365647" algn="l"/>
                <a:tab pos="2744391" algn="l"/>
                <a:tab pos="2957513" algn="l"/>
              </a:tabLst>
            </a:pPr>
            <a:r>
              <a:rPr lang="en-US" altLang="en-US" sz="2266" b="1" dirty="0"/>
              <a:t>end</a:t>
            </a:r>
            <a:r>
              <a:rPr lang="en-US" altLang="en-US" sz="2266" dirty="0"/>
              <a:t>;</a:t>
            </a:r>
          </a:p>
          <a:p>
            <a:pPr>
              <a:tabLst>
                <a:tab pos="1365647" algn="l"/>
                <a:tab pos="2744391" algn="l"/>
                <a:tab pos="2957513" algn="l"/>
              </a:tabLst>
            </a:pPr>
            <a:r>
              <a:rPr lang="en-US" altLang="en-US" sz="2266" b="1" dirty="0">
                <a:solidFill>
                  <a:srgbClr val="FF0000"/>
                </a:solidFill>
              </a:rPr>
              <a:t>View  level</a:t>
            </a:r>
            <a:r>
              <a:rPr lang="en-US" altLang="en-US" sz="2266" dirty="0">
                <a:solidFill>
                  <a:srgbClr val="002060"/>
                </a:solidFill>
              </a:rPr>
              <a:t>:</a:t>
            </a:r>
            <a:r>
              <a:rPr lang="en-US" altLang="en-US" sz="2266" b="1" dirty="0">
                <a:solidFill>
                  <a:srgbClr val="002060"/>
                </a:solidFill>
              </a:rPr>
              <a:t> </a:t>
            </a:r>
            <a:r>
              <a:rPr lang="en-US" altLang="en-US" sz="2266" dirty="0"/>
              <a:t>application programs hide details of data types.  Views can also hide information (such as an employee</a:t>
            </a:r>
            <a:r>
              <a:rPr lang="ja-JP" altLang="en-US" sz="2266" dirty="0"/>
              <a:t>’</a:t>
            </a:r>
            <a:r>
              <a:rPr lang="en-US" altLang="ja-JP" sz="2266" dirty="0"/>
              <a:t>s salary) for security purposes. </a:t>
            </a:r>
            <a:r>
              <a:rPr lang="zh-CN" altLang="en-US" dirty="0">
                <a:latin typeface="华文宋体" pitchFamily="2" charset="-122"/>
                <a:ea typeface="华文宋体" pitchFamily="2" charset="-122"/>
              </a:rPr>
              <a:t>视图层</a:t>
            </a:r>
            <a:endParaRPr lang="en-US" altLang="en-US" dirty="0">
              <a:latin typeface="华文宋体" pitchFamily="2" charset="-122"/>
              <a:ea typeface="华文宋体" pitchFamily="2" charset="-122"/>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View of Data</a:t>
            </a:r>
          </a:p>
        </p:txBody>
      </p:sp>
      <p:sp>
        <p:nvSpPr>
          <p:cNvPr id="19458" name="Text Box 3"/>
          <p:cNvSpPr txBox="1">
            <a:spLocks noChangeArrowheads="1"/>
          </p:cNvSpPr>
          <p:nvPr/>
        </p:nvSpPr>
        <p:spPr bwMode="auto">
          <a:xfrm>
            <a:off x="1264888" y="1151971"/>
            <a:ext cx="6065367" cy="3539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nchor="ctr">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pPr>
            <a:r>
              <a:rPr lang="en-US" altLang="en-US" sz="2266" dirty="0"/>
              <a:t>An architecture for a database system </a:t>
            </a:r>
          </a:p>
        </p:txBody>
      </p:sp>
      <p:pic>
        <p:nvPicPr>
          <p:cNvPr id="19459" name="Picture 8"/>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002203" y="1799807"/>
            <a:ext cx="6682572" cy="293435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024441" y="17843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Instances and Schemas </a:t>
            </a:r>
            <a:r>
              <a:rPr lang="zh-CN" altLang="en-US" sz="3733" dirty="0">
                <a:effectLst/>
                <a:latin typeface="华文宋体" pitchFamily="2" charset="-122"/>
                <a:ea typeface="华文宋体" pitchFamily="2" charset="-122"/>
              </a:rPr>
              <a:t>实例与模式</a:t>
            </a:r>
            <a:endParaRPr lang="en-US" altLang="en-US" sz="2800" dirty="0">
              <a:effectLst/>
              <a:latin typeface="华文宋体" pitchFamily="2" charset="-122"/>
              <a:ea typeface="华文宋体" pitchFamily="2" charset="-122"/>
            </a:endParaRPr>
          </a:p>
        </p:txBody>
      </p:sp>
      <p:sp>
        <p:nvSpPr>
          <p:cNvPr id="36867" name="Rectangle 3"/>
          <p:cNvSpPr>
            <a:spLocks noGrp="1" noChangeArrowheads="1"/>
          </p:cNvSpPr>
          <p:nvPr>
            <p:ph idx="1"/>
          </p:nvPr>
        </p:nvSpPr>
        <p:spPr>
          <a:xfrm>
            <a:off x="1024442" y="1201232"/>
            <a:ext cx="10184814" cy="4903787"/>
          </a:xfrm>
        </p:spPr>
        <p:txBody>
          <a:bodyPr/>
          <a:lstStyle/>
          <a:p>
            <a:r>
              <a:rPr lang="en-US" altLang="en-US" sz="2266" dirty="0"/>
              <a:t>Similar to types and variables in programming languages</a:t>
            </a:r>
          </a:p>
          <a:p>
            <a:r>
              <a:rPr lang="en-US" altLang="en-US" sz="2266" b="1" dirty="0">
                <a:solidFill>
                  <a:srgbClr val="FF0000"/>
                </a:solidFill>
              </a:rPr>
              <a:t>Logical Schema </a:t>
            </a:r>
            <a:r>
              <a:rPr lang="en-US" altLang="en-US" sz="2266" dirty="0"/>
              <a:t>– the overall logical structure of the database </a:t>
            </a:r>
            <a:r>
              <a:rPr lang="zh-CN" altLang="en-US" dirty="0">
                <a:latin typeface="华文宋体" pitchFamily="2" charset="-122"/>
                <a:ea typeface="华文宋体" pitchFamily="2" charset="-122"/>
              </a:rPr>
              <a:t>逻辑模式</a:t>
            </a:r>
            <a:endParaRPr lang="en-US" altLang="en-US" sz="1700" dirty="0">
              <a:latin typeface="华文宋体" pitchFamily="2" charset="-122"/>
              <a:ea typeface="华文宋体" pitchFamily="2" charset="-122"/>
            </a:endParaRPr>
          </a:p>
          <a:p>
            <a:pPr lvl="1"/>
            <a:r>
              <a:rPr lang="en-US" altLang="en-US" sz="2266" dirty="0"/>
              <a:t>Example: The database consists of information about a set of customers and accounts in a bank and the relationship between them</a:t>
            </a:r>
          </a:p>
          <a:p>
            <a:pPr lvl="2"/>
            <a:r>
              <a:rPr lang="en-US" altLang="en-US" sz="2266" dirty="0"/>
              <a:t>Analogous to type information of a variable in a program</a:t>
            </a:r>
          </a:p>
          <a:p>
            <a:r>
              <a:rPr lang="en-US" altLang="en-US" sz="2266" b="1" dirty="0">
                <a:solidFill>
                  <a:srgbClr val="FF0000"/>
                </a:solidFill>
              </a:rPr>
              <a:t>Physical schema </a:t>
            </a:r>
            <a:r>
              <a:rPr lang="en-US" altLang="en-US" sz="2266" dirty="0"/>
              <a:t>– the overall physical  structure of the database </a:t>
            </a:r>
            <a:r>
              <a:rPr lang="zh-CN" altLang="en-US" dirty="0">
                <a:latin typeface="华文宋体" pitchFamily="2" charset="-122"/>
                <a:ea typeface="华文宋体" pitchFamily="2" charset="-122"/>
              </a:rPr>
              <a:t>物理模式</a:t>
            </a:r>
            <a:endParaRPr lang="en-US" altLang="en-US" dirty="0">
              <a:latin typeface="华文宋体" pitchFamily="2" charset="-122"/>
              <a:ea typeface="华文宋体" pitchFamily="2" charset="-122"/>
            </a:endParaRPr>
          </a:p>
          <a:p>
            <a:r>
              <a:rPr lang="en-US" altLang="en-US" sz="2266" b="1" dirty="0">
                <a:solidFill>
                  <a:srgbClr val="FF0000"/>
                </a:solidFill>
              </a:rPr>
              <a:t>Instance</a:t>
            </a:r>
            <a:r>
              <a:rPr lang="en-US" altLang="en-US" sz="2266" dirty="0">
                <a:solidFill>
                  <a:srgbClr val="FF0000"/>
                </a:solidFill>
              </a:rPr>
              <a:t> </a:t>
            </a:r>
            <a:r>
              <a:rPr lang="en-US" altLang="en-US" sz="2266" dirty="0"/>
              <a:t>– the actual content of the database at a particular point in time </a:t>
            </a:r>
          </a:p>
          <a:p>
            <a:pPr lvl="1"/>
            <a:r>
              <a:rPr lang="en-US" altLang="en-US" sz="2266" dirty="0"/>
              <a:t>Analogous to the value of a variable </a:t>
            </a:r>
            <a:r>
              <a:rPr lang="zh-CN" altLang="en-US" dirty="0">
                <a:latin typeface="华文宋体" pitchFamily="2" charset="-122"/>
                <a:ea typeface="华文宋体" pitchFamily="2" charset="-122"/>
                <a:cs typeface="ＭＳ Ｐゴシック" charset="0"/>
              </a:rPr>
              <a:t>实例</a:t>
            </a:r>
            <a:endParaRPr lang="en-US" altLang="en-US" dirty="0">
              <a:latin typeface="华文宋体" pitchFamily="2" charset="-122"/>
              <a:ea typeface="华文宋体" pitchFamily="2" charset="-122"/>
              <a:cs typeface="ＭＳ Ｐゴシック"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t>Physical Data Independence </a:t>
            </a:r>
            <a:endParaRPr lang="en-US" altLang="en-US" sz="2800" dirty="0">
              <a:effectLst/>
            </a:endParaRPr>
          </a:p>
        </p:txBody>
      </p:sp>
      <p:sp>
        <p:nvSpPr>
          <p:cNvPr id="36867" name="Rectangle 3"/>
          <p:cNvSpPr>
            <a:spLocks noGrp="1" noChangeArrowheads="1"/>
          </p:cNvSpPr>
          <p:nvPr>
            <p:ph idx="1"/>
          </p:nvPr>
        </p:nvSpPr>
        <p:spPr>
          <a:xfrm>
            <a:off x="1024441" y="1150544"/>
            <a:ext cx="10078286" cy="4903787"/>
          </a:xfrm>
        </p:spPr>
        <p:txBody>
          <a:bodyPr/>
          <a:lstStyle/>
          <a:p>
            <a:r>
              <a:rPr lang="en-US" altLang="en-US" sz="2266" b="1" dirty="0">
                <a:solidFill>
                  <a:srgbClr val="FF0000"/>
                </a:solidFill>
              </a:rPr>
              <a:t>Physical Data Independence </a:t>
            </a:r>
            <a:r>
              <a:rPr lang="en-US" altLang="en-US" sz="2266" dirty="0"/>
              <a:t>– the ability to modify the physical schema without changing the logical schema </a:t>
            </a:r>
            <a:r>
              <a:rPr lang="zh-CN" altLang="en-US" dirty="0">
                <a:latin typeface="华文宋体" pitchFamily="2" charset="-122"/>
                <a:ea typeface="华文宋体" pitchFamily="2" charset="-122"/>
              </a:rPr>
              <a:t>物理数据独立性</a:t>
            </a:r>
            <a:endParaRPr lang="en-US" altLang="en-US" dirty="0">
              <a:latin typeface="华文宋体" pitchFamily="2" charset="-122"/>
              <a:ea typeface="华文宋体" pitchFamily="2" charset="-122"/>
            </a:endParaRPr>
          </a:p>
          <a:p>
            <a:pPr lvl="1"/>
            <a:r>
              <a:rPr lang="en-US" altLang="en-US" sz="2266" dirty="0"/>
              <a:t>Applications depend on the logical schema</a:t>
            </a:r>
          </a:p>
          <a:p>
            <a:pPr lvl="1"/>
            <a:r>
              <a:rPr lang="en-US" altLang="en-US" sz="2266" dirty="0"/>
              <a:t>In general, the interfaces between the various levels and components should be well defined so that changes in some parts do not seriously influence others.</a:t>
            </a:r>
          </a:p>
          <a:p>
            <a:endParaRPr lang="en-US" alt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Data Definition Language (DDL)</a:t>
            </a:r>
          </a:p>
        </p:txBody>
      </p:sp>
      <p:sp>
        <p:nvSpPr>
          <p:cNvPr id="29698" name="Rectangle 3"/>
          <p:cNvSpPr>
            <a:spLocks noGrp="1" noChangeArrowheads="1"/>
          </p:cNvSpPr>
          <p:nvPr>
            <p:ph idx="1"/>
          </p:nvPr>
        </p:nvSpPr>
        <p:spPr>
          <a:xfrm>
            <a:off x="1024441" y="892622"/>
            <a:ext cx="9867881" cy="5250996"/>
          </a:xfrm>
        </p:spPr>
        <p:txBody>
          <a:bodyPr/>
          <a:lstStyle/>
          <a:p>
            <a:r>
              <a:rPr lang="en-US" altLang="en-US" sz="2000" dirty="0"/>
              <a:t>Specification notation for defining the database schema</a:t>
            </a:r>
          </a:p>
          <a:p>
            <a:pPr lvl="1">
              <a:buFont typeface="Monotype Sorts" charset="2"/>
              <a:buNone/>
            </a:pPr>
            <a:r>
              <a:rPr lang="en-US" altLang="en-US" sz="2000" dirty="0"/>
              <a:t>Example:	</a:t>
            </a:r>
            <a:r>
              <a:rPr lang="en-US" altLang="en-US" sz="2000" b="1" dirty="0"/>
              <a:t>create table</a:t>
            </a:r>
            <a:r>
              <a:rPr lang="en-US" altLang="en-US" sz="2000" dirty="0"/>
              <a:t> </a:t>
            </a:r>
            <a:r>
              <a:rPr lang="en-US" altLang="en-US" sz="2000" i="1" dirty="0"/>
              <a:t>instructor</a:t>
            </a:r>
            <a:r>
              <a:rPr lang="en-US" altLang="en-US" sz="2000" dirty="0"/>
              <a:t> (</a:t>
            </a:r>
            <a:r>
              <a:rPr lang="en-US" altLang="en-US" sz="1600" dirty="0"/>
              <a:t/>
            </a:r>
            <a:br>
              <a:rPr lang="en-US" altLang="en-US" sz="1600" dirty="0"/>
            </a:br>
            <a:r>
              <a:rPr lang="en-US" altLang="en-US" sz="2000" dirty="0"/>
              <a:t>                             </a:t>
            </a:r>
            <a:r>
              <a:rPr lang="en-US" altLang="en-US" sz="2000" i="1" dirty="0"/>
              <a:t>ID</a:t>
            </a:r>
            <a:r>
              <a:rPr lang="en-US" altLang="en-US" sz="2000" dirty="0"/>
              <a:t>                </a:t>
            </a:r>
            <a:r>
              <a:rPr lang="en-US" altLang="en-US" sz="2000" b="1" dirty="0"/>
              <a:t>char</a:t>
            </a:r>
            <a:r>
              <a:rPr lang="en-US" altLang="en-US" sz="2000" dirty="0"/>
              <a:t>(5),</a:t>
            </a:r>
            <a:r>
              <a:rPr lang="en-US" altLang="en-US" sz="1600" dirty="0"/>
              <a:t/>
            </a:r>
            <a:br>
              <a:rPr lang="en-US" altLang="en-US" sz="1600" dirty="0"/>
            </a:br>
            <a:r>
              <a:rPr lang="en-US" altLang="en-US" sz="2000" dirty="0"/>
              <a:t>                             </a:t>
            </a:r>
            <a:r>
              <a:rPr lang="en-US" altLang="en-US" sz="2000" i="1" dirty="0"/>
              <a:t>name           </a:t>
            </a:r>
            <a:r>
              <a:rPr lang="en-US" altLang="en-US" sz="2000" b="1" dirty="0"/>
              <a:t>varchar</a:t>
            </a:r>
            <a:r>
              <a:rPr lang="en-US" altLang="en-US" sz="2000" dirty="0"/>
              <a:t>(20)</a:t>
            </a:r>
            <a:r>
              <a:rPr lang="en-US" altLang="en-US" sz="2000" b="1" dirty="0"/>
              <a:t>,</a:t>
            </a:r>
            <a:r>
              <a:rPr lang="en-US" altLang="en-US" sz="1600" b="1" i="1" dirty="0"/>
              <a:t/>
            </a:r>
            <a:br>
              <a:rPr lang="en-US" altLang="en-US" sz="1600" b="1" i="1" dirty="0"/>
            </a:br>
            <a:r>
              <a:rPr lang="en-US" altLang="en-US" sz="2000" b="1" i="1" dirty="0"/>
              <a:t>                             </a:t>
            </a:r>
            <a:r>
              <a:rPr lang="en-US" altLang="en-US" sz="2000" i="1" dirty="0" err="1"/>
              <a:t>dept_name</a:t>
            </a:r>
            <a:r>
              <a:rPr lang="en-US" altLang="en-US" sz="2000" i="1" dirty="0"/>
              <a:t>  </a:t>
            </a:r>
            <a:r>
              <a:rPr lang="en-US" altLang="en-US" sz="2000" b="1" dirty="0"/>
              <a:t>varchar</a:t>
            </a:r>
            <a:r>
              <a:rPr lang="en-US" altLang="en-US" sz="2000" dirty="0"/>
              <a:t>(20),</a:t>
            </a:r>
            <a:r>
              <a:rPr lang="en-US" altLang="en-US" sz="1600" dirty="0"/>
              <a:t/>
            </a:r>
            <a:br>
              <a:rPr lang="en-US" altLang="en-US" sz="1600" dirty="0"/>
            </a:br>
            <a:r>
              <a:rPr lang="en-US" altLang="en-US" sz="2000" dirty="0"/>
              <a:t>                             </a:t>
            </a:r>
            <a:r>
              <a:rPr lang="en-US" altLang="en-US" sz="2000" i="1" dirty="0"/>
              <a:t>salary</a:t>
            </a:r>
            <a:r>
              <a:rPr lang="en-US" altLang="en-US" sz="2000" dirty="0"/>
              <a:t>           </a:t>
            </a:r>
            <a:r>
              <a:rPr lang="en-US" altLang="en-US" sz="2000" b="1" dirty="0"/>
              <a:t>numeric</a:t>
            </a:r>
            <a:r>
              <a:rPr lang="en-US" altLang="en-US" sz="2000" dirty="0"/>
              <a:t>(8,2))</a:t>
            </a:r>
          </a:p>
          <a:p>
            <a:r>
              <a:rPr lang="en-US" altLang="en-US" sz="2000" dirty="0"/>
              <a:t>DDL compiler generates a set of table templates stored in a </a:t>
            </a:r>
            <a:r>
              <a:rPr lang="en-US" altLang="en-US" sz="2000" b="1" i="1" dirty="0">
                <a:solidFill>
                  <a:srgbClr val="FF0000"/>
                </a:solidFill>
              </a:rPr>
              <a:t>data dictionary </a:t>
            </a:r>
            <a:r>
              <a:rPr lang="zh-CN" altLang="en-US" sz="2000" b="1" dirty="0">
                <a:solidFill>
                  <a:srgbClr val="FF0000"/>
                </a:solidFill>
                <a:latin typeface="华文宋体" pitchFamily="2" charset="-122"/>
                <a:ea typeface="华文宋体" pitchFamily="2" charset="-122"/>
              </a:rPr>
              <a:t>数据字典</a:t>
            </a:r>
            <a:endParaRPr lang="en-US" altLang="en-US" sz="1600" b="1" dirty="0">
              <a:solidFill>
                <a:srgbClr val="FF0000"/>
              </a:solidFill>
              <a:latin typeface="华文宋体" pitchFamily="2" charset="-122"/>
              <a:ea typeface="华文宋体" pitchFamily="2" charset="-122"/>
            </a:endParaRPr>
          </a:p>
          <a:p>
            <a:r>
              <a:rPr lang="en-US" altLang="en-US" sz="2000" dirty="0"/>
              <a:t>Data dictionary contains metadata </a:t>
            </a:r>
            <a:r>
              <a:rPr lang="zh-CN" altLang="en-US" sz="1600" dirty="0">
                <a:latin typeface="华文宋体" pitchFamily="2" charset="-122"/>
                <a:ea typeface="华文宋体" pitchFamily="2" charset="-122"/>
              </a:rPr>
              <a:t>元数据</a:t>
            </a:r>
            <a:r>
              <a:rPr lang="en-US" altLang="en-US" sz="2000" dirty="0"/>
              <a:t> (i.e., data about data)</a:t>
            </a:r>
          </a:p>
          <a:p>
            <a:pPr lvl="1"/>
            <a:r>
              <a:rPr lang="en-US" altLang="en-US" sz="2000" dirty="0"/>
              <a:t>Database schema </a:t>
            </a:r>
            <a:r>
              <a:rPr lang="zh-CN" altLang="en-US" sz="2000" dirty="0">
                <a:latin typeface="华文宋体" pitchFamily="2" charset="-122"/>
                <a:ea typeface="华文宋体" pitchFamily="2" charset="-122"/>
                <a:cs typeface="ＭＳ Ｐゴシック" charset="0"/>
              </a:rPr>
              <a:t>数据库模式</a:t>
            </a:r>
            <a:endParaRPr lang="en-US" altLang="en-US" sz="2000" dirty="0">
              <a:latin typeface="华文宋体" pitchFamily="2" charset="-122"/>
              <a:ea typeface="华文宋体" pitchFamily="2" charset="-122"/>
              <a:cs typeface="ＭＳ Ｐゴシック" charset="0"/>
            </a:endParaRPr>
          </a:p>
          <a:p>
            <a:pPr lvl="1"/>
            <a:r>
              <a:rPr lang="en-US" altLang="en-US" sz="2000" dirty="0"/>
              <a:t>Integrity constraints </a:t>
            </a:r>
            <a:r>
              <a:rPr lang="zh-CN" altLang="en-US" sz="2000" dirty="0">
                <a:latin typeface="华文宋体" pitchFamily="2" charset="-122"/>
                <a:ea typeface="华文宋体" pitchFamily="2" charset="-122"/>
                <a:cs typeface="ＭＳ Ｐゴシック" charset="0"/>
              </a:rPr>
              <a:t>完整性约束</a:t>
            </a:r>
            <a:endParaRPr lang="en-US" altLang="en-US" sz="2000" dirty="0">
              <a:latin typeface="华文宋体" pitchFamily="2" charset="-122"/>
              <a:ea typeface="华文宋体" pitchFamily="2" charset="-122"/>
              <a:cs typeface="ＭＳ Ｐゴシック" charset="0"/>
            </a:endParaRPr>
          </a:p>
          <a:p>
            <a:pPr lvl="2"/>
            <a:r>
              <a:rPr lang="en-US" altLang="en-US" sz="2000" dirty="0"/>
              <a:t>Primary key (ID uniquely identifies instructors)</a:t>
            </a:r>
          </a:p>
          <a:p>
            <a:pPr lvl="1"/>
            <a:r>
              <a:rPr lang="en-US" altLang="en-US" sz="2000" dirty="0"/>
              <a:t>Authorization </a:t>
            </a:r>
            <a:r>
              <a:rPr lang="zh-CN" altLang="en-US" sz="1600" dirty="0">
                <a:latin typeface="华文宋体" pitchFamily="2" charset="-122"/>
                <a:ea typeface="华文宋体" pitchFamily="2" charset="-122"/>
                <a:cs typeface="ＭＳ Ｐゴシック" charset="0"/>
              </a:rPr>
              <a:t>授权</a:t>
            </a:r>
            <a:endParaRPr lang="en-US" altLang="en-US" sz="1600" dirty="0">
              <a:latin typeface="华文宋体" pitchFamily="2" charset="-122"/>
              <a:ea typeface="华文宋体" pitchFamily="2" charset="-122"/>
              <a:cs typeface="ＭＳ Ｐゴシック" charset="0"/>
            </a:endParaRPr>
          </a:p>
          <a:p>
            <a:pPr lvl="2"/>
            <a:r>
              <a:rPr lang="en-US" altLang="en-US" sz="2000" dirty="0"/>
              <a:t>Who can access what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Data Manipulation Language (DML)</a:t>
            </a:r>
          </a:p>
        </p:txBody>
      </p:sp>
      <p:sp>
        <p:nvSpPr>
          <p:cNvPr id="31746" name="Rectangle 3"/>
          <p:cNvSpPr>
            <a:spLocks noGrp="1" noChangeArrowheads="1"/>
          </p:cNvSpPr>
          <p:nvPr>
            <p:ph idx="1"/>
          </p:nvPr>
        </p:nvSpPr>
        <p:spPr>
          <a:xfrm>
            <a:off x="1024439" y="1093790"/>
            <a:ext cx="10066450" cy="4903787"/>
          </a:xfrm>
        </p:spPr>
        <p:txBody>
          <a:bodyPr/>
          <a:lstStyle/>
          <a:p>
            <a:r>
              <a:rPr lang="en-US" altLang="en-US" sz="2266" dirty="0"/>
              <a:t>Language for accessing and updating the data organized by the appropriate data model </a:t>
            </a:r>
            <a:r>
              <a:rPr lang="zh-CN" altLang="en-US" dirty="0">
                <a:latin typeface="华文宋体" pitchFamily="2" charset="-122"/>
                <a:ea typeface="华文宋体" pitchFamily="2" charset="-122"/>
              </a:rPr>
              <a:t>数据操纵语言</a:t>
            </a:r>
            <a:endParaRPr lang="en-US" altLang="en-US" dirty="0">
              <a:latin typeface="华文宋体" pitchFamily="2" charset="-122"/>
              <a:ea typeface="华文宋体" pitchFamily="2" charset="-122"/>
            </a:endParaRPr>
          </a:p>
          <a:p>
            <a:pPr lvl="1"/>
            <a:r>
              <a:rPr lang="en-US" altLang="en-US" sz="2266" dirty="0"/>
              <a:t>DML also known as query language</a:t>
            </a:r>
          </a:p>
          <a:p>
            <a:r>
              <a:rPr lang="en-US" altLang="en-US" sz="2000" dirty="0"/>
              <a:t>There are basically two types of data-manipulation language</a:t>
            </a:r>
          </a:p>
          <a:p>
            <a:pPr lvl="1"/>
            <a:r>
              <a:rPr lang="en-US" altLang="en-US" sz="2000" b="1" dirty="0">
                <a:solidFill>
                  <a:srgbClr val="FF0000"/>
                </a:solidFill>
                <a:cs typeface="ＭＳ Ｐゴシック" charset="0"/>
              </a:rPr>
              <a:t>Procedural DML </a:t>
            </a:r>
            <a:r>
              <a:rPr lang="en-US" altLang="en-US" sz="2000" dirty="0">
                <a:cs typeface="ＭＳ Ｐゴシック" charset="0"/>
              </a:rPr>
              <a:t>--  require a user to specify what data are needed and how to get those data. </a:t>
            </a:r>
            <a:r>
              <a:rPr lang="zh-CN" altLang="en-US" sz="2000" dirty="0">
                <a:latin typeface="华文宋体" pitchFamily="2" charset="-122"/>
                <a:ea typeface="华文宋体" pitchFamily="2" charset="-122"/>
                <a:cs typeface="ＭＳ Ｐゴシック" charset="0"/>
              </a:rPr>
              <a:t>过程化</a:t>
            </a:r>
            <a:r>
              <a:rPr lang="en-US" altLang="zh-CN" sz="2000" dirty="0">
                <a:latin typeface="华文宋体" pitchFamily="2" charset="-122"/>
                <a:ea typeface="华文宋体" pitchFamily="2" charset="-122"/>
                <a:cs typeface="ＭＳ Ｐゴシック" charset="0"/>
              </a:rPr>
              <a:t>DML</a:t>
            </a:r>
            <a:endParaRPr lang="en-US" altLang="en-US" sz="2000" dirty="0">
              <a:latin typeface="华文宋体" pitchFamily="2" charset="-122"/>
              <a:ea typeface="华文宋体" pitchFamily="2" charset="-122"/>
              <a:cs typeface="ＭＳ Ｐゴシック" charset="0"/>
            </a:endParaRPr>
          </a:p>
          <a:p>
            <a:pPr lvl="1"/>
            <a:r>
              <a:rPr lang="en-US" altLang="en-US" sz="2000" b="1" dirty="0">
                <a:solidFill>
                  <a:srgbClr val="FF0000"/>
                </a:solidFill>
                <a:cs typeface="ＭＳ Ｐゴシック" charset="0"/>
              </a:rPr>
              <a:t>Declarative DML  </a:t>
            </a:r>
            <a:r>
              <a:rPr lang="en-US" altLang="en-US" sz="2000" dirty="0">
                <a:cs typeface="ＭＳ Ｐゴシック" charset="0"/>
              </a:rPr>
              <a:t>-- require a user to specify what data are needed without specifying how to get those data. </a:t>
            </a:r>
            <a:r>
              <a:rPr lang="zh-CN" altLang="en-US" sz="2000" dirty="0">
                <a:cs typeface="ＭＳ Ｐゴシック" charset="0"/>
              </a:rPr>
              <a:t>申明式</a:t>
            </a:r>
            <a:r>
              <a:rPr lang="en-US" altLang="zh-CN" sz="2000" dirty="0">
                <a:latin typeface="华文宋体" pitchFamily="2" charset="-122"/>
                <a:ea typeface="华文宋体" pitchFamily="2" charset="-122"/>
                <a:cs typeface="ＭＳ Ｐゴシック" charset="0"/>
              </a:rPr>
              <a:t>DML </a:t>
            </a:r>
            <a:r>
              <a:rPr lang="zh-CN" altLang="en-US" sz="2000" dirty="0">
                <a:latin typeface="华文宋体" pitchFamily="2" charset="-122"/>
                <a:ea typeface="华文宋体" pitchFamily="2" charset="-122"/>
                <a:cs typeface="ＭＳ Ｐゴシック" charset="0"/>
              </a:rPr>
              <a:t>非过程化</a:t>
            </a:r>
            <a:r>
              <a:rPr lang="en-US" altLang="zh-CN" sz="2000" dirty="0">
                <a:latin typeface="华文宋体" pitchFamily="2" charset="-122"/>
                <a:ea typeface="华文宋体" pitchFamily="2" charset="-122"/>
                <a:cs typeface="ＭＳ Ｐゴシック" charset="0"/>
              </a:rPr>
              <a:t>DML</a:t>
            </a:r>
            <a:endParaRPr lang="en-US" altLang="en-US" sz="2000" dirty="0">
              <a:latin typeface="华文宋体" pitchFamily="2" charset="-122"/>
              <a:ea typeface="华文宋体" pitchFamily="2" charset="-122"/>
              <a:cs typeface="ＭＳ Ｐゴシック" charset="0"/>
            </a:endParaRPr>
          </a:p>
          <a:p>
            <a:r>
              <a:rPr lang="en-US" altLang="en-US" sz="2000" dirty="0"/>
              <a:t>Declarative DMLs are usually easier to learn and use than are procedural DMLs.  </a:t>
            </a:r>
          </a:p>
          <a:p>
            <a:r>
              <a:rPr lang="en-US" altLang="en-US" sz="2000" dirty="0"/>
              <a:t>Declarative DMLs are also referred to as non-procedural DMLs</a:t>
            </a:r>
          </a:p>
          <a:p>
            <a:r>
              <a:rPr lang="en-US" altLang="en-US" sz="2000" dirty="0"/>
              <a:t>The portion of a DML that involves information retrieval is called a </a:t>
            </a:r>
            <a:r>
              <a:rPr lang="en-US" altLang="en-US" sz="2000" b="1" dirty="0">
                <a:solidFill>
                  <a:srgbClr val="FF0000"/>
                </a:solidFill>
              </a:rPr>
              <a:t>query</a:t>
            </a:r>
            <a:r>
              <a:rPr lang="en-US" altLang="en-US" sz="2000" dirty="0">
                <a:solidFill>
                  <a:srgbClr val="FF0000"/>
                </a:solidFill>
              </a:rPr>
              <a:t> language</a:t>
            </a:r>
            <a:r>
              <a:rPr lang="en-US" altLang="en-US" sz="2000" dirty="0"/>
              <a:t>.  </a:t>
            </a:r>
            <a:r>
              <a:rPr lang="zh-CN" altLang="en-US" sz="2000" dirty="0" smtClean="0">
                <a:latin typeface="华文宋体" pitchFamily="2" charset="-122"/>
                <a:ea typeface="华文宋体" pitchFamily="2" charset="-122"/>
              </a:rPr>
              <a:t>查询语言</a:t>
            </a:r>
            <a:endParaRPr lang="en-US" altLang="en-US" sz="2000" dirty="0"/>
          </a:p>
        </p:txBody>
      </p:sp>
    </p:spTree>
    <p:extLst>
      <p:ext uri="{BB962C8B-B14F-4D97-AF65-F5344CB8AC3E}">
        <p14:creationId xmlns:p14="http://schemas.microsoft.com/office/powerpoint/2010/main" xmlns="" val="15579523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SQL Query Language</a:t>
            </a:r>
          </a:p>
        </p:txBody>
      </p:sp>
      <p:sp>
        <p:nvSpPr>
          <p:cNvPr id="33794" name="Rectangle 3"/>
          <p:cNvSpPr>
            <a:spLocks noGrp="1" noChangeArrowheads="1"/>
          </p:cNvSpPr>
          <p:nvPr>
            <p:ph idx="1"/>
          </p:nvPr>
        </p:nvSpPr>
        <p:spPr>
          <a:xfrm>
            <a:off x="1010154" y="886184"/>
            <a:ext cx="10137469" cy="5114566"/>
          </a:xfrm>
        </p:spPr>
        <p:txBody>
          <a:bodyPr/>
          <a:lstStyle/>
          <a:p>
            <a:r>
              <a:rPr lang="en-US" altLang="en-US" sz="2266" dirty="0"/>
              <a:t>SQL  query language is nonprocedural. A query takes as input several tables (possibly only one) and always returns a single table.</a:t>
            </a:r>
          </a:p>
          <a:p>
            <a:pPr>
              <a:tabLst>
                <a:tab pos="983456" algn="l"/>
              </a:tabLst>
            </a:pPr>
            <a:r>
              <a:rPr lang="en-US" altLang="en-US" sz="2000" dirty="0"/>
              <a:t>Example to find all instructors in Comp. Sci. dept</a:t>
            </a:r>
          </a:p>
          <a:p>
            <a:pPr>
              <a:buNone/>
              <a:tabLst>
                <a:tab pos="983456" algn="l"/>
              </a:tabLst>
            </a:pPr>
            <a:r>
              <a:rPr lang="en-US" altLang="en-US" sz="2000" b="1" dirty="0"/>
              <a:t>		select </a:t>
            </a:r>
            <a:r>
              <a:rPr lang="en-US" altLang="en-US" sz="2000" i="1" dirty="0"/>
              <a:t>name</a:t>
            </a:r>
            <a:br>
              <a:rPr lang="en-US" altLang="en-US" sz="2000" i="1" dirty="0"/>
            </a:br>
            <a:r>
              <a:rPr lang="en-US" altLang="en-US" sz="2000" i="1" dirty="0"/>
              <a:t>	</a:t>
            </a:r>
            <a:r>
              <a:rPr lang="en-US" altLang="en-US" sz="2000" b="1" dirty="0"/>
              <a:t>from </a:t>
            </a:r>
            <a:r>
              <a:rPr lang="en-US" altLang="en-US" sz="2000" i="1" dirty="0"/>
              <a:t>instructor</a:t>
            </a:r>
            <a:br>
              <a:rPr lang="en-US" altLang="en-US" sz="2000" i="1" dirty="0"/>
            </a:br>
            <a:r>
              <a:rPr lang="en-US" altLang="en-US" sz="2000" i="1" dirty="0"/>
              <a:t>	</a:t>
            </a:r>
            <a:r>
              <a:rPr lang="en-US" altLang="en-US" sz="2000" b="1" dirty="0"/>
              <a:t>where </a:t>
            </a:r>
            <a:r>
              <a:rPr lang="en-US" altLang="en-US" sz="2000" i="1" dirty="0"/>
              <a:t>dept_name =</a:t>
            </a:r>
            <a:r>
              <a:rPr lang="en-US" altLang="en-US" sz="2000" dirty="0"/>
              <a:t> </a:t>
            </a:r>
            <a:r>
              <a:rPr lang="en-US" altLang="ja-JP" sz="2000" dirty="0"/>
              <a:t>'Comp. Sci.'</a:t>
            </a:r>
            <a:endParaRPr lang="en-US" altLang="en-US" sz="2000" dirty="0"/>
          </a:p>
          <a:p>
            <a:r>
              <a:rPr lang="en-US" altLang="en-US" sz="2000" dirty="0"/>
              <a:t>SQL is </a:t>
            </a:r>
            <a:r>
              <a:rPr lang="en-US" altLang="en-US" sz="2000" b="1" dirty="0">
                <a:solidFill>
                  <a:srgbClr val="FF0000"/>
                </a:solidFill>
              </a:rPr>
              <a:t>NOT</a:t>
            </a:r>
            <a:r>
              <a:rPr lang="en-US" altLang="en-US" sz="2000" dirty="0"/>
              <a:t> a Turing machine equivalent language (</a:t>
            </a:r>
            <a:r>
              <a:rPr lang="zh-CN" altLang="en-US" sz="2000" dirty="0">
                <a:latin typeface="华文宋体" pitchFamily="2" charset="-122"/>
                <a:ea typeface="华文宋体" pitchFamily="2" charset="-122"/>
              </a:rPr>
              <a:t>图灵机等效语言</a:t>
            </a:r>
            <a:r>
              <a:rPr lang="zh-CN" altLang="en-US" sz="2000" dirty="0" smtClean="0">
                <a:latin typeface="华文宋体" pitchFamily="2" charset="-122"/>
                <a:ea typeface="华文宋体" pitchFamily="2" charset="-122"/>
              </a:rPr>
              <a:t>：在</a:t>
            </a:r>
            <a:r>
              <a:rPr lang="zh-CN" altLang="en-US" sz="2000" dirty="0">
                <a:latin typeface="华文宋体" pitchFamily="2" charset="-122"/>
                <a:ea typeface="华文宋体" pitchFamily="2" charset="-122"/>
              </a:rPr>
              <a:t>可计算性理论中，编程语言或任意其他的逻辑系统如具有等同于通用图灵机的计算能力</a:t>
            </a:r>
            <a:r>
              <a:rPr lang="en-US" altLang="zh-CN" sz="2000" dirty="0"/>
              <a:t>)</a:t>
            </a:r>
            <a:endParaRPr lang="en-US" altLang="en-US" sz="2000" dirty="0"/>
          </a:p>
          <a:p>
            <a:r>
              <a:rPr lang="en-US" altLang="en-US" sz="2000" dirty="0"/>
              <a:t>To be able to compute complex functions SQL is usually embedded in some higher-level language</a:t>
            </a:r>
          </a:p>
          <a:p>
            <a:r>
              <a:rPr lang="en-US" altLang="en-US" sz="2000" dirty="0"/>
              <a:t>Application programs generally access databases through one of</a:t>
            </a:r>
          </a:p>
          <a:p>
            <a:pPr lvl="1"/>
            <a:r>
              <a:rPr lang="en-US" altLang="en-US" sz="2000" dirty="0"/>
              <a:t>Language extensions to allow embedded </a:t>
            </a:r>
            <a:r>
              <a:rPr lang="en-US" altLang="en-US" sz="2000" dirty="0" smtClean="0"/>
              <a:t>SQL  </a:t>
            </a:r>
            <a:r>
              <a:rPr lang="zh-CN" altLang="en-US" sz="2000" dirty="0" smtClean="0"/>
              <a:t>（嵌入式</a:t>
            </a:r>
            <a:r>
              <a:rPr lang="en-US" altLang="zh-CN" sz="2000" dirty="0" smtClean="0"/>
              <a:t>SQL</a:t>
            </a:r>
            <a:r>
              <a:rPr lang="zh-CN" altLang="en-US" sz="2000" dirty="0" smtClean="0"/>
              <a:t>）</a:t>
            </a:r>
            <a:endParaRPr lang="en-US" altLang="en-US" sz="2000" dirty="0"/>
          </a:p>
          <a:p>
            <a:pPr lvl="1"/>
            <a:r>
              <a:rPr lang="en-US" altLang="en-US" sz="2000" dirty="0"/>
              <a:t>Application program interface (e.g., ODBC/JDBC) which allow SQL queries to be sent to a </a:t>
            </a:r>
            <a:r>
              <a:rPr lang="en-US" altLang="en-US" sz="2000" dirty="0" smtClean="0"/>
              <a:t>database    </a:t>
            </a:r>
            <a:r>
              <a:rPr lang="zh-CN" altLang="en-US" sz="2000" dirty="0" smtClean="0"/>
              <a:t>（</a:t>
            </a:r>
            <a:r>
              <a:rPr lang="en-US" altLang="zh-CN" sz="2000" dirty="0" smtClean="0"/>
              <a:t>API</a:t>
            </a:r>
            <a:r>
              <a:rPr lang="zh-CN" altLang="en-US" sz="2000" dirty="0" smtClean="0"/>
              <a:t>）</a:t>
            </a:r>
            <a:endParaRPr lang="en-US" altLang="en-US" sz="2000" dirty="0"/>
          </a:p>
          <a:p>
            <a:pPr>
              <a:buFont typeface="Monotype Sorts" charset="2"/>
              <a:buNone/>
            </a:pPr>
            <a:endParaRPr lang="en-US" altLang="en-US"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Database Access from Application Program</a:t>
            </a:r>
          </a:p>
        </p:txBody>
      </p:sp>
      <p:sp>
        <p:nvSpPr>
          <p:cNvPr id="35842" name="Rectangle 3"/>
          <p:cNvSpPr>
            <a:spLocks noGrp="1" noChangeArrowheads="1"/>
          </p:cNvSpPr>
          <p:nvPr>
            <p:ph idx="1"/>
          </p:nvPr>
        </p:nvSpPr>
        <p:spPr>
          <a:xfrm>
            <a:off x="1024441" y="1191006"/>
            <a:ext cx="10113796" cy="4903787"/>
          </a:xfrm>
        </p:spPr>
        <p:txBody>
          <a:bodyPr/>
          <a:lstStyle/>
          <a:p>
            <a:r>
              <a:rPr lang="en-US" altLang="en-US" sz="2266" dirty="0"/>
              <a:t>Non-procedural query languages such as SQL are not as powerful as a universal Turing machine.</a:t>
            </a:r>
            <a:r>
              <a:rPr lang="en-US" altLang="en-US" sz="2266" dirty="0">
                <a:sym typeface="Symbol" panose="05050102010706020507" pitchFamily="18" charset="2"/>
              </a:rPr>
              <a:t>    </a:t>
            </a:r>
          </a:p>
          <a:p>
            <a:r>
              <a:rPr lang="en-US" altLang="en-US" sz="2266" dirty="0">
                <a:sym typeface="Symbol" panose="05050102010706020507" pitchFamily="18" charset="2"/>
              </a:rPr>
              <a:t>SQL does not support actions such as input from users, output to displays, or communication over the network.  </a:t>
            </a:r>
          </a:p>
          <a:p>
            <a:r>
              <a:rPr lang="en-US" altLang="en-US" sz="2266" dirty="0">
                <a:sym typeface="Symbol" panose="05050102010706020507" pitchFamily="18" charset="2"/>
              </a:rPr>
              <a:t>Such computations and actions must be written in a </a:t>
            </a:r>
            <a:r>
              <a:rPr lang="en-US" altLang="en-US" sz="2266" b="1" dirty="0">
                <a:solidFill>
                  <a:srgbClr val="FF0000"/>
                </a:solidFill>
                <a:sym typeface="Symbol" panose="05050102010706020507" pitchFamily="18" charset="2"/>
              </a:rPr>
              <a:t>host</a:t>
            </a:r>
            <a:r>
              <a:rPr lang="en-US" altLang="en-US" sz="2266" dirty="0">
                <a:solidFill>
                  <a:srgbClr val="FF0000"/>
                </a:solidFill>
                <a:sym typeface="Symbol" panose="05050102010706020507" pitchFamily="18" charset="2"/>
              </a:rPr>
              <a:t> </a:t>
            </a:r>
            <a:r>
              <a:rPr lang="en-US" altLang="en-US" sz="2266" b="1" dirty="0">
                <a:solidFill>
                  <a:srgbClr val="FF0000"/>
                </a:solidFill>
                <a:sym typeface="Symbol" panose="05050102010706020507" pitchFamily="18" charset="2"/>
              </a:rPr>
              <a:t>language</a:t>
            </a:r>
            <a:r>
              <a:rPr lang="en-US" altLang="en-US" sz="2266" dirty="0">
                <a:sym typeface="Symbol" panose="05050102010706020507" pitchFamily="18" charset="2"/>
              </a:rPr>
              <a:t>, such as C/C++, Java or Python, with embedded SQL queries that access the data in the database.</a:t>
            </a:r>
          </a:p>
          <a:p>
            <a:r>
              <a:rPr lang="en-US" altLang="en-US" sz="2266" b="1" dirty="0">
                <a:solidFill>
                  <a:srgbClr val="FF0000"/>
                </a:solidFill>
                <a:sym typeface="Symbol" panose="05050102010706020507" pitchFamily="18" charset="2"/>
              </a:rPr>
              <a:t>Application programs </a:t>
            </a:r>
            <a:r>
              <a:rPr lang="en-US" altLang="en-US" sz="2266" dirty="0">
                <a:sym typeface="Symbol" panose="05050102010706020507" pitchFamily="18" charset="2"/>
              </a:rPr>
              <a:t>-- are programs that are used to interact with the database in this fashion.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Database Design</a:t>
            </a:r>
          </a:p>
        </p:txBody>
      </p:sp>
      <p:sp>
        <p:nvSpPr>
          <p:cNvPr id="35842" name="Rectangle 3"/>
          <p:cNvSpPr>
            <a:spLocks noGrp="1" noChangeArrowheads="1"/>
          </p:cNvSpPr>
          <p:nvPr>
            <p:ph idx="1"/>
          </p:nvPr>
        </p:nvSpPr>
        <p:spPr>
          <a:xfrm>
            <a:off x="1325700" y="1535768"/>
            <a:ext cx="9942740" cy="4425713"/>
          </a:xfrm>
        </p:spPr>
        <p:txBody>
          <a:bodyPr/>
          <a:lstStyle/>
          <a:p>
            <a:r>
              <a:rPr lang="en-US" altLang="en-US" sz="2266" dirty="0">
                <a:solidFill>
                  <a:srgbClr val="FF0000"/>
                </a:solidFill>
              </a:rPr>
              <a:t>Logical Design </a:t>
            </a:r>
            <a:r>
              <a:rPr lang="en-US" altLang="en-US" sz="2266" dirty="0"/>
              <a:t>–  Deciding on the database schema. Database design requires that we find a </a:t>
            </a:r>
            <a:r>
              <a:rPr lang="ja-JP" altLang="en-US" sz="2266" dirty="0"/>
              <a:t>“</a:t>
            </a:r>
            <a:r>
              <a:rPr lang="en-US" altLang="ja-JP" sz="2266" dirty="0"/>
              <a:t>good</a:t>
            </a:r>
            <a:r>
              <a:rPr lang="ja-JP" altLang="en-US" sz="2266" dirty="0"/>
              <a:t>”</a:t>
            </a:r>
            <a:r>
              <a:rPr lang="en-US" altLang="ja-JP" sz="2266" dirty="0"/>
              <a:t> collection of relation schemas. </a:t>
            </a:r>
            <a:r>
              <a:rPr lang="zh-CN" altLang="en-US" sz="2266" dirty="0">
                <a:latin typeface="华文宋体" pitchFamily="2" charset="-122"/>
                <a:ea typeface="华文宋体" pitchFamily="2" charset="-122"/>
              </a:rPr>
              <a:t>逻辑设计</a:t>
            </a:r>
            <a:endParaRPr lang="en-US" altLang="ja-JP" sz="1700" dirty="0">
              <a:latin typeface="华文宋体" pitchFamily="2" charset="-122"/>
              <a:ea typeface="华文宋体" pitchFamily="2" charset="-122"/>
            </a:endParaRPr>
          </a:p>
          <a:p>
            <a:pPr lvl="1"/>
            <a:r>
              <a:rPr lang="en-US" altLang="en-US" sz="2266" dirty="0"/>
              <a:t>Business decision – What attributes should we record in the database?</a:t>
            </a:r>
          </a:p>
          <a:p>
            <a:pPr lvl="1"/>
            <a:r>
              <a:rPr lang="en-US" altLang="en-US" sz="2266" dirty="0"/>
              <a:t>Computer Science decision –  What relation schemas should we have and how should the attributes be distributed among the various relation schemas?</a:t>
            </a:r>
          </a:p>
          <a:p>
            <a:r>
              <a:rPr lang="en-US" altLang="en-US" sz="2266" dirty="0">
                <a:solidFill>
                  <a:srgbClr val="FF0000"/>
                </a:solidFill>
              </a:rPr>
              <a:t>Physical Design </a:t>
            </a:r>
            <a:r>
              <a:rPr lang="en-US" altLang="en-US" sz="2266" dirty="0"/>
              <a:t>– Deciding on the physical layout of the database </a:t>
            </a:r>
            <a:r>
              <a:rPr lang="zh-CN" altLang="en-US" sz="2000" dirty="0">
                <a:latin typeface="华文宋体" pitchFamily="2" charset="-122"/>
                <a:ea typeface="华文宋体" pitchFamily="2" charset="-122"/>
              </a:rPr>
              <a:t>物理设计</a:t>
            </a:r>
            <a:r>
              <a:rPr lang="en-US" altLang="en-US" dirty="0">
                <a:latin typeface="华文宋体" pitchFamily="2" charset="-122"/>
                <a:ea typeface="华文宋体" pitchFamily="2" charset="-122"/>
              </a:rPr>
              <a:t>                </a:t>
            </a:r>
          </a:p>
          <a:p>
            <a:pPr>
              <a:buFont typeface="Monotype Sorts" charset="2"/>
              <a:buNone/>
            </a:pPr>
            <a:endParaRPr lang="en-US" altLang="en-US" dirty="0"/>
          </a:p>
          <a:p>
            <a:pPr>
              <a:buFont typeface="Monotype Sorts" charset="2"/>
              <a:buNone/>
            </a:pPr>
            <a:r>
              <a:rPr lang="en-US" altLang="en-US" dirty="0">
                <a:sym typeface="Symbol" panose="05050102010706020507" pitchFamily="18" charset="2"/>
              </a:rPr>
              <a:t>     </a:t>
            </a:r>
          </a:p>
        </p:txBody>
      </p:sp>
      <p:sp>
        <p:nvSpPr>
          <p:cNvPr id="35843" name="Rectangle 3"/>
          <p:cNvSpPr>
            <a:spLocks noChangeArrowheads="1"/>
          </p:cNvSpPr>
          <p:nvPr/>
        </p:nvSpPr>
        <p:spPr bwMode="auto">
          <a:xfrm>
            <a:off x="1024442" y="1089305"/>
            <a:ext cx="10858397" cy="3539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buFont typeface="Monotype Sorts" charset="2"/>
              <a:buNone/>
            </a:pPr>
            <a:r>
              <a:rPr lang="en-US" altLang="en-US" sz="2266" dirty="0"/>
              <a:t>The process of designing the general structure of the database: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Database Engine</a:t>
            </a:r>
          </a:p>
        </p:txBody>
      </p:sp>
      <p:sp>
        <p:nvSpPr>
          <p:cNvPr id="49154" name="Rectangle 3"/>
          <p:cNvSpPr>
            <a:spLocks noGrp="1" noChangeArrowheads="1"/>
          </p:cNvSpPr>
          <p:nvPr>
            <p:ph idx="1"/>
          </p:nvPr>
        </p:nvSpPr>
        <p:spPr>
          <a:xfrm>
            <a:off x="1024442" y="1154750"/>
            <a:ext cx="10066449" cy="4903787"/>
          </a:xfrm>
        </p:spPr>
        <p:txBody>
          <a:bodyPr/>
          <a:lstStyle/>
          <a:p>
            <a:r>
              <a:rPr lang="en-US" altLang="en-US" sz="2266" dirty="0"/>
              <a:t>A database system is partitioned into modules that deal with each of the responsibilities of the overall system.  </a:t>
            </a:r>
          </a:p>
          <a:p>
            <a:r>
              <a:rPr lang="en-US" altLang="en-US" sz="2266" dirty="0"/>
              <a:t>The functional components of a database system can be divided into</a:t>
            </a:r>
          </a:p>
          <a:p>
            <a:pPr lvl="1"/>
            <a:r>
              <a:rPr lang="en-US" altLang="en-US" sz="2266" dirty="0"/>
              <a:t>The storage manager, </a:t>
            </a:r>
            <a:r>
              <a:rPr lang="zh-CN" altLang="en-US" sz="2000" dirty="0">
                <a:latin typeface="华文宋体" pitchFamily="2" charset="-122"/>
                <a:ea typeface="华文宋体" pitchFamily="2" charset="-122"/>
                <a:cs typeface="ＭＳ Ｐゴシック" charset="0"/>
              </a:rPr>
              <a:t>存储管理</a:t>
            </a:r>
            <a:endParaRPr lang="en-US" altLang="en-US" sz="2000" dirty="0">
              <a:latin typeface="华文宋体" pitchFamily="2" charset="-122"/>
              <a:ea typeface="华文宋体" pitchFamily="2" charset="-122"/>
              <a:cs typeface="ＭＳ Ｐゴシック" charset="0"/>
            </a:endParaRPr>
          </a:p>
          <a:p>
            <a:pPr lvl="1"/>
            <a:r>
              <a:rPr lang="en-US" altLang="en-US" sz="2266" dirty="0"/>
              <a:t>The  query processor component,  </a:t>
            </a:r>
            <a:r>
              <a:rPr lang="zh-CN" altLang="en-US" sz="2000" dirty="0">
                <a:latin typeface="华文宋体" pitchFamily="2" charset="-122"/>
                <a:ea typeface="华文宋体" pitchFamily="2" charset="-122"/>
                <a:cs typeface="ＭＳ Ｐゴシック" charset="0"/>
              </a:rPr>
              <a:t>查询处理</a:t>
            </a:r>
            <a:endParaRPr lang="en-US" altLang="en-US" sz="2000" dirty="0">
              <a:latin typeface="华文宋体" pitchFamily="2" charset="-122"/>
              <a:ea typeface="华文宋体" pitchFamily="2" charset="-122"/>
              <a:cs typeface="ＭＳ Ｐゴシック" charset="0"/>
            </a:endParaRPr>
          </a:p>
          <a:p>
            <a:pPr lvl="1"/>
            <a:r>
              <a:rPr lang="en-US" altLang="en-US" sz="2266" dirty="0"/>
              <a:t>The transaction management component.  </a:t>
            </a:r>
            <a:r>
              <a:rPr lang="zh-CN" altLang="en-US" sz="2000" dirty="0">
                <a:latin typeface="华文宋体" pitchFamily="2" charset="-122"/>
                <a:ea typeface="华文宋体" pitchFamily="2" charset="-122"/>
                <a:cs typeface="ＭＳ Ｐゴシック" charset="0"/>
              </a:rPr>
              <a:t>事务管理</a:t>
            </a:r>
            <a:endParaRPr lang="en-US" altLang="en-US" sz="2000" dirty="0">
              <a:latin typeface="华文宋体" pitchFamily="2" charset="-122"/>
              <a:ea typeface="华文宋体" pitchFamily="2" charset="-122"/>
              <a:cs typeface="ＭＳ Ｐゴシック" charset="0"/>
            </a:endParaRPr>
          </a:p>
          <a:p>
            <a:endParaRPr lang="en-US" alt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Storage Manager</a:t>
            </a:r>
          </a:p>
        </p:txBody>
      </p:sp>
      <p:sp>
        <p:nvSpPr>
          <p:cNvPr id="49154" name="Rectangle 3"/>
          <p:cNvSpPr>
            <a:spLocks noGrp="1" noChangeArrowheads="1"/>
          </p:cNvSpPr>
          <p:nvPr>
            <p:ph idx="1"/>
          </p:nvPr>
        </p:nvSpPr>
        <p:spPr>
          <a:xfrm>
            <a:off x="1024439" y="1046142"/>
            <a:ext cx="10184816" cy="4903787"/>
          </a:xfrm>
        </p:spPr>
        <p:txBody>
          <a:bodyPr/>
          <a:lstStyle/>
          <a:p>
            <a:r>
              <a:rPr lang="en-US" altLang="en-US" sz="2266" dirty="0"/>
              <a:t>A program module that provides the interface between the low-level data stored in the database and the application programs and queries submitted to the system.</a:t>
            </a:r>
          </a:p>
          <a:p>
            <a:r>
              <a:rPr lang="en-US" altLang="en-US" sz="2266" dirty="0"/>
              <a:t>The storage manager is responsible to the following tasks: </a:t>
            </a:r>
          </a:p>
          <a:p>
            <a:pPr lvl="1"/>
            <a:r>
              <a:rPr lang="en-US" altLang="en-US" sz="2266" dirty="0"/>
              <a:t>Interaction with the OS file manager </a:t>
            </a:r>
          </a:p>
          <a:p>
            <a:pPr lvl="1"/>
            <a:r>
              <a:rPr lang="en-US" altLang="en-US" sz="2266" dirty="0"/>
              <a:t>Efficient storing, retrieving and updating of data</a:t>
            </a:r>
          </a:p>
          <a:p>
            <a:r>
              <a:rPr lang="en-US" altLang="en-US" sz="2266" dirty="0"/>
              <a:t>The storage manager components include:</a:t>
            </a:r>
          </a:p>
          <a:p>
            <a:pPr lvl="1"/>
            <a:r>
              <a:rPr lang="en-US" altLang="en-US" sz="2266" dirty="0"/>
              <a:t>Authorization and integrity manager</a:t>
            </a:r>
          </a:p>
          <a:p>
            <a:pPr lvl="1"/>
            <a:r>
              <a:rPr lang="en-US" altLang="en-US" sz="2266" dirty="0"/>
              <a:t>Transaction manager</a:t>
            </a:r>
          </a:p>
          <a:p>
            <a:pPr lvl="1"/>
            <a:r>
              <a:rPr lang="en-US" altLang="en-US" sz="2266" dirty="0"/>
              <a:t>File manager</a:t>
            </a:r>
          </a:p>
          <a:p>
            <a:pPr lvl="1"/>
            <a:r>
              <a:rPr lang="en-US" altLang="en-US" sz="2266" dirty="0"/>
              <a:t>Buffer manager</a:t>
            </a:r>
          </a:p>
          <a:p>
            <a:pPr lvl="1">
              <a:buFont typeface="Monotype Sorts" charset="2"/>
              <a:buNone/>
            </a:pPr>
            <a:endParaRPr lang="en-US"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Storage Manager (Cont.)</a:t>
            </a:r>
          </a:p>
        </p:txBody>
      </p:sp>
      <p:sp>
        <p:nvSpPr>
          <p:cNvPr id="49154" name="Rectangle 3"/>
          <p:cNvSpPr>
            <a:spLocks noGrp="1" noChangeArrowheads="1"/>
          </p:cNvSpPr>
          <p:nvPr>
            <p:ph idx="1"/>
          </p:nvPr>
        </p:nvSpPr>
        <p:spPr>
          <a:xfrm>
            <a:off x="1024441" y="1082239"/>
            <a:ext cx="10243999" cy="3270306"/>
          </a:xfrm>
        </p:spPr>
        <p:txBody>
          <a:bodyPr/>
          <a:lstStyle/>
          <a:p>
            <a:r>
              <a:rPr lang="en-US" altLang="en-US" sz="2266" dirty="0"/>
              <a:t>The storage manager implements several data structures as part of the physical system implementation:</a:t>
            </a:r>
          </a:p>
          <a:p>
            <a:pPr lvl="1"/>
            <a:r>
              <a:rPr lang="en-US" altLang="en-US" sz="2266" dirty="0"/>
              <a:t>Data files -- store the database itself</a:t>
            </a:r>
          </a:p>
          <a:p>
            <a:pPr lvl="1"/>
            <a:r>
              <a:rPr lang="en-US" altLang="en-US" sz="2266" dirty="0"/>
              <a:t>Data dictionary --  stores metadata about the structure of the database, in particular the schema of the database.</a:t>
            </a:r>
          </a:p>
          <a:p>
            <a:pPr lvl="1"/>
            <a:r>
              <a:rPr lang="en-US" altLang="en-US" sz="2266" dirty="0"/>
              <a:t>Indices --  can provide fast access to data items.  A database index provides pointers to those data items that hold a particular value.  </a:t>
            </a:r>
          </a:p>
          <a:p>
            <a:endParaRPr lang="en-US" altLang="en-US" sz="1700" dirty="0"/>
          </a:p>
          <a:p>
            <a:pPr lvl="1">
              <a:buFont typeface="Monotype Sorts" charset="2"/>
              <a:buNone/>
            </a:pPr>
            <a:endParaRPr lang="en-US"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Query Processor</a:t>
            </a:r>
          </a:p>
        </p:txBody>
      </p:sp>
      <p:sp>
        <p:nvSpPr>
          <p:cNvPr id="53250" name="Rectangle 3"/>
          <p:cNvSpPr>
            <a:spLocks noGrp="1" noChangeArrowheads="1"/>
          </p:cNvSpPr>
          <p:nvPr>
            <p:ph idx="1"/>
          </p:nvPr>
        </p:nvSpPr>
        <p:spPr>
          <a:xfrm>
            <a:off x="1024439" y="1143038"/>
            <a:ext cx="10137470" cy="4903787"/>
          </a:xfrm>
        </p:spPr>
        <p:txBody>
          <a:bodyPr/>
          <a:lstStyle/>
          <a:p>
            <a:r>
              <a:rPr lang="en-US" altLang="en-US" sz="2266" dirty="0"/>
              <a:t>The query processor components include:</a:t>
            </a:r>
          </a:p>
          <a:p>
            <a:pPr lvl="1"/>
            <a:r>
              <a:rPr lang="en-US" altLang="en-US" sz="2266" dirty="0"/>
              <a:t>DDL  interpreter --  interprets DDL statements and records the definitions in the data dictionary.</a:t>
            </a:r>
          </a:p>
          <a:p>
            <a:pPr lvl="1"/>
            <a:r>
              <a:rPr lang="en-US" altLang="en-US" sz="2266" dirty="0"/>
              <a:t>DML compiler -- translates DML statements in a query language into an evaluation plan consisting of low-level instructions that the query evaluation engine understands.</a:t>
            </a:r>
          </a:p>
          <a:p>
            <a:pPr lvl="2"/>
            <a:r>
              <a:rPr lang="en-US" altLang="en-US" sz="2266" dirty="0"/>
              <a:t>The DML compiler performs query optimization; that is, it picks the lowest cost evaluation plan from among the various alternatives.</a:t>
            </a:r>
          </a:p>
          <a:p>
            <a:pPr lvl="1"/>
            <a:r>
              <a:rPr lang="en-US" altLang="en-US" sz="2266" dirty="0"/>
              <a:t>Query evaluation engine -- executes low-level instructions generated by the DML compiler.</a:t>
            </a:r>
          </a:p>
          <a:p>
            <a:pPr lvl="1"/>
            <a:endParaRPr lang="en-US"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Query Processing</a:t>
            </a:r>
          </a:p>
        </p:txBody>
      </p:sp>
      <p:sp>
        <p:nvSpPr>
          <p:cNvPr id="51202" name="Rectangle 3"/>
          <p:cNvSpPr>
            <a:spLocks noGrp="1" noChangeArrowheads="1"/>
          </p:cNvSpPr>
          <p:nvPr>
            <p:ph idx="1"/>
          </p:nvPr>
        </p:nvSpPr>
        <p:spPr>
          <a:xfrm>
            <a:off x="1024441" y="1093789"/>
            <a:ext cx="9769274" cy="1100771"/>
          </a:xfrm>
        </p:spPr>
        <p:txBody>
          <a:bodyPr/>
          <a:lstStyle/>
          <a:p>
            <a:pPr>
              <a:buFont typeface="Monotype Sorts" charset="2"/>
              <a:buNone/>
            </a:pPr>
            <a:r>
              <a:rPr lang="en-US" altLang="en-US" sz="2266" dirty="0"/>
              <a:t>1.	Parsing and translation</a:t>
            </a:r>
          </a:p>
          <a:p>
            <a:pPr>
              <a:buFont typeface="Monotype Sorts" charset="2"/>
              <a:buNone/>
            </a:pPr>
            <a:r>
              <a:rPr lang="en-US" altLang="en-US" sz="2266" dirty="0"/>
              <a:t>2.	Optimization</a:t>
            </a:r>
          </a:p>
          <a:p>
            <a:pPr>
              <a:buFont typeface="Monotype Sorts" charset="2"/>
              <a:buNone/>
            </a:pPr>
            <a:r>
              <a:rPr lang="en-US" altLang="en-US" sz="2266" dirty="0"/>
              <a:t>3.	Evaluation</a:t>
            </a:r>
          </a:p>
        </p:txBody>
      </p:sp>
      <p:pic>
        <p:nvPicPr>
          <p:cNvPr id="51203" name="Picture 8"/>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552128" y="2368476"/>
            <a:ext cx="7623873" cy="34349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advTm="152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Transaction Management</a:t>
            </a:r>
            <a:r>
              <a:rPr lang="en-US" altLang="en-US" dirty="0">
                <a:effectLst/>
              </a:rPr>
              <a:t>	</a:t>
            </a:r>
          </a:p>
        </p:txBody>
      </p:sp>
      <p:sp>
        <p:nvSpPr>
          <p:cNvPr id="78851" name="Rectangle 3"/>
          <p:cNvSpPr>
            <a:spLocks noGrp="1" noChangeArrowheads="1"/>
          </p:cNvSpPr>
          <p:nvPr>
            <p:ph idx="1"/>
          </p:nvPr>
        </p:nvSpPr>
        <p:spPr>
          <a:xfrm>
            <a:off x="1024441" y="1130367"/>
            <a:ext cx="10090122" cy="3661090"/>
          </a:xfrm>
        </p:spPr>
        <p:txBody>
          <a:bodyPr/>
          <a:lstStyle/>
          <a:p>
            <a:r>
              <a:rPr lang="en-US" altLang="en-US" sz="2266" dirty="0">
                <a:sym typeface="Symbol" panose="05050102010706020507" pitchFamily="18" charset="2"/>
              </a:rPr>
              <a:t>A</a:t>
            </a:r>
            <a:r>
              <a:rPr lang="en-US" altLang="en-US" sz="2266" b="1" dirty="0">
                <a:solidFill>
                  <a:srgbClr val="002060"/>
                </a:solidFill>
                <a:sym typeface="Symbol" panose="05050102010706020507" pitchFamily="18" charset="2"/>
              </a:rPr>
              <a:t> </a:t>
            </a:r>
            <a:r>
              <a:rPr lang="en-US" altLang="en-US" sz="2266" b="1" dirty="0">
                <a:solidFill>
                  <a:srgbClr val="FF0000"/>
                </a:solidFill>
                <a:sym typeface="Symbol" panose="05050102010706020507" pitchFamily="18" charset="2"/>
              </a:rPr>
              <a:t>transaction</a:t>
            </a:r>
            <a:r>
              <a:rPr lang="en-US" altLang="en-US" sz="2266" b="1" dirty="0">
                <a:solidFill>
                  <a:srgbClr val="002060"/>
                </a:solidFill>
                <a:sym typeface="Symbol" panose="05050102010706020507" pitchFamily="18" charset="2"/>
              </a:rPr>
              <a:t> </a:t>
            </a:r>
            <a:r>
              <a:rPr lang="en-US" altLang="en-US" sz="2266" dirty="0"/>
              <a:t>is a collection of operations that performs a single logical function in a database </a:t>
            </a:r>
            <a:r>
              <a:rPr lang="en-US" altLang="en-US" sz="2266" dirty="0" smtClean="0"/>
              <a:t>application  </a:t>
            </a:r>
            <a:r>
              <a:rPr lang="zh-CN" altLang="en-US" sz="2266" dirty="0" smtClean="0"/>
              <a:t>（</a:t>
            </a:r>
            <a:r>
              <a:rPr lang="zh-CN" altLang="en-US" sz="2266" dirty="0" smtClean="0">
                <a:solidFill>
                  <a:srgbClr val="FF0000"/>
                </a:solidFill>
                <a:latin typeface="宋体" pitchFamily="2" charset="-122"/>
                <a:ea typeface="宋体" pitchFamily="2" charset="-122"/>
              </a:rPr>
              <a:t>事务</a:t>
            </a:r>
            <a:r>
              <a:rPr lang="zh-CN" altLang="en-US" sz="2266" dirty="0" smtClean="0">
                <a:latin typeface="宋体" pitchFamily="2" charset="-122"/>
                <a:ea typeface="宋体" pitchFamily="2" charset="-122"/>
              </a:rPr>
              <a:t>，用于并发与恢复</a:t>
            </a:r>
            <a:r>
              <a:rPr lang="zh-CN" altLang="en-US" sz="2266" dirty="0" smtClean="0">
                <a:solidFill>
                  <a:srgbClr val="FF0000"/>
                </a:solidFill>
              </a:rPr>
              <a:t>）</a:t>
            </a:r>
            <a:endParaRPr lang="en-US" altLang="en-US" sz="2266" dirty="0">
              <a:solidFill>
                <a:srgbClr val="FF0000"/>
              </a:solidFill>
            </a:endParaRPr>
          </a:p>
          <a:p>
            <a:r>
              <a:rPr lang="en-US" altLang="en-US" sz="2266" b="1" dirty="0">
                <a:solidFill>
                  <a:srgbClr val="002060"/>
                </a:solidFill>
                <a:sym typeface="Symbol" panose="05050102010706020507" pitchFamily="18" charset="2"/>
              </a:rPr>
              <a:t>Transaction-management component </a:t>
            </a:r>
            <a:r>
              <a:rPr lang="en-US" altLang="en-US" sz="2266" dirty="0"/>
              <a:t>ensures that the database remains in a consistent (correct) state despite system failures (e.g., power failures and operating system crashes) and transaction failures.</a:t>
            </a:r>
          </a:p>
          <a:p>
            <a:r>
              <a:rPr lang="en-US" altLang="en-US" sz="2266" b="1" dirty="0">
                <a:solidFill>
                  <a:srgbClr val="002060"/>
                </a:solidFill>
                <a:sym typeface="Symbol" panose="05050102010706020507" pitchFamily="18" charset="2"/>
              </a:rPr>
              <a:t>Concurrency-control manager </a:t>
            </a:r>
            <a:r>
              <a:rPr lang="en-US" altLang="en-US" sz="2266" dirty="0"/>
              <a:t>controls the interaction among the concurrent transactions, to ensure the consistency of the database.</a:t>
            </a:r>
            <a:r>
              <a:rPr lang="en-US" altLang="en-US" sz="2266" b="1" dirty="0">
                <a:solidFill>
                  <a:schemeClr val="tx2"/>
                </a:solidFill>
              </a:rPr>
              <a:t> </a:t>
            </a:r>
          </a:p>
          <a:p>
            <a:endParaRPr lang="en-US" altLang="en-US" b="1" dirty="0">
              <a:solidFill>
                <a:schemeClr val="tx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Database Architecture</a:t>
            </a:r>
          </a:p>
        </p:txBody>
      </p:sp>
      <p:sp>
        <p:nvSpPr>
          <p:cNvPr id="61442" name="Rectangle 3"/>
          <p:cNvSpPr>
            <a:spLocks noGrp="1" noChangeArrowheads="1"/>
          </p:cNvSpPr>
          <p:nvPr>
            <p:ph idx="1"/>
          </p:nvPr>
        </p:nvSpPr>
        <p:spPr>
          <a:xfrm>
            <a:off x="1024441" y="1093788"/>
            <a:ext cx="9806045" cy="4903787"/>
          </a:xfrm>
        </p:spPr>
        <p:txBody>
          <a:bodyPr/>
          <a:lstStyle/>
          <a:p>
            <a:r>
              <a:rPr lang="en-US" altLang="en-US" sz="2399" dirty="0"/>
              <a:t>Centralized databases</a:t>
            </a:r>
          </a:p>
          <a:p>
            <a:pPr lvl="1"/>
            <a:r>
              <a:rPr lang="en-US" altLang="en-US" sz="2266" dirty="0"/>
              <a:t>One to a few cores, shared memory</a:t>
            </a:r>
          </a:p>
          <a:p>
            <a:r>
              <a:rPr lang="en-US" altLang="en-US" sz="2399" dirty="0"/>
              <a:t>Client-server, </a:t>
            </a:r>
          </a:p>
          <a:p>
            <a:pPr lvl="1"/>
            <a:r>
              <a:rPr lang="en-US" altLang="en-US" sz="2266" dirty="0"/>
              <a:t>One server machine executes work on behalf of multiple client machines.</a:t>
            </a:r>
          </a:p>
          <a:p>
            <a:r>
              <a:rPr lang="en-US" altLang="en-US" sz="2399" dirty="0"/>
              <a:t>Parallel databases</a:t>
            </a:r>
          </a:p>
          <a:p>
            <a:pPr lvl="1"/>
            <a:r>
              <a:rPr lang="en-US" altLang="en-US" sz="2266" dirty="0"/>
              <a:t>Many core shared memory</a:t>
            </a:r>
          </a:p>
          <a:p>
            <a:pPr lvl="1"/>
            <a:r>
              <a:rPr lang="en-US" altLang="en-US" sz="2266" dirty="0"/>
              <a:t>Shared disk</a:t>
            </a:r>
          </a:p>
          <a:p>
            <a:pPr lvl="1"/>
            <a:r>
              <a:rPr lang="en-US" altLang="en-US" sz="2266" dirty="0"/>
              <a:t>Shared nothing</a:t>
            </a:r>
          </a:p>
          <a:p>
            <a:r>
              <a:rPr lang="en-US" altLang="en-US" sz="2399" dirty="0"/>
              <a:t>Distributed databases</a:t>
            </a:r>
          </a:p>
          <a:p>
            <a:pPr lvl="1"/>
            <a:r>
              <a:rPr lang="en-US" altLang="en-US" sz="2266" dirty="0">
                <a:sym typeface="Symbol" panose="05050102010706020507" pitchFamily="18" charset="2"/>
              </a:rPr>
              <a:t>Geographical distribution</a:t>
            </a:r>
          </a:p>
          <a:p>
            <a:pPr lvl="1"/>
            <a:r>
              <a:rPr lang="en-US" altLang="en-US" sz="2266" dirty="0">
                <a:sym typeface="Symbol" panose="05050102010706020507" pitchFamily="18" charset="2"/>
              </a:rPr>
              <a:t>Schema/data heterogeneity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48874E-9429-4B1E-981E-C70D2AC67205}"/>
              </a:ext>
            </a:extLst>
          </p:cNvPr>
          <p:cNvSpPr>
            <a:spLocks noGrp="1"/>
          </p:cNvSpPr>
          <p:nvPr>
            <p:ph type="title"/>
          </p:nvPr>
        </p:nvSpPr>
        <p:spPr>
          <a:xfrm>
            <a:off x="1024439" y="117474"/>
            <a:ext cx="10849210" cy="762139"/>
          </a:xfrm>
        </p:spPr>
        <p:txBody>
          <a:bodyPr/>
          <a:lstStyle/>
          <a:p>
            <a:r>
              <a:rPr lang="en-IN" dirty="0"/>
              <a:t>Database Architecture </a:t>
            </a:r>
            <a:br>
              <a:rPr lang="en-IN" dirty="0"/>
            </a:br>
            <a:r>
              <a:rPr lang="en-IN" dirty="0"/>
              <a:t>(Centralized/Shared-Memory)</a:t>
            </a:r>
          </a:p>
        </p:txBody>
      </p:sp>
      <p:pic>
        <p:nvPicPr>
          <p:cNvPr id="6" name="Graphic 5">
            <a:extLst>
              <a:ext uri="{FF2B5EF4-FFF2-40B4-BE49-F238E27FC236}">
                <a16:creationId xmlns:a16="http://schemas.microsoft.com/office/drawing/2014/main" xmlns="" id="{35D13987-289A-4B35-AF04-A396F79120B8}"/>
              </a:ext>
            </a:extLst>
          </p:cNvPr>
          <p:cNvPicPr>
            <a:picLocks noChangeAspect="1"/>
          </p:cNvPicPr>
          <p:nvPr/>
        </p:nvPicPr>
        <p:blipFill rotWithShape="1">
          <a:blip r:embed="rId2">
            <a:extLst>
              <a:ext uri="{96DAC541-7B7A-43D3-8B79-37D633B846F1}">
                <asvg:svgBlip xmlns:asvg="http://schemas.microsoft.com/office/drawing/2016/SVG/main" xmlns="" r:embed="rId3"/>
              </a:ext>
            </a:extLst>
          </a:blip>
          <a:srcRect t="28828" b="-1"/>
          <a:stretch/>
        </p:blipFill>
        <p:spPr>
          <a:xfrm>
            <a:off x="2897367" y="959180"/>
            <a:ext cx="7319802" cy="5615553"/>
          </a:xfrm>
          <a:prstGeom prst="rect">
            <a:avLst/>
          </a:prstGeom>
        </p:spPr>
      </p:pic>
    </p:spTree>
    <p:extLst>
      <p:ext uri="{BB962C8B-B14F-4D97-AF65-F5344CB8AC3E}">
        <p14:creationId xmlns:p14="http://schemas.microsoft.com/office/powerpoint/2010/main" xmlns="" val="2457205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Database Applications</a:t>
            </a:r>
          </a:p>
        </p:txBody>
      </p:sp>
      <p:sp>
        <p:nvSpPr>
          <p:cNvPr id="61442" name="Rectangle 3"/>
          <p:cNvSpPr>
            <a:spLocks noGrp="1" noChangeArrowheads="1"/>
          </p:cNvSpPr>
          <p:nvPr>
            <p:ph idx="1"/>
          </p:nvPr>
        </p:nvSpPr>
        <p:spPr>
          <a:xfrm>
            <a:off x="1538757" y="1569919"/>
            <a:ext cx="9812538" cy="3331266"/>
          </a:xfrm>
        </p:spPr>
        <p:txBody>
          <a:bodyPr/>
          <a:lstStyle/>
          <a:p>
            <a:r>
              <a:rPr lang="en-US" altLang="en-US" sz="2266" dirty="0"/>
              <a:t>Two-tier architecture --  the application resides at the client machine, where it invokes database system functionality at the server machine</a:t>
            </a:r>
          </a:p>
          <a:p>
            <a:r>
              <a:rPr lang="en-US" altLang="en-US" sz="2266" dirty="0"/>
              <a:t>Three-tier architecture -- the client machine acts as a front end and does not contain any direct database calls.  </a:t>
            </a:r>
          </a:p>
          <a:p>
            <a:pPr lvl="1"/>
            <a:r>
              <a:rPr lang="en-US" altLang="en-US" sz="2266" dirty="0"/>
              <a:t>The client end communicates with an application server, usually through a forms interface.  </a:t>
            </a:r>
          </a:p>
          <a:p>
            <a:pPr lvl="1"/>
            <a:r>
              <a:rPr lang="en-US" altLang="en-US" sz="2266" dirty="0"/>
              <a:t>The application server in turn communicates with a database system to access data.  </a:t>
            </a:r>
          </a:p>
          <a:p>
            <a:endParaRPr lang="en-US" altLang="en-US" dirty="0"/>
          </a:p>
        </p:txBody>
      </p:sp>
      <p:sp>
        <p:nvSpPr>
          <p:cNvPr id="2" name="TextBox 1"/>
          <p:cNvSpPr txBox="1"/>
          <p:nvPr/>
        </p:nvSpPr>
        <p:spPr>
          <a:xfrm>
            <a:off x="1024441" y="1170432"/>
            <a:ext cx="9460416" cy="353943"/>
          </a:xfrm>
          <a:prstGeom prst="rect">
            <a:avLst/>
          </a:prstGeom>
          <a:noFill/>
        </p:spPr>
        <p:txBody>
          <a:bodyPr wrap="square" rtlCol="0">
            <a:spAutoFit/>
          </a:bodyPr>
          <a:lstStyle/>
          <a:p>
            <a:r>
              <a:rPr lang="en-US" altLang="en-US" sz="2266" dirty="0"/>
              <a:t>Database applications are usually partitioned into two or three parts</a:t>
            </a:r>
          </a:p>
        </p:txBody>
      </p:sp>
    </p:spTree>
    <p:extLst>
      <p:ext uri="{BB962C8B-B14F-4D97-AF65-F5344CB8AC3E}">
        <p14:creationId xmlns:p14="http://schemas.microsoft.com/office/powerpoint/2010/main" xmlns="" val="37088176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Two-tier and three-tier architectures</a:t>
            </a:r>
          </a:p>
        </p:txBody>
      </p:sp>
      <p:sp>
        <p:nvSpPr>
          <p:cNvPr id="59394" name="Rectangle 10"/>
          <p:cNvSpPr>
            <a:spLocks noChangeArrowheads="1"/>
          </p:cNvSpPr>
          <p:nvPr/>
        </p:nvSpPr>
        <p:spPr bwMode="auto">
          <a:xfrm>
            <a:off x="7911902" y="2765823"/>
            <a:ext cx="1231869" cy="158353"/>
          </a:xfrm>
          <a:prstGeom prst="rect">
            <a:avLst/>
          </a:prstGeom>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sz="1200"/>
          </a:p>
        </p:txBody>
      </p:sp>
      <p:sp>
        <p:nvSpPr>
          <p:cNvPr id="59395" name="Rectangle 11"/>
          <p:cNvSpPr>
            <a:spLocks noChangeArrowheads="1"/>
          </p:cNvSpPr>
          <p:nvPr/>
        </p:nvSpPr>
        <p:spPr bwMode="auto">
          <a:xfrm>
            <a:off x="8051598" y="3965973"/>
            <a:ext cx="1231869" cy="158353"/>
          </a:xfrm>
          <a:prstGeom prst="rect">
            <a:avLst/>
          </a:prstGeom>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sz="1200"/>
          </a:p>
        </p:txBody>
      </p:sp>
      <p:sp>
        <p:nvSpPr>
          <p:cNvPr id="59396" name="Rectangle 12"/>
          <p:cNvSpPr>
            <a:spLocks noChangeArrowheads="1"/>
          </p:cNvSpPr>
          <p:nvPr/>
        </p:nvSpPr>
        <p:spPr bwMode="auto">
          <a:xfrm>
            <a:off x="8000799" y="4670823"/>
            <a:ext cx="1231869" cy="158353"/>
          </a:xfrm>
          <a:prstGeom prst="rect">
            <a:avLst/>
          </a:prstGeom>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sz="1200"/>
          </a:p>
        </p:txBody>
      </p:sp>
      <p:pic>
        <p:nvPicPr>
          <p:cNvPr id="3" name="Graphic 2">
            <a:extLst>
              <a:ext uri="{FF2B5EF4-FFF2-40B4-BE49-F238E27FC236}">
                <a16:creationId xmlns:a16="http://schemas.microsoft.com/office/drawing/2014/main" xmlns="" id="{73A18438-CAED-46A8-AC4A-9CD37495AB9D}"/>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659475" y="1378918"/>
            <a:ext cx="8757979" cy="421475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Database Users</a:t>
            </a:r>
          </a:p>
        </p:txBody>
      </p:sp>
      <p:pic>
        <p:nvPicPr>
          <p:cNvPr id="5" name="Graphic 4">
            <a:extLst>
              <a:ext uri="{FF2B5EF4-FFF2-40B4-BE49-F238E27FC236}">
                <a16:creationId xmlns:a16="http://schemas.microsoft.com/office/drawing/2014/main" xmlns="" id="{64BFA042-22D8-4B76-83F1-7A404E7E236C}"/>
              </a:ext>
            </a:extLst>
          </p:cNvPr>
          <p:cNvPicPr>
            <a:picLocks noChangeAspect="1"/>
          </p:cNvPicPr>
          <p:nvPr/>
        </p:nvPicPr>
        <p:blipFill rotWithShape="1">
          <a:blip r:embed="rId3">
            <a:extLst>
              <a:ext uri="{96DAC541-7B7A-43D3-8B79-37D633B846F1}">
                <asvg:svgBlip xmlns:asvg="http://schemas.microsoft.com/office/drawing/2016/SVG/main" xmlns="" r:embed="rId4"/>
              </a:ext>
            </a:extLst>
          </a:blip>
          <a:srcRect t="-1" b="46320"/>
          <a:stretch/>
        </p:blipFill>
        <p:spPr>
          <a:xfrm>
            <a:off x="1537214" y="1114976"/>
            <a:ext cx="9722087" cy="562554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Database Administrator</a:t>
            </a:r>
          </a:p>
        </p:txBody>
      </p:sp>
      <p:sp>
        <p:nvSpPr>
          <p:cNvPr id="61442" name="Rectangle 3"/>
          <p:cNvSpPr>
            <a:spLocks noGrp="1" noChangeArrowheads="1"/>
          </p:cNvSpPr>
          <p:nvPr>
            <p:ph idx="1"/>
          </p:nvPr>
        </p:nvSpPr>
        <p:spPr>
          <a:xfrm>
            <a:off x="1302027" y="1799577"/>
            <a:ext cx="9735521" cy="4059456"/>
          </a:xfrm>
          <a:ln>
            <a:solidFill>
              <a:schemeClr val="accent1"/>
            </a:solidFill>
          </a:ln>
        </p:spPr>
        <p:txBody>
          <a:bodyPr/>
          <a:lstStyle/>
          <a:p>
            <a:r>
              <a:rPr lang="en-US" altLang="en-US" sz="2266" dirty="0"/>
              <a:t>Schema definition</a:t>
            </a:r>
          </a:p>
          <a:p>
            <a:r>
              <a:rPr lang="en-US" altLang="en-US" sz="2266" dirty="0"/>
              <a:t>Storage structure and access-method definition</a:t>
            </a:r>
          </a:p>
          <a:p>
            <a:r>
              <a:rPr lang="en-US" altLang="en-US" sz="2266" dirty="0"/>
              <a:t>Schema and physical-organization modification</a:t>
            </a:r>
          </a:p>
          <a:p>
            <a:r>
              <a:rPr lang="en-US" altLang="en-US" sz="2266" dirty="0"/>
              <a:t>Granting of authorization for data access</a:t>
            </a:r>
          </a:p>
          <a:p>
            <a:r>
              <a:rPr lang="en-US" altLang="en-US" sz="2266" dirty="0"/>
              <a:t>Routine maintenance</a:t>
            </a:r>
          </a:p>
          <a:p>
            <a:r>
              <a:rPr lang="en-US" altLang="en-US" sz="2266" dirty="0"/>
              <a:t>Periodically backing up the database</a:t>
            </a:r>
          </a:p>
          <a:p>
            <a:r>
              <a:rPr lang="en-US" altLang="en-US" sz="2266" dirty="0"/>
              <a:t>Ensuring that enough free disk space is available for normal operations, and upgrading disk space as required</a:t>
            </a:r>
          </a:p>
          <a:p>
            <a:r>
              <a:rPr lang="en-US" altLang="en-US" sz="2266" dirty="0"/>
              <a:t>Monitoring jobs running on the database</a:t>
            </a:r>
          </a:p>
        </p:txBody>
      </p:sp>
      <p:sp>
        <p:nvSpPr>
          <p:cNvPr id="5" name="Rectangle 4"/>
          <p:cNvSpPr/>
          <p:nvPr/>
        </p:nvSpPr>
        <p:spPr>
          <a:xfrm>
            <a:off x="1024442" y="1135533"/>
            <a:ext cx="10013106" cy="615553"/>
          </a:xfrm>
          <a:prstGeom prst="rect">
            <a:avLst/>
          </a:prstGeom>
        </p:spPr>
        <p:txBody>
          <a:bodyPr wrap="square">
            <a:spAutoFit/>
          </a:bodyPr>
          <a:lstStyle/>
          <a:p>
            <a:r>
              <a:rPr lang="en-US" sz="2266" dirty="0"/>
              <a:t>A person who has central control over the system is called a </a:t>
            </a:r>
            <a:r>
              <a:rPr lang="en-US" sz="2266" b="1" dirty="0">
                <a:solidFill>
                  <a:srgbClr val="002060"/>
                </a:solidFill>
              </a:rPr>
              <a:t>database administrator </a:t>
            </a:r>
            <a:r>
              <a:rPr lang="en-US" sz="2266" b="1" dirty="0"/>
              <a:t>(</a:t>
            </a:r>
            <a:r>
              <a:rPr lang="en-US" sz="2266" b="1" dirty="0">
                <a:solidFill>
                  <a:srgbClr val="FF0000"/>
                </a:solidFill>
              </a:rPr>
              <a:t>DBA</a:t>
            </a:r>
            <a:r>
              <a:rPr lang="en-US" sz="2266" b="1" dirty="0"/>
              <a:t>).  </a:t>
            </a:r>
            <a:r>
              <a:rPr lang="en-US" sz="2266" dirty="0"/>
              <a:t>Functions of a DBA include: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History of Database Systems</a:t>
            </a:r>
          </a:p>
        </p:txBody>
      </p:sp>
      <p:sp>
        <p:nvSpPr>
          <p:cNvPr id="63490" name="Rectangle 3"/>
          <p:cNvSpPr>
            <a:spLocks noGrp="1" noChangeArrowheads="1"/>
          </p:cNvSpPr>
          <p:nvPr>
            <p:ph idx="1"/>
          </p:nvPr>
        </p:nvSpPr>
        <p:spPr>
          <a:xfrm>
            <a:off x="1024442" y="1121664"/>
            <a:ext cx="10255834" cy="4900777"/>
          </a:xfrm>
        </p:spPr>
        <p:txBody>
          <a:bodyPr/>
          <a:lstStyle/>
          <a:p>
            <a:r>
              <a:rPr lang="en-US" altLang="en-US" sz="2266" dirty="0"/>
              <a:t>1950s and early 1960s:</a:t>
            </a:r>
          </a:p>
          <a:p>
            <a:pPr lvl="1"/>
            <a:r>
              <a:rPr lang="en-US" altLang="en-US" sz="2266" dirty="0"/>
              <a:t>Data processing using magnetic tapes for storage</a:t>
            </a:r>
          </a:p>
          <a:p>
            <a:pPr lvl="2"/>
            <a:r>
              <a:rPr lang="en-US" altLang="en-US" sz="2266" dirty="0"/>
              <a:t>Tapes provided only sequential access</a:t>
            </a:r>
          </a:p>
          <a:p>
            <a:pPr lvl="1"/>
            <a:r>
              <a:rPr lang="en-US" altLang="en-US" sz="2266" dirty="0"/>
              <a:t>Punched cards for input</a:t>
            </a:r>
          </a:p>
          <a:p>
            <a:r>
              <a:rPr lang="en-US" altLang="en-US" sz="2266" dirty="0"/>
              <a:t>Late 1960s and 1970s:</a:t>
            </a:r>
          </a:p>
          <a:p>
            <a:pPr lvl="1"/>
            <a:r>
              <a:rPr lang="en-US" altLang="en-US" sz="2266" dirty="0"/>
              <a:t>Hard disks allowed direct access to data</a:t>
            </a:r>
          </a:p>
          <a:p>
            <a:pPr lvl="1"/>
            <a:r>
              <a:rPr lang="en-US" altLang="en-US" sz="2266" dirty="0"/>
              <a:t>Network and hierarchical data models in widespread use</a:t>
            </a:r>
          </a:p>
          <a:p>
            <a:pPr lvl="1"/>
            <a:r>
              <a:rPr lang="en-US" altLang="en-US" sz="2266" dirty="0"/>
              <a:t>Ted </a:t>
            </a:r>
            <a:r>
              <a:rPr lang="en-US" altLang="en-US" sz="2266" dirty="0" err="1"/>
              <a:t>Codd</a:t>
            </a:r>
            <a:r>
              <a:rPr lang="en-US" altLang="en-US" sz="2266" dirty="0"/>
              <a:t> defines the relational data model</a:t>
            </a:r>
          </a:p>
          <a:p>
            <a:pPr lvl="2"/>
            <a:r>
              <a:rPr lang="en-US" altLang="en-US" sz="2266" dirty="0"/>
              <a:t>Would win the ACM Turing Award for this work</a:t>
            </a:r>
          </a:p>
          <a:p>
            <a:pPr lvl="2"/>
            <a:r>
              <a:rPr lang="en-US" altLang="en-US" sz="2266" dirty="0"/>
              <a:t>IBM Research begins System R prototype</a:t>
            </a:r>
          </a:p>
          <a:p>
            <a:pPr lvl="2"/>
            <a:r>
              <a:rPr lang="en-US" altLang="en-US" sz="2266" dirty="0"/>
              <a:t>UC Berkeley (Michael </a:t>
            </a:r>
            <a:r>
              <a:rPr lang="en-US" altLang="en-US" sz="2266" dirty="0" err="1"/>
              <a:t>Stonebraker</a:t>
            </a:r>
            <a:r>
              <a:rPr lang="en-US" altLang="en-US" sz="2266" dirty="0"/>
              <a:t>) begins Ingres prototype</a:t>
            </a:r>
          </a:p>
          <a:p>
            <a:pPr lvl="2"/>
            <a:r>
              <a:rPr lang="en-US" altLang="en-US" sz="2266" dirty="0"/>
              <a:t>Oracle releases first commercial relational database</a:t>
            </a:r>
          </a:p>
          <a:p>
            <a:pPr lvl="1"/>
            <a:r>
              <a:rPr lang="en-US" altLang="en-US" sz="2266" dirty="0"/>
              <a:t>High-performance (for the era) transaction processing</a:t>
            </a:r>
          </a:p>
          <a:p>
            <a:pPr>
              <a:buFont typeface="Monotype Sorts" charset="2"/>
              <a:buNone/>
            </a:pPr>
            <a:endParaRPr lang="en-US"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History of Database Systems (Cont.)</a:t>
            </a:r>
          </a:p>
        </p:txBody>
      </p:sp>
      <p:sp>
        <p:nvSpPr>
          <p:cNvPr id="65538" name="Rectangle 3"/>
          <p:cNvSpPr>
            <a:spLocks noGrp="1" noChangeArrowheads="1"/>
          </p:cNvSpPr>
          <p:nvPr>
            <p:ph idx="1"/>
          </p:nvPr>
        </p:nvSpPr>
        <p:spPr>
          <a:xfrm>
            <a:off x="1024441" y="1191326"/>
            <a:ext cx="10161141" cy="4903787"/>
          </a:xfrm>
        </p:spPr>
        <p:txBody>
          <a:bodyPr/>
          <a:lstStyle/>
          <a:p>
            <a:pPr>
              <a:lnSpc>
                <a:spcPct val="90000"/>
              </a:lnSpc>
            </a:pPr>
            <a:r>
              <a:rPr lang="en-US" altLang="en-US" sz="2266" dirty="0"/>
              <a:t>1980s:</a:t>
            </a:r>
          </a:p>
          <a:p>
            <a:pPr lvl="1">
              <a:lnSpc>
                <a:spcPct val="90000"/>
              </a:lnSpc>
            </a:pPr>
            <a:r>
              <a:rPr lang="en-US" altLang="en-US" sz="2266" dirty="0"/>
              <a:t>Research relational prototypes evolve into commercial systems</a:t>
            </a:r>
          </a:p>
          <a:p>
            <a:pPr lvl="2">
              <a:lnSpc>
                <a:spcPct val="90000"/>
              </a:lnSpc>
            </a:pPr>
            <a:r>
              <a:rPr lang="en-US" altLang="en-US" sz="2266" dirty="0"/>
              <a:t>SQL becomes industrial standard</a:t>
            </a:r>
          </a:p>
          <a:p>
            <a:pPr lvl="1">
              <a:lnSpc>
                <a:spcPct val="90000"/>
              </a:lnSpc>
            </a:pPr>
            <a:r>
              <a:rPr lang="en-US" altLang="en-US" sz="2266" dirty="0"/>
              <a:t>Parallel and distributed database systems</a:t>
            </a:r>
          </a:p>
          <a:p>
            <a:pPr lvl="2">
              <a:lnSpc>
                <a:spcPct val="90000"/>
              </a:lnSpc>
            </a:pPr>
            <a:r>
              <a:rPr lang="en-US" altLang="en-US" sz="2266" dirty="0"/>
              <a:t>Wisconsin, IBM, Teradata</a:t>
            </a:r>
          </a:p>
          <a:p>
            <a:pPr lvl="1">
              <a:lnSpc>
                <a:spcPct val="90000"/>
              </a:lnSpc>
            </a:pPr>
            <a:r>
              <a:rPr lang="en-US" altLang="en-US" sz="2266" dirty="0"/>
              <a:t>Object-oriented database systems</a:t>
            </a:r>
          </a:p>
          <a:p>
            <a:pPr>
              <a:lnSpc>
                <a:spcPct val="90000"/>
              </a:lnSpc>
            </a:pPr>
            <a:r>
              <a:rPr lang="en-US" altLang="en-US" sz="2266" dirty="0"/>
              <a:t>1990s:</a:t>
            </a:r>
          </a:p>
          <a:p>
            <a:pPr lvl="1">
              <a:lnSpc>
                <a:spcPct val="90000"/>
              </a:lnSpc>
            </a:pPr>
            <a:r>
              <a:rPr lang="en-US" altLang="en-US" sz="2266" dirty="0"/>
              <a:t>Large decision support and data-mining applications</a:t>
            </a:r>
          </a:p>
          <a:p>
            <a:pPr lvl="1">
              <a:lnSpc>
                <a:spcPct val="90000"/>
              </a:lnSpc>
            </a:pPr>
            <a:r>
              <a:rPr lang="en-US" altLang="en-US" sz="2266" dirty="0"/>
              <a:t>Large multi-terabyte data warehouses</a:t>
            </a:r>
          </a:p>
          <a:p>
            <a:pPr lvl="1">
              <a:lnSpc>
                <a:spcPct val="90000"/>
              </a:lnSpc>
            </a:pPr>
            <a:r>
              <a:rPr lang="en-US" altLang="en-US" sz="2266" dirty="0"/>
              <a:t>Emergence of Web commerce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History of Database Systems (Cont.)</a:t>
            </a:r>
          </a:p>
        </p:txBody>
      </p:sp>
      <p:sp>
        <p:nvSpPr>
          <p:cNvPr id="67586" name="Rectangle 3"/>
          <p:cNvSpPr>
            <a:spLocks noGrp="1" noChangeArrowheads="1"/>
          </p:cNvSpPr>
          <p:nvPr>
            <p:ph idx="1"/>
          </p:nvPr>
        </p:nvSpPr>
        <p:spPr>
          <a:xfrm>
            <a:off x="1024441" y="1179135"/>
            <a:ext cx="10220324" cy="4892482"/>
          </a:xfrm>
        </p:spPr>
        <p:txBody>
          <a:bodyPr/>
          <a:lstStyle/>
          <a:p>
            <a:pPr>
              <a:lnSpc>
                <a:spcPct val="90000"/>
              </a:lnSpc>
            </a:pPr>
            <a:r>
              <a:rPr lang="en-US" altLang="en-US" sz="2266" dirty="0"/>
              <a:t>2000s</a:t>
            </a:r>
          </a:p>
          <a:p>
            <a:pPr lvl="1">
              <a:lnSpc>
                <a:spcPct val="90000"/>
              </a:lnSpc>
            </a:pPr>
            <a:r>
              <a:rPr lang="en-US" altLang="en-US" sz="2266" dirty="0"/>
              <a:t>Big data storage systems</a:t>
            </a:r>
          </a:p>
          <a:p>
            <a:pPr lvl="2">
              <a:lnSpc>
                <a:spcPct val="90000"/>
              </a:lnSpc>
            </a:pPr>
            <a:r>
              <a:rPr lang="en-US" altLang="en-US" sz="2266" dirty="0"/>
              <a:t>Google </a:t>
            </a:r>
            <a:r>
              <a:rPr lang="en-US" altLang="en-US" sz="2266" dirty="0" err="1"/>
              <a:t>BigTable</a:t>
            </a:r>
            <a:r>
              <a:rPr lang="en-US" altLang="en-US" sz="2266" dirty="0"/>
              <a:t>, Yahoo </a:t>
            </a:r>
            <a:r>
              <a:rPr lang="en-US" altLang="en-US" sz="2266" dirty="0" err="1"/>
              <a:t>PNuts</a:t>
            </a:r>
            <a:r>
              <a:rPr lang="en-US" altLang="en-US" sz="2266" dirty="0"/>
              <a:t>, Amazon, </a:t>
            </a:r>
          </a:p>
          <a:p>
            <a:pPr lvl="2">
              <a:lnSpc>
                <a:spcPct val="90000"/>
              </a:lnSpc>
            </a:pPr>
            <a:r>
              <a:rPr lang="en-US" altLang="en-US" sz="2266" dirty="0"/>
              <a:t>“</a:t>
            </a:r>
            <a:r>
              <a:rPr lang="en-US" altLang="ja-JP" sz="2266" dirty="0"/>
              <a:t>NoSQL</a:t>
            </a:r>
            <a:r>
              <a:rPr lang="en-US" altLang="en-US" sz="2266" dirty="0"/>
              <a:t>”</a:t>
            </a:r>
            <a:r>
              <a:rPr lang="en-US" altLang="ja-JP" sz="2266" dirty="0"/>
              <a:t> systems.</a:t>
            </a:r>
          </a:p>
          <a:p>
            <a:pPr lvl="1">
              <a:lnSpc>
                <a:spcPct val="90000"/>
              </a:lnSpc>
            </a:pPr>
            <a:r>
              <a:rPr lang="en-US" altLang="en-US" sz="2266" dirty="0"/>
              <a:t>Big data analysis: beyond SQL</a:t>
            </a:r>
          </a:p>
          <a:p>
            <a:pPr lvl="2">
              <a:lnSpc>
                <a:spcPct val="90000"/>
              </a:lnSpc>
            </a:pPr>
            <a:r>
              <a:rPr lang="en-US" altLang="en-US" sz="2266" dirty="0"/>
              <a:t>Map reduce and friends</a:t>
            </a:r>
          </a:p>
          <a:p>
            <a:pPr lvl="2">
              <a:lnSpc>
                <a:spcPct val="90000"/>
              </a:lnSpc>
            </a:pPr>
            <a:r>
              <a:rPr lang="en-US" altLang="zh-CN" sz="1800" dirty="0" err="1">
                <a:latin typeface="华文宋体" pitchFamily="2" charset="-122"/>
                <a:ea typeface="华文宋体" pitchFamily="2" charset="-122"/>
              </a:rPr>
              <a:t>MapReduce</a:t>
            </a:r>
            <a:r>
              <a:rPr lang="zh-CN" altLang="en-US" sz="1800" dirty="0">
                <a:latin typeface="华文宋体" pitchFamily="2" charset="-122"/>
                <a:ea typeface="华文宋体" pitchFamily="2" charset="-122"/>
              </a:rPr>
              <a:t>是一种编程模型，用于大规模数据集（大于</a:t>
            </a:r>
            <a:r>
              <a:rPr lang="en-US" altLang="zh-CN" sz="1800" dirty="0">
                <a:latin typeface="华文宋体" pitchFamily="2" charset="-122"/>
                <a:ea typeface="华文宋体" pitchFamily="2" charset="-122"/>
              </a:rPr>
              <a:t>1TB</a:t>
            </a:r>
            <a:r>
              <a:rPr lang="zh-CN" altLang="en-US" sz="1800" dirty="0">
                <a:latin typeface="华文宋体" pitchFamily="2" charset="-122"/>
                <a:ea typeface="华文宋体" pitchFamily="2" charset="-122"/>
              </a:rPr>
              <a:t>）的并行运算。概念</a:t>
            </a:r>
            <a:r>
              <a:rPr lang="en-US" altLang="zh-CN" sz="1800" dirty="0">
                <a:latin typeface="华文宋体" pitchFamily="2" charset="-122"/>
                <a:ea typeface="华文宋体" pitchFamily="2" charset="-122"/>
              </a:rPr>
              <a:t>“Map</a:t>
            </a:r>
            <a:r>
              <a:rPr lang="zh-CN" altLang="en-US" sz="1800" dirty="0">
                <a:latin typeface="华文宋体" pitchFamily="2" charset="-122"/>
                <a:ea typeface="华文宋体" pitchFamily="2" charset="-122"/>
              </a:rPr>
              <a:t>（映射）</a:t>
            </a:r>
            <a:r>
              <a:rPr lang="en-US" altLang="zh-CN" sz="1800" dirty="0">
                <a:latin typeface="华文宋体" pitchFamily="2" charset="-122"/>
                <a:ea typeface="华文宋体" pitchFamily="2" charset="-122"/>
              </a:rPr>
              <a:t>”</a:t>
            </a:r>
            <a:r>
              <a:rPr lang="zh-CN" altLang="en-US" sz="1800" dirty="0">
                <a:latin typeface="华文宋体" pitchFamily="2" charset="-122"/>
                <a:ea typeface="华文宋体" pitchFamily="2" charset="-122"/>
              </a:rPr>
              <a:t>和</a:t>
            </a:r>
            <a:r>
              <a:rPr lang="en-US" altLang="zh-CN" sz="1800" dirty="0">
                <a:latin typeface="华文宋体" pitchFamily="2" charset="-122"/>
                <a:ea typeface="华文宋体" pitchFamily="2" charset="-122"/>
              </a:rPr>
              <a:t>“Reduce</a:t>
            </a:r>
            <a:r>
              <a:rPr lang="zh-CN" altLang="en-US" sz="1800" dirty="0">
                <a:latin typeface="华文宋体" pitchFamily="2" charset="-122"/>
                <a:ea typeface="华文宋体" pitchFamily="2" charset="-122"/>
              </a:rPr>
              <a:t>（归约）</a:t>
            </a:r>
            <a:r>
              <a:rPr lang="en-US" altLang="zh-CN" sz="1800" dirty="0">
                <a:latin typeface="华文宋体" pitchFamily="2" charset="-122"/>
                <a:ea typeface="华文宋体" pitchFamily="2" charset="-122"/>
              </a:rPr>
              <a:t>”</a:t>
            </a:r>
            <a:r>
              <a:rPr lang="zh-CN" altLang="en-US" sz="1800" dirty="0">
                <a:latin typeface="华文宋体" pitchFamily="2" charset="-122"/>
                <a:ea typeface="华文宋体" pitchFamily="2" charset="-122"/>
              </a:rPr>
              <a:t>，是它们的主要思想，都是从函数式编程语言里借来的，还有从矢量编程语言里借来的特性。它极大地方便了编程人员在不会分布式并行编程的情况下，将自己的程序运行在分布式系统上。 当前的软件实现是指定一个</a:t>
            </a:r>
            <a:r>
              <a:rPr lang="en-US" altLang="zh-CN" sz="1800" dirty="0">
                <a:latin typeface="华文宋体" pitchFamily="2" charset="-122"/>
                <a:ea typeface="华文宋体" pitchFamily="2" charset="-122"/>
              </a:rPr>
              <a:t>Map</a:t>
            </a:r>
            <a:r>
              <a:rPr lang="zh-CN" altLang="en-US" sz="1800" dirty="0">
                <a:latin typeface="华文宋体" pitchFamily="2" charset="-122"/>
                <a:ea typeface="华文宋体" pitchFamily="2" charset="-122"/>
              </a:rPr>
              <a:t>（映射）函数，用来把一组键值对映射成一组新的键值对，指定并发的</a:t>
            </a:r>
            <a:r>
              <a:rPr lang="en-US" altLang="zh-CN" sz="1800" dirty="0">
                <a:latin typeface="华文宋体" pitchFamily="2" charset="-122"/>
                <a:ea typeface="华文宋体" pitchFamily="2" charset="-122"/>
              </a:rPr>
              <a:t>Reduce</a:t>
            </a:r>
            <a:r>
              <a:rPr lang="zh-CN" altLang="en-US" sz="1800" dirty="0">
                <a:latin typeface="华文宋体" pitchFamily="2" charset="-122"/>
                <a:ea typeface="华文宋体" pitchFamily="2" charset="-122"/>
              </a:rPr>
              <a:t>（归约）函数，用来保证所有映射的键值对中的每一个共享相同的键组</a:t>
            </a:r>
            <a:endParaRPr lang="en-US" altLang="en-US" sz="1800" dirty="0">
              <a:latin typeface="华文宋体" pitchFamily="2" charset="-122"/>
              <a:ea typeface="华文宋体"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a:xfrm>
            <a:off x="1024441" y="117475"/>
            <a:ext cx="10769330" cy="60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3733" dirty="0">
                <a:effectLst/>
              </a:rPr>
              <a:t>History of Database Systems (Cont.)</a:t>
            </a:r>
          </a:p>
        </p:txBody>
      </p:sp>
      <p:sp>
        <p:nvSpPr>
          <p:cNvPr id="67586" name="Rectangle 3"/>
          <p:cNvSpPr>
            <a:spLocks noGrp="1" noChangeArrowheads="1"/>
          </p:cNvSpPr>
          <p:nvPr>
            <p:ph idx="1"/>
          </p:nvPr>
        </p:nvSpPr>
        <p:spPr>
          <a:xfrm>
            <a:off x="1024441" y="1179135"/>
            <a:ext cx="10220324" cy="4892482"/>
          </a:xfrm>
        </p:spPr>
        <p:txBody>
          <a:bodyPr/>
          <a:lstStyle/>
          <a:p>
            <a:pPr>
              <a:lnSpc>
                <a:spcPct val="90000"/>
              </a:lnSpc>
            </a:pPr>
            <a:r>
              <a:rPr lang="en-US" altLang="en-US" sz="2266" dirty="0"/>
              <a:t>2010s</a:t>
            </a:r>
          </a:p>
          <a:p>
            <a:pPr lvl="1">
              <a:lnSpc>
                <a:spcPct val="90000"/>
              </a:lnSpc>
            </a:pPr>
            <a:r>
              <a:rPr lang="en-US" altLang="en-US" sz="2266" dirty="0"/>
              <a:t>SQL reloaded</a:t>
            </a:r>
          </a:p>
          <a:p>
            <a:pPr lvl="2">
              <a:lnSpc>
                <a:spcPct val="90000"/>
              </a:lnSpc>
            </a:pPr>
            <a:r>
              <a:rPr lang="en-US" altLang="en-US" sz="2266" dirty="0"/>
              <a:t>SQL front end to Map Reduce systems</a:t>
            </a:r>
          </a:p>
          <a:p>
            <a:pPr lvl="2">
              <a:lnSpc>
                <a:spcPct val="90000"/>
              </a:lnSpc>
            </a:pPr>
            <a:r>
              <a:rPr lang="en-US" altLang="en-US" sz="2266" dirty="0"/>
              <a:t>Massively parallel database systems</a:t>
            </a:r>
          </a:p>
          <a:p>
            <a:pPr lvl="2">
              <a:lnSpc>
                <a:spcPct val="90000"/>
              </a:lnSpc>
            </a:pPr>
            <a:r>
              <a:rPr lang="en-US" altLang="en-US" sz="2266" dirty="0"/>
              <a:t>Multi-core main-memory databases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ctrTitle" idx="4294967295"/>
          </p:nvPr>
        </p:nvSpPr>
        <p:spPr>
          <a:xfrm>
            <a:off x="2209744" y="2571750"/>
            <a:ext cx="7772205" cy="85725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4266" dirty="0">
                <a:effectLst/>
              </a:rPr>
              <a:t>End of Chapter 1</a:t>
            </a:r>
          </a:p>
        </p:txBody>
      </p:sp>
    </p:spTree>
  </p:cSld>
  <p:clrMapOvr>
    <a:masterClrMapping/>
  </p:clrMapOvr>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97741</TotalTime>
  <Words>2494</Words>
  <Application>Microsoft Office PowerPoint</Application>
  <PresentationFormat>自定义</PresentationFormat>
  <Paragraphs>349</Paragraphs>
  <Slides>41</Slides>
  <Notes>38</Notes>
  <HiddenSlides>5</HiddenSlides>
  <MMClips>0</MMClips>
  <ScaleCrop>false</ScaleCrop>
  <HeadingPairs>
    <vt:vector size="6" baseType="variant">
      <vt:variant>
        <vt:lpstr>主题</vt:lpstr>
      </vt:variant>
      <vt:variant>
        <vt:i4>1</vt:i4>
      </vt:variant>
      <vt:variant>
        <vt:lpstr>幻灯片标题</vt:lpstr>
      </vt:variant>
      <vt:variant>
        <vt:i4>41</vt:i4>
      </vt:variant>
      <vt:variant>
        <vt:lpstr>自定义放映</vt:lpstr>
      </vt:variant>
      <vt:variant>
        <vt:i4>1</vt:i4>
      </vt:variant>
    </vt:vector>
  </HeadingPairs>
  <TitlesOfParts>
    <vt:vector size="43" baseType="lpstr">
      <vt:lpstr>2_db-5-grey</vt:lpstr>
      <vt:lpstr>Chapter 1: Introduction</vt:lpstr>
      <vt:lpstr>教学目的、 要求</vt:lpstr>
      <vt:lpstr>幻灯片 3</vt:lpstr>
      <vt:lpstr>教科书作者介绍</vt:lpstr>
      <vt:lpstr>Outline</vt:lpstr>
      <vt:lpstr>Database Systems</vt:lpstr>
      <vt:lpstr>Database Applications Examples</vt:lpstr>
      <vt:lpstr>Database Applications Examples (Cont.)</vt:lpstr>
      <vt:lpstr>Purpose of Database Systems</vt:lpstr>
      <vt:lpstr>Purpose of Database Systems (Cont.)</vt:lpstr>
      <vt:lpstr>University Database Example</vt:lpstr>
      <vt:lpstr>View of Data 数据视图</vt:lpstr>
      <vt:lpstr>Data Models</vt:lpstr>
      <vt:lpstr>Relational Model 关系模型</vt:lpstr>
      <vt:lpstr>A Sample Relational Database</vt:lpstr>
      <vt:lpstr>Levels of Abstraction</vt:lpstr>
      <vt:lpstr>View of Data</vt:lpstr>
      <vt:lpstr>Instances and Schemas 实例与模式</vt:lpstr>
      <vt:lpstr>Physical Data Independence </vt:lpstr>
      <vt:lpstr>Data Definition Language (DDL)</vt:lpstr>
      <vt:lpstr>Data Manipulation Language (DML)</vt:lpstr>
      <vt:lpstr>SQL Query Language</vt:lpstr>
      <vt:lpstr>Database Access from Application Program</vt:lpstr>
      <vt:lpstr>Database Design</vt:lpstr>
      <vt:lpstr>Database Engine</vt:lpstr>
      <vt:lpstr>Storage Manager</vt:lpstr>
      <vt:lpstr>Storage Manager (Cont.)</vt:lpstr>
      <vt:lpstr>Query Processor</vt:lpstr>
      <vt:lpstr>Query Processing</vt:lpstr>
      <vt:lpstr>Transaction Management </vt:lpstr>
      <vt:lpstr>Database Architecture</vt:lpstr>
      <vt:lpstr>Database Architecture  (Centralized/Shared-Memory)</vt:lpstr>
      <vt:lpstr>Database Applications</vt:lpstr>
      <vt:lpstr>Two-tier and three-tier architectures</vt:lpstr>
      <vt:lpstr>Database Users</vt:lpstr>
      <vt:lpstr>Database Administrator</vt:lpstr>
      <vt:lpstr>History of Database Systems</vt:lpstr>
      <vt:lpstr>History of Database Systems (Cont.)</vt:lpstr>
      <vt:lpstr>History of Database Systems (Cont.)</vt:lpstr>
      <vt:lpstr>History of Database Systems (Cont.)</vt:lpstr>
      <vt:lpstr>End of Chapter 1</vt:lpstr>
      <vt:lpstr>Custom Show 1</vt:lpstr>
    </vt:vector>
  </TitlesOfParts>
  <Company>Lucent Technologies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postgres</cp:lastModifiedBy>
  <cp:revision>476</cp:revision>
  <cp:lastPrinted>1999-06-28T19:27:31Z</cp:lastPrinted>
  <dcterms:created xsi:type="dcterms:W3CDTF">2009-12-21T15:40:22Z</dcterms:created>
  <dcterms:modified xsi:type="dcterms:W3CDTF">2026-08-26T09:08:36Z</dcterms:modified>
</cp:coreProperties>
</file>