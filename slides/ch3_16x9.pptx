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2"/>
  </p:notesMasterIdLst>
  <p:handoutMasterIdLst>
    <p:handoutMasterId r:id="rId73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405" r:id="rId20"/>
    <p:sldId id="408" r:id="rId21"/>
    <p:sldId id="411" r:id="rId22"/>
    <p:sldId id="409" r:id="rId23"/>
    <p:sldId id="410" r:id="rId24"/>
    <p:sldId id="406" r:id="rId25"/>
    <p:sldId id="407" r:id="rId26"/>
    <p:sldId id="354" r:id="rId27"/>
    <p:sldId id="400" r:id="rId28"/>
    <p:sldId id="356" r:id="rId29"/>
    <p:sldId id="357" r:id="rId30"/>
    <p:sldId id="358" r:id="rId31"/>
    <p:sldId id="359" r:id="rId32"/>
    <p:sldId id="403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404" r:id="rId41"/>
    <p:sldId id="370" r:id="rId42"/>
    <p:sldId id="371" r:id="rId43"/>
    <p:sldId id="40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  <p:sldId id="381" r:id="rId53"/>
    <p:sldId id="382" r:id="rId54"/>
    <p:sldId id="412" r:id="rId55"/>
    <p:sldId id="383" r:id="rId56"/>
    <p:sldId id="384" r:id="rId57"/>
    <p:sldId id="413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4" r:id="rId68"/>
    <p:sldId id="395" r:id="rId69"/>
    <p:sldId id="396" r:id="rId70"/>
    <p:sldId id="397" r:id="rId71"/>
  </p:sldIdLst>
  <p:sldSz cx="9144000" cy="5143500" type="screen16x9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22" autoAdjust="0"/>
    <p:restoredTop sz="94737" autoAdjust="0"/>
  </p:normalViewPr>
  <p:slideViewPr>
    <p:cSldViewPr snapToGrid="0">
      <p:cViewPr varScale="1">
        <p:scale>
          <a:sx n="89" d="100"/>
          <a:sy n="89" d="100"/>
        </p:scale>
        <p:origin x="-702" y="-96"/>
      </p:cViewPr>
      <p:guideLst>
        <p:guide orient="horz" pos="530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4813" y="696913"/>
            <a:ext cx="618807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6649A8-1A6C-4837-8E32-7262EC163991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022345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8217988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52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30549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63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64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65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66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67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68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69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70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4294585"/>
            <a:ext cx="371839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4663679"/>
            <a:ext cx="1905000" cy="3429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9" y="0"/>
            <a:ext cx="1331269" cy="127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1" y="820342"/>
            <a:ext cx="7707313" cy="3677840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9" y="820342"/>
            <a:ext cx="3754437" cy="3677840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820342"/>
            <a:ext cx="3754438" cy="3677840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88106"/>
            <a:ext cx="2019300" cy="4410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88106"/>
            <a:ext cx="5905500" cy="4410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1" y="820342"/>
            <a:ext cx="7707313" cy="367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xmlns="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006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4960144"/>
            <a:ext cx="24032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xmlns="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4960144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xmlns="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88106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0144"/>
            <a:ext cx="25955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4083844"/>
            <a:ext cx="227012" cy="35719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1"/>
            <a:ext cx="742012" cy="71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xmlns="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45598"/>
            <a:ext cx="7205218" cy="2656554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SQL Data Definition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Basic Query Structure of SQL Queries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Additional Basic Operations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Set Operations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Null Values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Aggregate Functions</a:t>
            </a:r>
          </a:p>
          <a:p>
            <a:r>
              <a:rPr lang="en-US" altLang="en-US" sz="1700" dirty="0">
                <a:solidFill>
                  <a:srgbClr val="FF0000"/>
                </a:solidFill>
              </a:rPr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710005"/>
            <a:ext cx="7656323" cy="3824753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>
                <a:solidFill>
                  <a:srgbClr val="FF0000"/>
                </a:solidFill>
              </a:rPr>
              <a:t>SQL-92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656216"/>
            <a:ext cx="7584043" cy="3879860"/>
          </a:xfrm>
        </p:spPr>
        <p:txBody>
          <a:bodyPr/>
          <a:lstStyle/>
          <a:p>
            <a:r>
              <a:rPr lang="en-US" altLang="en-US" sz="1700" dirty="0"/>
              <a:t>DML – provides the ability to </a:t>
            </a:r>
            <a:r>
              <a:rPr lang="en-US" altLang="en-US" sz="1700" dirty="0">
                <a:solidFill>
                  <a:srgbClr val="FF0000"/>
                </a:solidFill>
              </a:rPr>
              <a:t>query</a:t>
            </a:r>
            <a:r>
              <a:rPr lang="en-US" altLang="en-US" sz="1700" dirty="0"/>
              <a:t> information from the database and to </a:t>
            </a:r>
            <a:r>
              <a:rPr lang="en-US" altLang="en-US" sz="1700" dirty="0">
                <a:solidFill>
                  <a:srgbClr val="FF0000"/>
                </a:solidFill>
              </a:rPr>
              <a:t>insert</a:t>
            </a:r>
            <a:r>
              <a:rPr lang="en-US" altLang="en-US" sz="1700" dirty="0"/>
              <a:t> tuples into, </a:t>
            </a:r>
            <a:r>
              <a:rPr lang="en-US" altLang="en-US" sz="1700" dirty="0">
                <a:solidFill>
                  <a:srgbClr val="FF0000"/>
                </a:solidFill>
              </a:rPr>
              <a:t>delete</a:t>
            </a:r>
            <a:r>
              <a:rPr lang="en-US" altLang="en-US" sz="1700" dirty="0"/>
              <a:t> tuples from, and </a:t>
            </a:r>
            <a:r>
              <a:rPr lang="en-US" altLang="en-US" sz="1700" dirty="0">
                <a:solidFill>
                  <a:srgbClr val="FF0000"/>
                </a:solidFill>
              </a:rPr>
              <a:t>modify</a:t>
            </a:r>
            <a:r>
              <a:rPr lang="en-US" altLang="en-US" sz="1700" dirty="0"/>
              <a:t> tuples in the database. </a:t>
            </a:r>
            <a:r>
              <a:rPr lang="zh-CN" altLang="en-US" sz="1700" dirty="0">
                <a:latin typeface="华文宋体" pitchFamily="2" charset="-122"/>
                <a:ea typeface="华文宋体" pitchFamily="2" charset="-122"/>
              </a:rPr>
              <a:t>查、插、删、改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>
                <a:solidFill>
                  <a:srgbClr val="FF0000"/>
                </a:solidFill>
              </a:rPr>
              <a:t>integrity</a:t>
            </a:r>
            <a:r>
              <a:rPr lang="en-US" altLang="en-US" sz="1700" dirty="0"/>
              <a:t> – the  DDL includes commands for specifying integrity constraints. 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完整性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View definition -- The DDL  includes commands for defining views.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视图定义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>
                <a:solidFill>
                  <a:srgbClr val="FF0000"/>
                </a:solidFill>
              </a:rPr>
              <a:t>Transaction</a:t>
            </a:r>
            <a:r>
              <a:rPr lang="en-US" altLang="en-US" sz="1700" dirty="0"/>
              <a:t> control –includes commands for specifying the beginning and ending of transactions.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事务控制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Embedded  SQL  and dynamic SQL -- define how SQL statements can be embedded within general-purpose programming languages.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嵌入式</a:t>
            </a:r>
            <a:r>
              <a:rPr lang="en-US" altLang="zh-CN" dirty="0">
                <a:latin typeface="华文宋体" pitchFamily="2" charset="-122"/>
                <a:ea typeface="华文宋体" pitchFamily="2" charset="-122"/>
              </a:rPr>
              <a:t>SQL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和动态</a:t>
            </a:r>
            <a:r>
              <a:rPr lang="en-US" altLang="zh-CN" dirty="0">
                <a:latin typeface="华文宋体" pitchFamily="2" charset="-122"/>
                <a:ea typeface="华文宋体" pitchFamily="2" charset="-122"/>
              </a:rPr>
              <a:t>SQL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Authorization – includes commands for specifying access rights to relations and views.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授权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1" y="1350836"/>
            <a:ext cx="7042361" cy="2678239"/>
          </a:xfrm>
        </p:spPr>
        <p:txBody>
          <a:bodyPr/>
          <a:lstStyle/>
          <a:p>
            <a:r>
              <a:rPr lang="en-US" altLang="en-US" sz="1700" dirty="0"/>
              <a:t>The schema for each relation.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每一关系的模式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The type of values associated with each attribute.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每个属性的取值类型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The Integrity constraints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完整性约束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The set of indices to be maintained for each relation.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每个关系的索引集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Security and authorization information for each relation.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每个关系的安全性与授权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The physical storage structure of each relation on disk.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每个关系的物理存储结构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836524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66442"/>
            <a:ext cx="7692898" cy="347695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537882"/>
            <a:ext cx="7375906" cy="4098126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FF000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 smtClean="0"/>
              <a:t>:</a:t>
            </a: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r>
              <a:rPr lang="en-US" altLang="en-US" sz="1700" b="1" i="1" dirty="0"/>
              <a:t/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7384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656216"/>
            <a:ext cx="7515796" cy="3761819"/>
          </a:xfrm>
        </p:spPr>
        <p:txBody>
          <a:bodyPr/>
          <a:lstStyle/>
          <a:p>
            <a:r>
              <a:rPr lang="en-US" altLang="en-US" sz="1600" dirty="0"/>
              <a:t>Types of integrity constraints</a:t>
            </a:r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primary key</a:t>
            </a:r>
            <a:r>
              <a:rPr lang="en-US" altLang="en-US" sz="1600" dirty="0">
                <a:solidFill>
                  <a:srgbClr val="FF0000"/>
                </a:solidFill>
              </a:rPr>
              <a:t> 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baseline="-25000" dirty="0"/>
              <a:t>1</a:t>
            </a:r>
            <a:r>
              <a:rPr lang="en-US" altLang="en-US" sz="1600" dirty="0"/>
              <a:t>, ..., </a:t>
            </a:r>
            <a:r>
              <a:rPr lang="en-US" altLang="en-US" sz="1600" i="1" dirty="0"/>
              <a:t>A</a:t>
            </a:r>
            <a:r>
              <a:rPr lang="en-US" altLang="en-US" sz="1600" i="1" baseline="-25000" dirty="0"/>
              <a:t>n </a:t>
            </a:r>
            <a:r>
              <a:rPr lang="en-US" altLang="en-US" sz="1600" dirty="0"/>
              <a:t>)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</a:rPr>
              <a:t>   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  <a:cs typeface="ＭＳ Ｐゴシック" charset="0"/>
              </a:rPr>
              <a:t>主码</a:t>
            </a:r>
            <a:endParaRPr lang="en-US" altLang="en-US" sz="1600" dirty="0">
              <a:latin typeface="华文宋体" pitchFamily="2" charset="-122"/>
              <a:ea typeface="华文宋体" pitchFamily="2" charset="-122"/>
              <a:cs typeface="ＭＳ Ｐゴシック" charset="0"/>
            </a:endParaRPr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foreign key 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baseline="-25000" dirty="0"/>
              <a:t>m</a:t>
            </a:r>
            <a:r>
              <a:rPr lang="en-US" altLang="en-US" sz="1600" dirty="0"/>
              <a:t>, ..., </a:t>
            </a:r>
            <a:r>
              <a:rPr lang="en-US" altLang="en-US" sz="1600" i="1" dirty="0"/>
              <a:t>A</a:t>
            </a:r>
            <a:r>
              <a:rPr lang="en-US" altLang="en-US" sz="1600" i="1" baseline="-25000" dirty="0"/>
              <a:t>n </a:t>
            </a:r>
            <a:r>
              <a:rPr lang="en-US" altLang="en-US" sz="1600" dirty="0"/>
              <a:t>) </a:t>
            </a:r>
            <a:r>
              <a:rPr lang="en-US" altLang="en-US" sz="1600" b="1" dirty="0">
                <a:solidFill>
                  <a:srgbClr val="FF0000"/>
                </a:solidFill>
              </a:rPr>
              <a:t>references</a:t>
            </a:r>
            <a:r>
              <a:rPr lang="en-US" altLang="en-US" sz="1600" b="1" dirty="0"/>
              <a:t> </a:t>
            </a:r>
            <a:r>
              <a:rPr lang="en-US" altLang="en-US" sz="1600" i="1" dirty="0"/>
              <a:t>r   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  <a:cs typeface="ＭＳ Ｐゴシック" charset="0"/>
              </a:rPr>
              <a:t>外码</a:t>
            </a:r>
            <a:endParaRPr lang="en-US" altLang="en-US" sz="1600" dirty="0">
              <a:latin typeface="华文宋体" pitchFamily="2" charset="-122"/>
              <a:ea typeface="华文宋体" pitchFamily="2" charset="-122"/>
              <a:cs typeface="ＭＳ Ｐゴシック" charset="0"/>
            </a:endParaRPr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not null</a:t>
            </a:r>
            <a:r>
              <a:rPr lang="en-US" altLang="en-US" sz="1600" b="1" dirty="0"/>
              <a:t>   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  <a:cs typeface="ＭＳ Ｐゴシック" charset="0"/>
              </a:rPr>
              <a:t>非空</a:t>
            </a:r>
            <a:endParaRPr lang="en-US" altLang="en-US" sz="1600" dirty="0">
              <a:latin typeface="华文宋体" pitchFamily="2" charset="-122"/>
              <a:ea typeface="华文宋体" pitchFamily="2" charset="-122"/>
              <a:cs typeface="ＭＳ Ｐゴシック" charset="0"/>
            </a:endParaRPr>
          </a:p>
          <a:p>
            <a:r>
              <a:rPr lang="en-US" altLang="en-US" sz="1600" dirty="0"/>
              <a:t>SQL prevents any update to the database that violates an integrity constraint.</a:t>
            </a:r>
          </a:p>
          <a:p>
            <a:r>
              <a:rPr lang="en-US" altLang="en-US" sz="1600" dirty="0"/>
              <a:t>Example:</a:t>
            </a:r>
          </a:p>
          <a:p>
            <a:pPr>
              <a:buNone/>
            </a:pPr>
            <a:r>
              <a:rPr lang="en-US" altLang="en-US" sz="1600" b="1" dirty="0"/>
              <a:t>         create table</a:t>
            </a:r>
            <a:r>
              <a:rPr lang="en-US" altLang="en-US" sz="1600" dirty="0"/>
              <a:t> </a:t>
            </a:r>
            <a:r>
              <a:rPr lang="en-US" altLang="en-US" sz="1600" i="1" dirty="0"/>
              <a:t>instructor</a:t>
            </a:r>
            <a:r>
              <a:rPr lang="en-US" altLang="en-US" sz="1600" dirty="0"/>
              <a:t> (</a:t>
            </a:r>
            <a:br>
              <a:rPr lang="en-US" altLang="en-US" sz="1600" dirty="0"/>
            </a:br>
            <a:r>
              <a:rPr lang="en-US" altLang="en-US" sz="1600" dirty="0"/>
              <a:t>               </a:t>
            </a:r>
            <a:r>
              <a:rPr lang="en-US" altLang="en-US" sz="1600" i="1" dirty="0"/>
              <a:t>ID</a:t>
            </a:r>
            <a:r>
              <a:rPr lang="en-US" altLang="en-US" sz="1600" dirty="0"/>
              <a:t>                </a:t>
            </a:r>
            <a:r>
              <a:rPr lang="en-US" altLang="en-US" sz="1600" b="1" dirty="0"/>
              <a:t>char</a:t>
            </a:r>
            <a:r>
              <a:rPr lang="en-US" altLang="en-US" sz="1600" dirty="0"/>
              <a:t>(5),</a:t>
            </a:r>
            <a:br>
              <a:rPr lang="en-US" altLang="en-US" sz="1600" dirty="0"/>
            </a:br>
            <a:r>
              <a:rPr lang="en-US" altLang="en-US" sz="1600" dirty="0"/>
              <a:t>               </a:t>
            </a:r>
            <a:r>
              <a:rPr lang="en-US" altLang="en-US" sz="1600" i="1" dirty="0"/>
              <a:t>name           </a:t>
            </a:r>
            <a:r>
              <a:rPr lang="en-US" altLang="en-US" sz="1600" b="1" dirty="0"/>
              <a:t>varchar</a:t>
            </a:r>
            <a:r>
              <a:rPr lang="en-US" altLang="en-US" sz="1600" dirty="0"/>
              <a:t>(20) </a:t>
            </a:r>
            <a:r>
              <a:rPr lang="en-US" altLang="en-US" sz="1600" b="1" dirty="0"/>
              <a:t>not null,</a:t>
            </a:r>
            <a:r>
              <a:rPr lang="en-US" altLang="en-US" sz="1600" b="1" i="1" dirty="0"/>
              <a:t/>
            </a:r>
            <a:br>
              <a:rPr lang="en-US" altLang="en-US" sz="1600" b="1" i="1" dirty="0"/>
            </a:br>
            <a:r>
              <a:rPr lang="en-US" altLang="en-US" sz="1600" b="1" i="1" dirty="0"/>
              <a:t>               </a:t>
            </a:r>
            <a:r>
              <a:rPr lang="en-US" altLang="en-US" sz="1600" i="1" dirty="0"/>
              <a:t>dept_name  </a:t>
            </a:r>
            <a:r>
              <a:rPr lang="en-US" altLang="en-US" sz="1600" b="1" dirty="0"/>
              <a:t>varchar</a:t>
            </a:r>
            <a:r>
              <a:rPr lang="en-US" altLang="en-US" sz="1600" dirty="0"/>
              <a:t>(20),</a:t>
            </a:r>
            <a:br>
              <a:rPr lang="en-US" altLang="en-US" sz="1600" dirty="0"/>
            </a:br>
            <a:r>
              <a:rPr lang="en-US" altLang="en-US" sz="1600" dirty="0"/>
              <a:t>               </a:t>
            </a:r>
            <a:r>
              <a:rPr lang="en-US" altLang="en-US" sz="1600" i="1" dirty="0"/>
              <a:t>salary</a:t>
            </a:r>
            <a:r>
              <a:rPr lang="en-US" altLang="en-US" sz="1600" dirty="0"/>
              <a:t>           </a:t>
            </a:r>
            <a:r>
              <a:rPr lang="en-US" altLang="en-US" sz="1600" b="1" dirty="0"/>
              <a:t>numeric</a:t>
            </a:r>
            <a:r>
              <a:rPr lang="en-US" altLang="en-US" sz="1600" dirty="0"/>
              <a:t>(8,2),</a:t>
            </a:r>
            <a:br>
              <a:rPr lang="en-US" altLang="en-US" sz="1600" dirty="0"/>
            </a:br>
            <a:r>
              <a:rPr lang="en-US" altLang="en-US" sz="1600" dirty="0"/>
              <a:t>               </a:t>
            </a:r>
            <a:r>
              <a:rPr lang="en-US" altLang="en-US" sz="1600" b="1" dirty="0"/>
              <a:t>primary key </a:t>
            </a:r>
            <a:r>
              <a:rPr lang="en-US" altLang="en-US" sz="1600" dirty="0"/>
              <a:t>(</a:t>
            </a:r>
            <a:r>
              <a:rPr lang="en-US" altLang="en-US" sz="1600" i="1" dirty="0"/>
              <a:t>ID</a:t>
            </a:r>
            <a:r>
              <a:rPr lang="en-US" altLang="en-US" sz="1600" dirty="0"/>
              <a:t>),</a:t>
            </a:r>
            <a:br>
              <a:rPr lang="en-US" altLang="en-US" sz="1600" dirty="0"/>
            </a:br>
            <a:r>
              <a:rPr lang="en-US" altLang="en-US" sz="1600" dirty="0"/>
              <a:t>               </a:t>
            </a:r>
            <a:r>
              <a:rPr lang="en-US" altLang="en-US" sz="1600" b="1" dirty="0"/>
              <a:t>foreign key </a:t>
            </a:r>
            <a:r>
              <a:rPr lang="en-US" altLang="en-US" sz="1600" i="1" dirty="0"/>
              <a:t>(dept_name</a:t>
            </a:r>
            <a:r>
              <a:rPr lang="en-US" altLang="en-US" sz="1600" dirty="0"/>
              <a:t>) </a:t>
            </a:r>
            <a:r>
              <a:rPr lang="en-US" altLang="en-US" sz="1600" b="1" dirty="0"/>
              <a:t>references </a:t>
            </a:r>
            <a:r>
              <a:rPr lang="en-US" altLang="en-US" sz="1600" i="1" dirty="0"/>
              <a:t>department);</a:t>
            </a:r>
          </a:p>
          <a:p>
            <a:pPr>
              <a:buNone/>
            </a:pPr>
            <a:endParaRPr lang="en-US" alt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1" y="613186"/>
            <a:ext cx="7754213" cy="368138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600" b="1" dirty="0"/>
              <a:t>create table</a:t>
            </a:r>
            <a:r>
              <a:rPr lang="en-US" altLang="en-US" sz="1600" dirty="0"/>
              <a:t> </a:t>
            </a:r>
            <a:r>
              <a:rPr lang="en-US" altLang="en-US" sz="1600" i="1" dirty="0"/>
              <a:t>student</a:t>
            </a:r>
            <a:r>
              <a:rPr lang="en-US" altLang="en-US" sz="1600" dirty="0"/>
              <a:t> (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ID</a:t>
            </a:r>
            <a:r>
              <a:rPr lang="en-US" altLang="en-US" sz="1600" dirty="0"/>
              <a:t>            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(5),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name</a:t>
            </a:r>
            <a:r>
              <a:rPr lang="en-US" altLang="en-US" sz="1600" dirty="0"/>
              <a:t>       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(20) not null,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(20),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 err="1"/>
              <a:t>tot_cred</a:t>
            </a:r>
            <a:r>
              <a:rPr lang="en-US" altLang="en-US" sz="1600" dirty="0"/>
              <a:t>           </a:t>
            </a:r>
            <a:r>
              <a:rPr lang="en-US" altLang="en-US" sz="1600" b="1" dirty="0"/>
              <a:t>numeric</a:t>
            </a:r>
            <a:r>
              <a:rPr lang="en-US" altLang="en-US" sz="1600" dirty="0"/>
              <a:t>(3,0),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b="1" dirty="0"/>
              <a:t>primary key </a:t>
            </a:r>
            <a:r>
              <a:rPr lang="en-US" altLang="en-US" sz="16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600" b="1" dirty="0"/>
              <a:t>             foreign key </a:t>
            </a:r>
            <a:r>
              <a:rPr lang="en-US" altLang="en-US" sz="1600" i="1" dirty="0"/>
              <a:t>(dept_name</a:t>
            </a:r>
            <a:r>
              <a:rPr lang="en-US" altLang="en-US" sz="1600" dirty="0"/>
              <a:t>) </a:t>
            </a:r>
            <a:r>
              <a:rPr lang="en-US" altLang="en-US" sz="1600" b="1" dirty="0"/>
              <a:t>references </a:t>
            </a:r>
            <a:r>
              <a:rPr lang="en-US" altLang="en-US" sz="1600" i="1" dirty="0"/>
              <a:t>department</a:t>
            </a:r>
            <a:r>
              <a:rPr lang="en-US" altLang="en-US" sz="1600" dirty="0" smtClean="0"/>
              <a:t>);</a:t>
            </a:r>
            <a:endParaRPr lang="en-US" altLang="en-US" sz="16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600" b="1" dirty="0"/>
              <a:t>create table</a:t>
            </a:r>
            <a:r>
              <a:rPr lang="en-US" altLang="en-US" sz="1600" dirty="0"/>
              <a:t> </a:t>
            </a:r>
            <a:r>
              <a:rPr lang="en-US" altLang="en-US" sz="1600" i="1" dirty="0"/>
              <a:t>takes</a:t>
            </a:r>
            <a:r>
              <a:rPr lang="en-US" altLang="en-US" sz="1600" dirty="0"/>
              <a:t> (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ID</a:t>
            </a:r>
            <a:r>
              <a:rPr lang="en-US" altLang="en-US" sz="1600" dirty="0"/>
              <a:t>           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(5),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 err="1"/>
              <a:t>course_id</a:t>
            </a:r>
            <a:r>
              <a:rPr lang="en-US" altLang="en-US" sz="1600" dirty="0"/>
              <a:t>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(8),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 err="1"/>
              <a:t>sec_id</a:t>
            </a:r>
            <a:r>
              <a:rPr lang="en-US" altLang="en-US" sz="1600" dirty="0"/>
              <a:t>    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(8),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semester</a:t>
            </a:r>
            <a:r>
              <a:rPr lang="en-US" altLang="en-US" sz="1600" dirty="0"/>
              <a:t>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(6),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                </a:t>
            </a:r>
            <a:r>
              <a:rPr lang="en-US" altLang="en-US" sz="1600" b="1" dirty="0"/>
              <a:t>numeric</a:t>
            </a:r>
            <a:r>
              <a:rPr lang="en-US" altLang="en-US" sz="1600" dirty="0"/>
              <a:t>(4,0),</a:t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i="1" dirty="0"/>
              <a:t>grade</a:t>
            </a:r>
            <a:r>
              <a:rPr lang="en-US" altLang="en-US" sz="1600" dirty="0"/>
              <a:t>              </a:t>
            </a:r>
            <a:r>
              <a:rPr lang="en-US" altLang="en-US" sz="1600" b="1" dirty="0" err="1"/>
              <a:t>varchar</a:t>
            </a:r>
            <a:r>
              <a:rPr lang="en-US" altLang="en-US" sz="16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600" b="1" dirty="0"/>
              <a:t>              primary key </a:t>
            </a:r>
            <a:r>
              <a:rPr lang="en-US" altLang="en-US" sz="1600" i="1" dirty="0"/>
              <a:t>(ID,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, </a:t>
            </a:r>
            <a:r>
              <a:rPr lang="en-US" altLang="en-US" sz="1600" i="1" dirty="0" err="1"/>
              <a:t>sec_id</a:t>
            </a:r>
            <a:r>
              <a:rPr lang="en-US" altLang="en-US" sz="1600" i="1" dirty="0"/>
              <a:t>, semester, year)</a:t>
            </a:r>
            <a:r>
              <a:rPr lang="en-US" altLang="en-US" sz="16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600" b="1" dirty="0"/>
              <a:t>              foreign key </a:t>
            </a:r>
            <a:r>
              <a:rPr lang="en-US" altLang="en-US" sz="1600" dirty="0"/>
              <a:t>(</a:t>
            </a:r>
            <a:r>
              <a:rPr lang="en-US" altLang="en-US" sz="1600" i="1" dirty="0"/>
              <a:t>ID</a:t>
            </a:r>
            <a:r>
              <a:rPr lang="en-US" altLang="en-US" sz="1600" dirty="0"/>
              <a:t>) </a:t>
            </a:r>
            <a:r>
              <a:rPr lang="en-US" altLang="en-US" sz="1600" b="1" dirty="0"/>
              <a:t>references </a:t>
            </a:r>
            <a:r>
              <a:rPr lang="en-US" altLang="en-US" sz="1600" b="1" i="1" dirty="0"/>
              <a:t> </a:t>
            </a:r>
            <a:r>
              <a:rPr lang="en-US" altLang="en-US" sz="1600" i="1" dirty="0"/>
              <a:t>student,</a:t>
            </a: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        </a:t>
            </a:r>
            <a:r>
              <a:rPr lang="en-US" altLang="en-US" sz="1600" b="1" dirty="0"/>
              <a:t>foreign key </a:t>
            </a:r>
            <a:r>
              <a:rPr lang="en-US" altLang="en-US" sz="1600" dirty="0"/>
              <a:t>(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, </a:t>
            </a:r>
            <a:r>
              <a:rPr lang="en-US" altLang="en-US" sz="1600" i="1" dirty="0" err="1"/>
              <a:t>sec_id</a:t>
            </a:r>
            <a:r>
              <a:rPr lang="en-US" altLang="en-US" sz="1600" i="1" dirty="0"/>
              <a:t>, semester, year</a:t>
            </a:r>
            <a:r>
              <a:rPr lang="en-US" altLang="en-US" sz="1600" dirty="0"/>
              <a:t>) </a:t>
            </a:r>
            <a:r>
              <a:rPr lang="en-US" altLang="en-US" sz="1600" b="1" dirty="0"/>
              <a:t>references </a:t>
            </a:r>
            <a:r>
              <a:rPr lang="en-US" altLang="en-US" sz="1600" i="1" dirty="0"/>
              <a:t>section</a:t>
            </a:r>
            <a:r>
              <a:rPr lang="en-US" altLang="en-US" sz="16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38630"/>
            <a:ext cx="7107682" cy="2782395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602429"/>
            <a:ext cx="7709825" cy="4079586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002060"/>
                </a:solidFill>
              </a:rPr>
              <a:t>Insert </a:t>
            </a:r>
            <a:r>
              <a:rPr lang="en-US" altLang="en-US" sz="1400" b="1" dirty="0">
                <a:solidFill>
                  <a:srgbClr val="000099"/>
                </a:solidFill>
              </a:rPr>
              <a:t> </a:t>
            </a:r>
            <a:endParaRPr lang="en-US" altLang="en-US" sz="14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FF0000"/>
                </a:solidFill>
              </a:rPr>
              <a:t>insert into </a:t>
            </a:r>
            <a:r>
              <a:rPr lang="en-US" altLang="en-US" sz="1400" i="1" dirty="0"/>
              <a:t>instructor </a:t>
            </a:r>
            <a:r>
              <a:rPr lang="en-US" altLang="en-US" sz="1400" b="1" dirty="0">
                <a:solidFill>
                  <a:srgbClr val="FF0000"/>
                </a:solidFill>
              </a:rPr>
              <a:t>values</a:t>
            </a:r>
            <a:r>
              <a:rPr lang="en-US" altLang="en-US" sz="1400" b="1" dirty="0"/>
              <a:t> </a:t>
            </a:r>
            <a:r>
              <a:rPr lang="en-US" altLang="en-US" sz="1400" dirty="0"/>
              <a:t>(</a:t>
            </a:r>
            <a:r>
              <a:rPr lang="en-US" altLang="ja-JP" sz="1400" dirty="0"/>
              <a:t>'</a:t>
            </a:r>
            <a:r>
              <a:rPr lang="en-US" altLang="en-US" sz="1400" dirty="0"/>
              <a:t>10211</a:t>
            </a:r>
            <a:r>
              <a:rPr lang="en-US" altLang="ja-JP" sz="1400" dirty="0"/>
              <a:t>'</a:t>
            </a:r>
            <a:r>
              <a:rPr lang="en-US" altLang="en-US" sz="1400" dirty="0"/>
              <a:t>, </a:t>
            </a:r>
            <a:r>
              <a:rPr lang="en-US" altLang="ja-JP" sz="1400" dirty="0"/>
              <a:t>'</a:t>
            </a:r>
            <a:r>
              <a:rPr lang="en-US" altLang="en-US" sz="1400" dirty="0"/>
              <a:t>Smith</a:t>
            </a:r>
            <a:r>
              <a:rPr lang="en-US" altLang="ja-JP" sz="1400" dirty="0"/>
              <a:t>'</a:t>
            </a:r>
            <a:r>
              <a:rPr lang="en-US" altLang="en-US" sz="1400" dirty="0"/>
              <a:t>, </a:t>
            </a:r>
            <a:r>
              <a:rPr lang="en-US" altLang="ja-JP" sz="1400" dirty="0"/>
              <a:t>'</a:t>
            </a:r>
            <a:r>
              <a:rPr lang="en-US" altLang="en-US" sz="1400" dirty="0"/>
              <a:t>Biology</a:t>
            </a:r>
            <a:r>
              <a:rPr lang="en-US" altLang="ja-JP" sz="1400" dirty="0"/>
              <a:t>'</a:t>
            </a:r>
            <a:r>
              <a:rPr lang="en-US" altLang="en-US" sz="14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002060"/>
                </a:solidFill>
              </a:rPr>
              <a:t>Delete</a:t>
            </a:r>
            <a:r>
              <a:rPr lang="en-US" altLang="en-US" sz="14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000099"/>
                </a:solidFill>
              </a:rPr>
              <a:t> </a:t>
            </a:r>
            <a:r>
              <a:rPr lang="en-US" altLang="en-US" sz="1400" dirty="0"/>
              <a:t>Remove all tuples from the </a:t>
            </a:r>
            <a:r>
              <a:rPr lang="en-US" altLang="en-US" sz="1400" i="1" dirty="0"/>
              <a:t>student</a:t>
            </a:r>
            <a:r>
              <a:rPr lang="en-US" altLang="en-US" sz="14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FF0000"/>
                </a:solidFill>
              </a:rPr>
              <a:t>delete from </a:t>
            </a:r>
            <a:r>
              <a:rPr lang="en-US" altLang="en-US" sz="14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FF0000"/>
                </a:solidFill>
              </a:rPr>
              <a:t>drop table </a:t>
            </a:r>
            <a:r>
              <a:rPr lang="en-US" altLang="en-US" sz="14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002060"/>
                </a:solidFill>
              </a:rPr>
              <a:t>Alter</a:t>
            </a:r>
            <a:r>
              <a:rPr lang="en-US" altLang="en-US" sz="1400" b="1" dirty="0">
                <a:solidFill>
                  <a:srgbClr val="000099"/>
                </a:solidFill>
              </a:rPr>
              <a:t> </a:t>
            </a:r>
            <a:r>
              <a:rPr lang="en-US" altLang="en-US" sz="14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FF0000"/>
                </a:solidFill>
              </a:rPr>
              <a:t>alter table </a:t>
            </a:r>
            <a:r>
              <a:rPr lang="en-US" altLang="en-US" sz="1400" i="1" dirty="0"/>
              <a:t>r </a:t>
            </a:r>
            <a:r>
              <a:rPr lang="en-US" altLang="en-US" sz="1400" b="1" dirty="0">
                <a:solidFill>
                  <a:srgbClr val="FF0000"/>
                </a:solidFill>
              </a:rPr>
              <a:t>add</a:t>
            </a:r>
            <a:r>
              <a:rPr lang="en-US" altLang="en-US" sz="1400" b="1" dirty="0"/>
              <a:t> </a:t>
            </a:r>
            <a:r>
              <a:rPr lang="en-US" altLang="en-US" sz="14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i="1" dirty="0"/>
              <a:t> </a:t>
            </a:r>
            <a:r>
              <a:rPr lang="en-US" altLang="en-US" sz="1400" dirty="0"/>
              <a:t>where </a:t>
            </a:r>
            <a:r>
              <a:rPr lang="en-US" altLang="en-US" sz="1400" i="1" dirty="0"/>
              <a:t>A</a:t>
            </a:r>
            <a:r>
              <a:rPr lang="en-US" altLang="en-US" sz="1400" dirty="0"/>
              <a:t> is the name of the attribute to be added to relation </a:t>
            </a:r>
            <a:r>
              <a:rPr lang="en-US" altLang="en-US" sz="1400" i="1" dirty="0"/>
              <a:t>r </a:t>
            </a:r>
            <a:r>
              <a:rPr lang="en-US" altLang="en-US" sz="1400" dirty="0"/>
              <a:t> and </a:t>
            </a:r>
            <a:r>
              <a:rPr lang="en-US" altLang="en-US" sz="1400" i="1" dirty="0"/>
              <a:t>D</a:t>
            </a:r>
            <a:r>
              <a:rPr lang="en-US" altLang="en-US" sz="1400" dirty="0"/>
              <a:t> is the domain of </a:t>
            </a:r>
            <a:r>
              <a:rPr lang="en-US" altLang="en-US" sz="1400" i="1" dirty="0"/>
              <a:t>A.</a:t>
            </a:r>
            <a:endParaRPr lang="en-US" altLang="en-US" sz="14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dirty="0"/>
              <a:t>All exiting tuples in the relation are assigned </a:t>
            </a:r>
            <a:r>
              <a:rPr lang="en-US" altLang="en-US" sz="1400" i="1" dirty="0"/>
              <a:t>null</a:t>
            </a:r>
            <a:r>
              <a:rPr lang="en-US" altLang="en-US" sz="14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400" b="1" dirty="0">
                <a:solidFill>
                  <a:srgbClr val="FF0000"/>
                </a:solidFill>
              </a:rPr>
              <a:t>alter table </a:t>
            </a:r>
            <a:r>
              <a:rPr lang="en-US" altLang="en-US" sz="1400" i="1" dirty="0"/>
              <a:t>r</a:t>
            </a:r>
            <a:r>
              <a:rPr lang="en-US" altLang="en-US" sz="1400" b="1" dirty="0"/>
              <a:t> </a:t>
            </a:r>
            <a:r>
              <a:rPr lang="en-US" altLang="en-US" sz="1400" b="1" dirty="0">
                <a:solidFill>
                  <a:srgbClr val="FF0000"/>
                </a:solidFill>
              </a:rPr>
              <a:t>drop</a:t>
            </a:r>
            <a:r>
              <a:rPr lang="en-US" altLang="en-US" sz="14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400" dirty="0"/>
              <a:t>where </a:t>
            </a:r>
            <a:r>
              <a:rPr lang="en-US" altLang="en-US" sz="1400" i="1" dirty="0"/>
              <a:t>A</a:t>
            </a:r>
            <a:r>
              <a:rPr lang="en-US" altLang="en-US" sz="1400" dirty="0"/>
              <a:t> is the name of an attribute of relation</a:t>
            </a:r>
            <a:r>
              <a:rPr lang="en-US" altLang="en-US" sz="14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400" dirty="0"/>
              <a:t>Dropping of attributes not supported by many databases.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6"/>
            <a:ext cx="7133810" cy="347108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>
                <a:solidFill>
                  <a:srgbClr val="FF0000"/>
                </a:solidFill>
              </a:rPr>
              <a:t>select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b="1" dirty="0">
                <a:solidFill>
                  <a:srgbClr val="FF0000"/>
                </a:solidFill>
              </a:rPr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b="1" dirty="0">
                <a:solidFill>
                  <a:srgbClr val="FF000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</a:t>
            </a:r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7"/>
            <a:ext cx="7594414" cy="3394662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FF0000"/>
                </a:solidFill>
              </a:rPr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</a:t>
            </a:r>
            <a:r>
              <a:rPr lang="en-US" altLang="en-US" sz="1700" dirty="0">
                <a:solidFill>
                  <a:srgbClr val="FF0000"/>
                </a:solidFill>
              </a:rPr>
              <a:t>SQL names are case insensitive </a:t>
            </a:r>
            <a:r>
              <a:rPr lang="en-US" altLang="en-US" sz="1700" dirty="0"/>
              <a:t>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29866"/>
            <a:ext cx="7585537" cy="36576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FF000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 </a:t>
            </a:r>
            <a:r>
              <a:rPr lang="zh-CN" altLang="en-US" sz="1700" b="1" dirty="0">
                <a:latin typeface="华文宋体" pitchFamily="2" charset="-122"/>
                <a:ea typeface="华文宋体" pitchFamily="2" charset="-122"/>
              </a:rPr>
              <a:t>消重</a:t>
            </a:r>
            <a:endParaRPr lang="en-US" altLang="en-US" sz="1700" b="1" dirty="0">
              <a:latin typeface="华文宋体" pitchFamily="2" charset="-122"/>
              <a:ea typeface="华文宋体" pitchFamily="2" charset="-122"/>
            </a:endParaRP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>
                <a:solidFill>
                  <a:srgbClr val="FF0000"/>
                </a:solidFill>
              </a:rPr>
              <a:t>all</a:t>
            </a:r>
            <a:r>
              <a:rPr lang="en-US" altLang="en-US" sz="1700" b="1" dirty="0"/>
              <a:t>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34967" r="32712" b="12784"/>
          <a:stretch/>
        </p:blipFill>
        <p:spPr>
          <a:xfrm>
            <a:off x="7367513" y="2528720"/>
            <a:ext cx="1143000" cy="213357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548640"/>
            <a:ext cx="7523393" cy="4032505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6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600" b="1" dirty="0"/>
              <a:t>			select </a:t>
            </a:r>
            <a:r>
              <a:rPr lang="en-US" altLang="en-US" sz="1600" dirty="0"/>
              <a:t>*</a:t>
            </a:r>
            <a:br>
              <a:rPr lang="en-US" altLang="en-US" sz="1600" dirty="0"/>
            </a:br>
            <a:r>
              <a:rPr lang="en-US" altLang="en-US" sz="1600" dirty="0"/>
              <a:t>		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600" dirty="0"/>
              <a:t>An attribute can be a literal  with  no </a:t>
            </a:r>
            <a:r>
              <a:rPr lang="en-US" altLang="en-US" sz="1600" b="1" dirty="0"/>
              <a:t>from  </a:t>
            </a:r>
            <a:r>
              <a:rPr lang="en-US" altLang="en-US" sz="16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600" b="1" dirty="0"/>
              <a:t>			select  </a:t>
            </a:r>
            <a:r>
              <a:rPr lang="en-US" altLang="ja-JP" sz="1600" dirty="0"/>
              <a:t>'</a:t>
            </a:r>
            <a:r>
              <a:rPr lang="en-US" altLang="en-US" sz="1600" dirty="0"/>
              <a:t>437</a:t>
            </a:r>
            <a:r>
              <a:rPr lang="en-US" altLang="ja-JP" sz="1600" dirty="0"/>
              <a:t>'</a:t>
            </a:r>
            <a:endParaRPr lang="en-US" altLang="en-US" sz="1600" dirty="0"/>
          </a:p>
          <a:p>
            <a:pPr lvl="1">
              <a:tabLst>
                <a:tab pos="2055813" algn="l"/>
              </a:tabLst>
            </a:pPr>
            <a:r>
              <a:rPr lang="en-US" altLang="en-US" sz="16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6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600" dirty="0"/>
              <a:t>                    </a:t>
            </a:r>
            <a:r>
              <a:rPr lang="en-US" altLang="en-US" sz="1600" b="1" dirty="0"/>
              <a:t>select </a:t>
            </a:r>
            <a:r>
              <a:rPr lang="en-US" altLang="en-US" sz="1600" dirty="0"/>
              <a:t>'437'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FOO</a:t>
            </a:r>
            <a:r>
              <a:rPr lang="en-US" altLang="en-US" sz="1600" dirty="0"/>
              <a:t>	</a:t>
            </a:r>
            <a:endParaRPr lang="en-US" altLang="en-US" sz="1600" i="1" dirty="0"/>
          </a:p>
          <a:p>
            <a:pPr>
              <a:tabLst>
                <a:tab pos="2055813" algn="l"/>
              </a:tabLst>
            </a:pPr>
            <a:r>
              <a:rPr lang="en-US" altLang="en-US" sz="1600" dirty="0"/>
              <a:t>An attribute can be a literal with </a:t>
            </a:r>
            <a:r>
              <a:rPr lang="en-US" altLang="en-US" sz="1600" b="1" dirty="0"/>
              <a:t>from  </a:t>
            </a:r>
            <a:r>
              <a:rPr lang="en-US" altLang="en-US" sz="16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600" b="1" dirty="0"/>
              <a:t>			select  </a:t>
            </a:r>
            <a:r>
              <a:rPr lang="en-US" altLang="en-US" sz="1600" dirty="0"/>
              <a:t>'A'</a:t>
            </a:r>
            <a:br>
              <a:rPr lang="en-US" altLang="en-US" sz="1600" dirty="0"/>
            </a:br>
            <a:r>
              <a:rPr lang="en-US" altLang="en-US" sz="1600" dirty="0"/>
              <a:t>		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600" dirty="0"/>
              <a:t>Result is a table with one column and </a:t>
            </a:r>
            <a:r>
              <a:rPr lang="en-US" altLang="en-US" sz="1600" i="1" dirty="0"/>
              <a:t>N</a:t>
            </a:r>
            <a:r>
              <a:rPr lang="en-US" altLang="en-US" sz="1600" dirty="0"/>
              <a:t> rows (number of tuples in the </a:t>
            </a:r>
            <a:r>
              <a:rPr lang="en-US" altLang="en-US" sz="1600" i="1" dirty="0"/>
              <a:t>instructors</a:t>
            </a:r>
            <a:r>
              <a:rPr lang="en-US" altLang="en-US" sz="1600" dirty="0"/>
              <a:t> table), each row with value “A”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51274"/>
            <a:ext cx="8077200" cy="4572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7"/>
            <a:ext cx="7585536" cy="3385518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559398"/>
            <a:ext cx="7692898" cy="3928068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600" dirty="0"/>
              <a:t>The </a:t>
            </a:r>
            <a:r>
              <a:rPr lang="en-US" altLang="en-US" sz="1600" b="1" dirty="0">
                <a:solidFill>
                  <a:srgbClr val="002060"/>
                </a:solidFill>
              </a:rPr>
              <a:t>where</a:t>
            </a:r>
            <a:r>
              <a:rPr lang="en-US" altLang="en-US" sz="1600" b="1" dirty="0"/>
              <a:t> </a:t>
            </a:r>
            <a:r>
              <a:rPr lang="en-US" altLang="en-US" sz="16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6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6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600" b="1" dirty="0"/>
              <a:t>		select </a:t>
            </a:r>
            <a:r>
              <a:rPr lang="en-US" altLang="en-US" sz="1600" i="1" dirty="0"/>
              <a:t>name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where </a:t>
            </a:r>
            <a:r>
              <a:rPr lang="en-US" altLang="en-US" sz="1600" i="1" dirty="0"/>
              <a:t>dept_name =</a:t>
            </a:r>
            <a:r>
              <a:rPr lang="en-US" altLang="en-US" sz="1600" dirty="0"/>
              <a:t> </a:t>
            </a:r>
            <a:r>
              <a:rPr lang="en-US" altLang="en-US" sz="1600" i="1" dirty="0"/>
              <a:t>'</a:t>
            </a:r>
            <a:r>
              <a:rPr lang="en-US" altLang="ja-JP" sz="16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600" dirty="0"/>
              <a:t>SQL allows the use of the logical connectives </a:t>
            </a:r>
            <a:r>
              <a:rPr lang="en-US" altLang="en-US" sz="1600" b="1" dirty="0"/>
              <a:t> and, or, </a:t>
            </a:r>
            <a:r>
              <a:rPr lang="en-US" altLang="en-US" sz="1600" dirty="0"/>
              <a:t>and </a:t>
            </a:r>
            <a:r>
              <a:rPr lang="en-US" altLang="en-US" sz="1600" b="1" dirty="0"/>
              <a:t>not 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</a:rPr>
              <a:t>逻辑运算</a:t>
            </a:r>
            <a:endParaRPr lang="en-US" altLang="en-US" sz="1600" dirty="0">
              <a:latin typeface="华文宋体" pitchFamily="2" charset="-122"/>
              <a:ea typeface="华文宋体" pitchFamily="2" charset="-122"/>
            </a:endParaRPr>
          </a:p>
          <a:p>
            <a:pPr>
              <a:tabLst>
                <a:tab pos="1311275" algn="l"/>
              </a:tabLst>
            </a:pPr>
            <a:r>
              <a:rPr lang="en-US" altLang="en-US" sz="1600" dirty="0"/>
              <a:t>The operands of the logical connectives can be expressions involving the comparison operators &lt;, &lt;=, &gt;, &gt;=, =, and &lt;&gt;. </a:t>
            </a:r>
            <a:r>
              <a:rPr lang="zh-CN" altLang="en-US" sz="1600" dirty="0">
                <a:latin typeface="华文宋体" pitchFamily="2" charset="-122"/>
                <a:ea typeface="华文宋体" pitchFamily="2" charset="-122"/>
              </a:rPr>
              <a:t>比较运算</a:t>
            </a:r>
            <a:endParaRPr lang="en-US" altLang="en-US" sz="1600" dirty="0">
              <a:latin typeface="华文宋体" pitchFamily="2" charset="-122"/>
              <a:ea typeface="华文宋体" pitchFamily="2" charset="-122"/>
            </a:endParaRPr>
          </a:p>
          <a:p>
            <a:pPr>
              <a:tabLst>
                <a:tab pos="1311275" algn="l"/>
              </a:tabLst>
            </a:pPr>
            <a:r>
              <a:rPr lang="en-US" altLang="en-US" sz="16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6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600" b="1" dirty="0"/>
              <a:t>	select </a:t>
            </a:r>
            <a:r>
              <a:rPr lang="en-US" altLang="en-US" sz="1600" i="1" dirty="0"/>
              <a:t>name</a:t>
            </a:r>
            <a:br>
              <a:rPr lang="en-US" altLang="en-US" sz="1600" i="1" dirty="0"/>
            </a:b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b="1" dirty="0"/>
              <a:t>where </a:t>
            </a:r>
            <a:r>
              <a:rPr lang="en-US" altLang="en-US" sz="1600" i="1" dirty="0"/>
              <a:t>dept_name =</a:t>
            </a:r>
            <a:r>
              <a:rPr lang="en-US" altLang="en-US" sz="1600" dirty="0"/>
              <a:t> </a:t>
            </a:r>
            <a:r>
              <a:rPr lang="en-US" altLang="en-US" sz="1600" i="1" dirty="0"/>
              <a:t>'</a:t>
            </a:r>
            <a:r>
              <a:rPr lang="en-US" altLang="ja-JP" sz="1600" dirty="0"/>
              <a:t>Comp. Sci.'</a:t>
            </a:r>
            <a:r>
              <a:rPr lang="en-US" altLang="ja-JP" sz="1600" i="1" dirty="0"/>
              <a:t>  </a:t>
            </a:r>
            <a:r>
              <a:rPr lang="en-US" altLang="ja-JP" sz="1600" b="1" dirty="0"/>
              <a:t>and </a:t>
            </a:r>
            <a:r>
              <a:rPr lang="en-US" altLang="ja-JP" sz="1600" i="1" dirty="0"/>
              <a:t>salary </a:t>
            </a:r>
            <a:r>
              <a:rPr lang="en-US" altLang="ja-JP" sz="16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6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42307" t="787" r="41816" b="37397"/>
          <a:stretch/>
        </p:blipFill>
        <p:spPr>
          <a:xfrm>
            <a:off x="7109157" y="3813184"/>
            <a:ext cx="1090307" cy="86831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645459"/>
            <a:ext cx="7603292" cy="383510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</a:t>
            </a:r>
            <a:r>
              <a:rPr lang="en-US" altLang="en-US" sz="1700" dirty="0">
                <a:solidFill>
                  <a:srgbClr val="FF0000"/>
                </a:solidFill>
              </a:rPr>
              <a:t>Cartesian product </a:t>
            </a:r>
            <a:r>
              <a:rPr lang="en-US" altLang="en-US" sz="1700" dirty="0"/>
              <a:t>operation of the relational algebra. </a:t>
            </a:r>
            <a:r>
              <a:rPr lang="en-US" altLang="zh-CN" sz="1700" dirty="0"/>
              <a:t>From</a:t>
            </a:r>
            <a:r>
              <a:rPr lang="zh-CN" altLang="en-US" sz="1700" dirty="0">
                <a:latin typeface="华文宋体" pitchFamily="2" charset="-122"/>
                <a:ea typeface="华文宋体" pitchFamily="2" charset="-122"/>
              </a:rPr>
              <a:t>后的关系按笛卡尔积方式产生候选元组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通常需要与</a:t>
            </a:r>
            <a:r>
              <a:rPr lang="en-US" altLang="zh-CN" dirty="0">
                <a:latin typeface="华文宋体" pitchFamily="2" charset="-122"/>
                <a:ea typeface="华文宋体" pitchFamily="2" charset="-122"/>
              </a:rPr>
              <a:t>where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子句配合使用</a:t>
            </a:r>
            <a:endParaRPr lang="en-US" altLang="en-US" dirty="0">
              <a:latin typeface="华文宋体" pitchFamily="2" charset="-122"/>
              <a:ea typeface="华文宋体" pitchFamily="2" charset="-122"/>
            </a:endParaRP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Cartesian Product: </a:t>
            </a:r>
            <a:r>
              <a:rPr lang="en-US" altLang="zh-CN" i="1">
                <a:ea typeface="宋体" pitchFamily="2" charset="-122"/>
              </a:rPr>
              <a:t>instructor X teaches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>
              <a:ea typeface="宋体" pitchFamily="2" charset="-122"/>
            </a:endParaRPr>
          </a:p>
        </p:txBody>
      </p:sp>
      <p:pic>
        <p:nvPicPr>
          <p:cNvPr id="21508" name="Picture 4" descr="2"/>
          <p:cNvPicPr>
            <a:picLocks noChangeAspect="1" noChangeArrowheads="1"/>
          </p:cNvPicPr>
          <p:nvPr/>
        </p:nvPicPr>
        <p:blipFill>
          <a:blip r:embed="rId2"/>
          <a:srcRect b="56506"/>
          <a:stretch>
            <a:fillRect/>
          </a:stretch>
        </p:blipFill>
        <p:spPr bwMode="auto">
          <a:xfrm>
            <a:off x="4721226" y="787004"/>
            <a:ext cx="3890963" cy="1173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2043114" y="503635"/>
            <a:ext cx="12378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i="1"/>
              <a:t>instructor</a:t>
            </a:r>
          </a:p>
        </p:txBody>
      </p:sp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6383338" y="535782"/>
            <a:ext cx="10823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i="1"/>
              <a:t>teaches</a:t>
            </a:r>
          </a:p>
        </p:txBody>
      </p:sp>
      <p:pic>
        <p:nvPicPr>
          <p:cNvPr id="21511" name="Picture 8" descr="2"/>
          <p:cNvPicPr>
            <a:picLocks noChangeAspect="1" noChangeArrowheads="1"/>
          </p:cNvPicPr>
          <p:nvPr/>
        </p:nvPicPr>
        <p:blipFill>
          <a:blip r:embed="rId3"/>
          <a:srcRect b="50357"/>
          <a:stretch>
            <a:fillRect/>
          </a:stretch>
        </p:blipFill>
        <p:spPr bwMode="auto">
          <a:xfrm>
            <a:off x="530226" y="785813"/>
            <a:ext cx="38830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2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4076" y="2016919"/>
            <a:ext cx="7381875" cy="293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343025" y="3387328"/>
            <a:ext cx="6288088" cy="1622822"/>
            <a:chOff x="1102" y="3005"/>
            <a:chExt cx="3281" cy="1171"/>
          </a:xfrm>
        </p:grpSpPr>
        <p:pic>
          <p:nvPicPr>
            <p:cNvPr id="22533" name="Picture 3" descr="allFigures.pdf"/>
            <p:cNvPicPr preferRelativeResize="0">
              <a:picLocks noChangeAspect="1"/>
            </p:cNvPicPr>
            <p:nvPr/>
          </p:nvPicPr>
          <p:blipFill>
            <a:blip r:embed="rId2"/>
            <a:srcRect l="3632" t="24237" r="40164" b="45265"/>
            <a:stretch>
              <a:fillRect/>
            </a:stretch>
          </p:blipFill>
          <p:spPr bwMode="auto">
            <a:xfrm>
              <a:off x="1102" y="3030"/>
              <a:ext cx="3276" cy="106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22534" name="Picture 3" descr="allFigures.pdf"/>
            <p:cNvPicPr preferRelativeResize="0">
              <a:picLocks noChangeAspect="1"/>
            </p:cNvPicPr>
            <p:nvPr/>
          </p:nvPicPr>
          <p:blipFill>
            <a:blip r:embed="rId2"/>
            <a:srcRect l="3688" t="24071" r="40073" b="45082"/>
            <a:stretch>
              <a:fillRect/>
            </a:stretch>
          </p:blipFill>
          <p:spPr bwMode="auto">
            <a:xfrm>
              <a:off x="1105" y="3024"/>
              <a:ext cx="3278" cy="107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2266" y="3005"/>
              <a:ext cx="931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/>
            </a:p>
          </p:txBody>
        </p:sp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1843" y="3322"/>
              <a:ext cx="1911" cy="85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/>
            </a:p>
          </p:txBody>
        </p:sp>
        <p:sp>
          <p:nvSpPr>
            <p:cNvPr id="22537" name="Rectangle 10"/>
            <p:cNvSpPr>
              <a:spLocks noChangeArrowheads="1"/>
            </p:cNvSpPr>
            <p:nvPr/>
          </p:nvSpPr>
          <p:spPr bwMode="auto">
            <a:xfrm>
              <a:off x="1842" y="3322"/>
              <a:ext cx="1912" cy="85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/>
            </a:p>
          </p:txBody>
        </p:sp>
      </p:grp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Joins </a:t>
            </a:r>
            <a:r>
              <a:rPr lang="zh-CN" altLang="en-US" dirty="0">
                <a:ea typeface="宋体" pitchFamily="2" charset="-122"/>
              </a:rPr>
              <a:t>连接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9" y="494853"/>
            <a:ext cx="7996237" cy="3980708"/>
          </a:xfrm>
        </p:spPr>
        <p:txBody>
          <a:bodyPr/>
          <a:lstStyle/>
          <a:p>
            <a:r>
              <a:rPr lang="en-US" altLang="zh-CN" sz="1600" dirty="0">
                <a:ea typeface="宋体" pitchFamily="2" charset="-122"/>
              </a:rPr>
              <a:t>For all instructors who have taught some course, find their names and the course ID of the courses they taught.</a:t>
            </a:r>
            <a:endParaRPr kumimoji="0" lang="en-US" altLang="zh-CN" sz="1600" dirty="0">
              <a:ea typeface="宋体" pitchFamily="2" charset="-122"/>
            </a:endParaRPr>
          </a:p>
          <a:p>
            <a:pPr>
              <a:buFont typeface="Monotype Sorts"/>
              <a:buNone/>
            </a:pPr>
            <a:r>
              <a:rPr lang="en-US" altLang="zh-CN" sz="1600" b="1" dirty="0">
                <a:ea typeface="宋体" pitchFamily="2" charset="-122"/>
              </a:rPr>
              <a:t>		 select </a:t>
            </a:r>
            <a:r>
              <a:rPr lang="en-US" altLang="zh-CN" sz="1600" i="1" dirty="0">
                <a:ea typeface="宋体" pitchFamily="2" charset="-122"/>
              </a:rPr>
              <a:t>name, </a:t>
            </a:r>
            <a:r>
              <a:rPr lang="en-US" altLang="zh-CN" sz="1600" i="1" dirty="0" err="1">
                <a:ea typeface="宋体" pitchFamily="2" charset="-122"/>
              </a:rPr>
              <a:t>course_id</a:t>
            </a:r>
            <a:r>
              <a:rPr lang="en-US" altLang="zh-CN" sz="1600" i="1" dirty="0">
                <a:ea typeface="宋体" pitchFamily="2" charset="-122"/>
              </a:rPr>
              <a:t/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i="1" dirty="0">
                <a:ea typeface="宋体" pitchFamily="2" charset="-122"/>
              </a:rPr>
              <a:t>          </a:t>
            </a:r>
            <a:r>
              <a:rPr lang="en-US" altLang="zh-CN" sz="1600" b="1" dirty="0">
                <a:ea typeface="宋体" pitchFamily="2" charset="-122"/>
              </a:rPr>
              <a:t>from </a:t>
            </a:r>
            <a:r>
              <a:rPr lang="en-US" altLang="zh-CN" sz="1600" i="1" dirty="0">
                <a:ea typeface="宋体" pitchFamily="2" charset="-122"/>
              </a:rPr>
              <a:t>instructor, teaches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i="1" dirty="0">
                <a:ea typeface="宋体" pitchFamily="2" charset="-122"/>
              </a:rPr>
              <a:t>          </a:t>
            </a:r>
            <a:r>
              <a:rPr lang="en-US" altLang="zh-CN" sz="1600" b="1" dirty="0">
                <a:ea typeface="宋体" pitchFamily="2" charset="-122"/>
              </a:rPr>
              <a:t>where  </a:t>
            </a:r>
            <a:r>
              <a:rPr lang="en-US" altLang="zh-CN" sz="1600" b="1" i="1" dirty="0">
                <a:ea typeface="宋体" pitchFamily="2" charset="-122"/>
              </a:rPr>
              <a:t> </a:t>
            </a:r>
            <a:r>
              <a:rPr lang="en-US" altLang="zh-CN" sz="1600" i="1" dirty="0">
                <a:ea typeface="宋体" pitchFamily="2" charset="-122"/>
              </a:rPr>
              <a:t>instructor.ID = teaches.ID</a:t>
            </a:r>
          </a:p>
          <a:p>
            <a:r>
              <a:rPr lang="en-US" altLang="zh-CN" sz="1600" dirty="0">
                <a:ea typeface="宋体" pitchFamily="2" charset="-122"/>
              </a:rPr>
              <a:t>Find the course ID, semester, year and title of each course offered by the Comp. Sci. department</a:t>
            </a:r>
          </a:p>
          <a:p>
            <a:pPr>
              <a:buFont typeface="Monotype Sorts"/>
              <a:buNone/>
            </a:pPr>
            <a:r>
              <a:rPr lang="en-US" altLang="zh-CN" sz="1600" b="1" dirty="0">
                <a:ea typeface="宋体" pitchFamily="2" charset="-122"/>
              </a:rPr>
              <a:t>		select </a:t>
            </a:r>
            <a:r>
              <a:rPr lang="en-US" altLang="zh-CN" sz="1600" i="1" dirty="0" err="1">
                <a:ea typeface="宋体" pitchFamily="2" charset="-122"/>
              </a:rPr>
              <a:t>section.course_id</a:t>
            </a:r>
            <a:r>
              <a:rPr lang="en-US" altLang="zh-CN" sz="1600" i="1" dirty="0">
                <a:ea typeface="宋体" pitchFamily="2" charset="-122"/>
              </a:rPr>
              <a:t>, semester, year, title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i="1" dirty="0">
                <a:ea typeface="宋体" pitchFamily="2" charset="-122"/>
              </a:rPr>
              <a:t>          </a:t>
            </a:r>
            <a:r>
              <a:rPr lang="en-US" altLang="zh-CN" sz="1600" b="1" dirty="0">
                <a:ea typeface="宋体" pitchFamily="2" charset="-122"/>
              </a:rPr>
              <a:t>from </a:t>
            </a:r>
            <a:r>
              <a:rPr lang="en-US" altLang="zh-CN" sz="1600" i="1" dirty="0">
                <a:ea typeface="宋体" pitchFamily="2" charset="-122"/>
              </a:rPr>
              <a:t>section, course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i="1" dirty="0">
                <a:ea typeface="宋体" pitchFamily="2" charset="-122"/>
              </a:rPr>
              <a:t>          </a:t>
            </a:r>
            <a:r>
              <a:rPr lang="en-US" altLang="zh-CN" sz="1600" b="1" dirty="0">
                <a:ea typeface="宋体" pitchFamily="2" charset="-122"/>
              </a:rPr>
              <a:t>where  </a:t>
            </a:r>
            <a:r>
              <a:rPr lang="en-US" altLang="zh-CN" sz="1600" b="1" i="1" dirty="0">
                <a:ea typeface="宋体" pitchFamily="2" charset="-122"/>
              </a:rPr>
              <a:t> </a:t>
            </a:r>
            <a:r>
              <a:rPr lang="en-US" altLang="zh-CN" sz="1600" i="1" dirty="0" err="1">
                <a:ea typeface="宋体" pitchFamily="2" charset="-122"/>
              </a:rPr>
              <a:t>section.course_id</a:t>
            </a:r>
            <a:r>
              <a:rPr lang="en-US" altLang="zh-CN" sz="1600" i="1" dirty="0">
                <a:ea typeface="宋体" pitchFamily="2" charset="-122"/>
              </a:rPr>
              <a:t> = </a:t>
            </a:r>
            <a:r>
              <a:rPr lang="en-US" altLang="zh-CN" sz="1600" i="1" dirty="0" err="1">
                <a:ea typeface="宋体" pitchFamily="2" charset="-122"/>
              </a:rPr>
              <a:t>course.course_id</a:t>
            </a:r>
            <a:r>
              <a:rPr lang="en-US" altLang="zh-CN" sz="1600" i="1" dirty="0">
                <a:ea typeface="宋体" pitchFamily="2" charset="-122"/>
              </a:rPr>
              <a:t>  </a:t>
            </a:r>
            <a:r>
              <a:rPr lang="en-US" altLang="zh-CN" sz="1600" b="1" dirty="0">
                <a:ea typeface="宋体" pitchFamily="2" charset="-122"/>
              </a:rPr>
              <a:t>and</a:t>
            </a:r>
            <a:br>
              <a:rPr lang="en-US" altLang="zh-CN" sz="1600" b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                         </a:t>
            </a:r>
            <a:r>
              <a:rPr lang="en-US" altLang="zh-CN" sz="1600" i="1" dirty="0" err="1">
                <a:ea typeface="宋体" pitchFamily="2" charset="-122"/>
              </a:rPr>
              <a:t>dept_name</a:t>
            </a:r>
            <a:r>
              <a:rPr lang="en-US" altLang="zh-CN" sz="1600" i="1" dirty="0">
                <a:ea typeface="宋体" pitchFamily="2" charset="-122"/>
              </a:rPr>
              <a:t> =</a:t>
            </a:r>
            <a:r>
              <a:rPr lang="en-US" altLang="zh-CN" sz="1600" dirty="0">
                <a:ea typeface="宋体" pitchFamily="2" charset="-122"/>
              </a:rPr>
              <a:t> ‘Comp. Sci.'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829867"/>
            <a:ext cx="4821288" cy="3394662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The meaning of an SQL query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>
                <a:ea typeface="宋体" pitchFamily="2" charset="-122"/>
              </a:rPr>
              <a:t>1. Generate a Cartesian product of the relations listed in the </a:t>
            </a:r>
            <a:r>
              <a:rPr lang="en-US" altLang="zh-CN" sz="2000" b="1">
                <a:solidFill>
                  <a:srgbClr val="000099"/>
                </a:solidFill>
                <a:ea typeface="宋体" pitchFamily="2" charset="-122"/>
              </a:rPr>
              <a:t>from</a:t>
            </a:r>
            <a:r>
              <a:rPr lang="en-US" altLang="zh-CN" sz="2000">
                <a:ea typeface="宋体" pitchFamily="2" charset="-122"/>
              </a:rPr>
              <a:t> clause.</a:t>
            </a:r>
          </a:p>
          <a:p>
            <a:r>
              <a:rPr lang="en-US" altLang="zh-CN" sz="2000">
                <a:ea typeface="宋体" pitchFamily="2" charset="-122"/>
              </a:rPr>
              <a:t>2. Apply the predicates specified in the </a:t>
            </a:r>
            <a:r>
              <a:rPr lang="en-US" altLang="zh-CN" sz="2000" b="1">
                <a:solidFill>
                  <a:srgbClr val="000099"/>
                </a:solidFill>
                <a:ea typeface="宋体" pitchFamily="2" charset="-122"/>
              </a:rPr>
              <a:t>where</a:t>
            </a:r>
            <a:r>
              <a:rPr lang="en-US" altLang="zh-CN" sz="2000">
                <a:ea typeface="宋体" pitchFamily="2" charset="-122"/>
              </a:rPr>
              <a:t> clause on the result of Step 1.</a:t>
            </a:r>
          </a:p>
          <a:p>
            <a:r>
              <a:rPr lang="en-US" altLang="zh-CN" sz="2000">
                <a:ea typeface="宋体" pitchFamily="2" charset="-122"/>
              </a:rPr>
              <a:t>3. For each tuple in the result of Step 2, output the attributes (or results of expressions) specified in the </a:t>
            </a:r>
            <a:r>
              <a:rPr lang="en-US" altLang="zh-CN" sz="2000" b="1">
                <a:solidFill>
                  <a:srgbClr val="000099"/>
                </a:solidFill>
                <a:ea typeface="宋体" pitchFamily="2" charset="-122"/>
              </a:rPr>
              <a:t>select</a:t>
            </a:r>
            <a:r>
              <a:rPr lang="en-US" altLang="zh-CN" sz="2000">
                <a:ea typeface="宋体" pitchFamily="2" charset="-122"/>
              </a:rPr>
              <a:t> clause.</a:t>
            </a:r>
          </a:p>
          <a:p>
            <a:pPr>
              <a:buFont typeface="Monotype Sorts"/>
              <a:buNone/>
            </a:pPr>
            <a:r>
              <a:rPr lang="en-US" altLang="zh-CN" sz="2000">
                <a:ea typeface="宋体" pitchFamily="2" charset="-122"/>
              </a:rPr>
              <a:t>     </a:t>
            </a:r>
            <a:endParaRPr lang="en-US" altLang="zh-CN" sz="1800">
              <a:ea typeface="宋体" pitchFamily="2" charset="-122"/>
            </a:endParaRPr>
          </a:p>
          <a:p>
            <a:endParaRPr lang="en-US" altLang="zh-CN" sz="180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Natural Join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527125"/>
            <a:ext cx="7707313" cy="3971057"/>
          </a:xfrm>
        </p:spPr>
        <p:txBody>
          <a:bodyPr/>
          <a:lstStyle/>
          <a:p>
            <a:r>
              <a:rPr lang="en-US" altLang="zh-CN" sz="2000" dirty="0">
                <a:ea typeface="宋体" pitchFamily="2" charset="-122"/>
              </a:rPr>
              <a:t>Natural join matches </a:t>
            </a:r>
            <a:r>
              <a:rPr lang="en-US" altLang="zh-CN" sz="2000" dirty="0" err="1">
                <a:ea typeface="宋体" pitchFamily="2" charset="-122"/>
              </a:rPr>
              <a:t>tuples</a:t>
            </a:r>
            <a:r>
              <a:rPr lang="en-US" altLang="zh-CN" sz="2000" dirty="0">
                <a:ea typeface="宋体" pitchFamily="2" charset="-122"/>
              </a:rPr>
              <a:t> with the same values for all common attributes, and retains only one copy of each common column</a:t>
            </a:r>
            <a:endParaRPr lang="en-US" altLang="zh-CN" sz="1800" dirty="0">
              <a:ea typeface="宋体" pitchFamily="2" charset="-122"/>
            </a:endParaRPr>
          </a:p>
          <a:p>
            <a:r>
              <a:rPr lang="en-US" altLang="zh-CN" sz="2000" b="1" dirty="0">
                <a:ea typeface="宋体" pitchFamily="2" charset="-122"/>
              </a:rPr>
              <a:t>select </a:t>
            </a:r>
            <a:r>
              <a:rPr lang="en-US" altLang="zh-CN" sz="2000" i="1" dirty="0">
                <a:ea typeface="宋体" pitchFamily="2" charset="-122"/>
              </a:rPr>
              <a:t>*</a:t>
            </a:r>
            <a:br>
              <a:rPr lang="en-US" altLang="zh-CN" sz="2000" i="1" dirty="0">
                <a:ea typeface="宋体" pitchFamily="2" charset="-122"/>
              </a:rPr>
            </a:br>
            <a:r>
              <a:rPr lang="en-US" altLang="zh-CN" sz="2000" b="1" dirty="0">
                <a:ea typeface="宋体" pitchFamily="2" charset="-122"/>
              </a:rPr>
              <a:t>from </a:t>
            </a:r>
            <a:r>
              <a:rPr lang="en-US" altLang="zh-CN" sz="2000" i="1" dirty="0">
                <a:ea typeface="宋体" pitchFamily="2" charset="-122"/>
              </a:rPr>
              <a:t>instructor </a:t>
            </a:r>
            <a:r>
              <a:rPr lang="en-US" altLang="zh-CN" sz="2000" b="1" dirty="0">
                <a:ea typeface="宋体" pitchFamily="2" charset="-122"/>
              </a:rPr>
              <a:t>natural join </a:t>
            </a:r>
            <a:r>
              <a:rPr lang="en-US" altLang="zh-CN" sz="2000" i="1" dirty="0">
                <a:ea typeface="宋体" pitchFamily="2" charset="-122"/>
              </a:rPr>
              <a:t>teaches</a:t>
            </a:r>
            <a:r>
              <a:rPr lang="en-US" altLang="zh-CN" sz="2000" dirty="0">
                <a:ea typeface="宋体" pitchFamily="2" charset="-122"/>
              </a:rPr>
              <a:t>;</a:t>
            </a:r>
            <a:endParaRPr lang="en-US" altLang="zh-CN" sz="1800" dirty="0">
              <a:ea typeface="宋体" pitchFamily="2" charset="-122"/>
            </a:endParaRPr>
          </a:p>
          <a:p>
            <a:endParaRPr lang="en-US" altLang="zh-CN" sz="1800" dirty="0">
              <a:ea typeface="宋体" pitchFamily="2" charset="-122"/>
            </a:endParaRPr>
          </a:p>
          <a:p>
            <a:endParaRPr lang="en-US" altLang="zh-CN" sz="1800" dirty="0">
              <a:ea typeface="宋体" pitchFamily="2" charset="-122"/>
            </a:endParaRPr>
          </a:p>
        </p:txBody>
      </p:sp>
      <p:pic>
        <p:nvPicPr>
          <p:cNvPr id="24580" name="Picture 4" descr="3"/>
          <p:cNvPicPr>
            <a:picLocks noChangeAspect="1" noChangeArrowheads="1"/>
          </p:cNvPicPr>
          <p:nvPr/>
        </p:nvPicPr>
        <p:blipFill>
          <a:blip r:embed="rId2"/>
          <a:srcRect b="26213"/>
          <a:stretch>
            <a:fillRect/>
          </a:stretch>
        </p:blipFill>
        <p:spPr bwMode="auto">
          <a:xfrm>
            <a:off x="1173163" y="2216944"/>
            <a:ext cx="6570662" cy="226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Natural Join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567928"/>
            <a:ext cx="8121650" cy="3737372"/>
          </a:xfrm>
        </p:spPr>
        <p:txBody>
          <a:bodyPr/>
          <a:lstStyle/>
          <a:p>
            <a:pPr>
              <a:buFont typeface="Monotype Sorts"/>
              <a:buNone/>
            </a:pPr>
            <a:endParaRPr lang="en-US" altLang="zh-CN" sz="1800">
              <a:ea typeface="宋体" pitchFamily="2" charset="-122"/>
            </a:endParaRPr>
          </a:p>
          <a:p>
            <a:r>
              <a:rPr lang="en-US" altLang="zh-CN" sz="1800">
                <a:ea typeface="宋体" pitchFamily="2" charset="-122"/>
              </a:rPr>
              <a:t>List the names of instructors along with the course ID of the courses that they taught.</a:t>
            </a:r>
          </a:p>
          <a:p>
            <a:pPr>
              <a:buFont typeface="Monotype Sorts"/>
              <a:buNone/>
            </a:pPr>
            <a:r>
              <a:rPr lang="en-US" altLang="zh-CN" sz="1800">
                <a:ea typeface="宋体" pitchFamily="2" charset="-122"/>
              </a:rPr>
              <a:t>      </a:t>
            </a:r>
          </a:p>
          <a:p>
            <a:pPr lvl="1"/>
            <a:r>
              <a:rPr lang="en-US" altLang="zh-CN" sz="1800" b="1">
                <a:ea typeface="宋体" pitchFamily="2" charset="-122"/>
              </a:rPr>
              <a:t>select </a:t>
            </a:r>
            <a:r>
              <a:rPr lang="en-US" altLang="zh-CN" sz="1800" i="1">
                <a:ea typeface="宋体" pitchFamily="2" charset="-122"/>
              </a:rPr>
              <a:t>name</a:t>
            </a:r>
            <a:r>
              <a:rPr lang="en-US" altLang="zh-CN" sz="1800">
                <a:ea typeface="宋体" pitchFamily="2" charset="-122"/>
              </a:rPr>
              <a:t>, </a:t>
            </a:r>
            <a:r>
              <a:rPr lang="en-US" altLang="zh-CN" sz="1800" i="1">
                <a:ea typeface="宋体" pitchFamily="2" charset="-122"/>
              </a:rPr>
              <a:t>course_id</a:t>
            </a:r>
            <a:br>
              <a:rPr lang="en-US" altLang="zh-CN" sz="1800" i="1">
                <a:ea typeface="宋体" pitchFamily="2" charset="-122"/>
              </a:rPr>
            </a:br>
            <a:r>
              <a:rPr lang="en-US" altLang="zh-CN" sz="1800" b="1">
                <a:ea typeface="宋体" pitchFamily="2" charset="-122"/>
              </a:rPr>
              <a:t>from </a:t>
            </a:r>
            <a:r>
              <a:rPr lang="en-US" altLang="zh-CN" sz="1800" i="1">
                <a:ea typeface="宋体" pitchFamily="2" charset="-122"/>
              </a:rPr>
              <a:t>instructor, teaches</a:t>
            </a:r>
            <a:br>
              <a:rPr lang="en-US" altLang="zh-CN" sz="1800" i="1">
                <a:ea typeface="宋体" pitchFamily="2" charset="-122"/>
              </a:rPr>
            </a:br>
            <a:r>
              <a:rPr lang="en-US" altLang="zh-CN" sz="1800" b="1">
                <a:ea typeface="宋体" pitchFamily="2" charset="-122"/>
              </a:rPr>
              <a:t>where </a:t>
            </a:r>
            <a:r>
              <a:rPr lang="en-US" altLang="zh-CN" sz="1800" i="1">
                <a:ea typeface="宋体" pitchFamily="2" charset="-122"/>
              </a:rPr>
              <a:t>instructor.ID </a:t>
            </a:r>
            <a:r>
              <a:rPr lang="en-US" altLang="zh-CN" sz="1800">
                <a:ea typeface="宋体" pitchFamily="2" charset="-122"/>
              </a:rPr>
              <a:t>= </a:t>
            </a:r>
            <a:r>
              <a:rPr lang="en-US" altLang="zh-CN" sz="1800" i="1">
                <a:ea typeface="宋体" pitchFamily="2" charset="-122"/>
              </a:rPr>
              <a:t>teaches.ID</a:t>
            </a:r>
            <a:r>
              <a:rPr lang="en-US" altLang="zh-CN" sz="1800">
                <a:ea typeface="宋体" pitchFamily="2" charset="-122"/>
              </a:rPr>
              <a:t>;</a:t>
            </a:r>
          </a:p>
          <a:p>
            <a:pPr lvl="1">
              <a:buFont typeface="Monotype Sorts"/>
              <a:buNone/>
            </a:pPr>
            <a:endParaRPr lang="en-US" altLang="zh-CN" sz="1800">
              <a:ea typeface="宋体" pitchFamily="2" charset="-122"/>
            </a:endParaRPr>
          </a:p>
          <a:p>
            <a:pPr lvl="1"/>
            <a:r>
              <a:rPr lang="en-US" altLang="zh-CN" sz="1800" b="1">
                <a:ea typeface="宋体" pitchFamily="2" charset="-122"/>
              </a:rPr>
              <a:t>select </a:t>
            </a:r>
            <a:r>
              <a:rPr lang="en-US" altLang="zh-CN" sz="1800" i="1">
                <a:ea typeface="宋体" pitchFamily="2" charset="-122"/>
              </a:rPr>
              <a:t>name</a:t>
            </a:r>
            <a:r>
              <a:rPr lang="en-US" altLang="zh-CN" sz="1800">
                <a:ea typeface="宋体" pitchFamily="2" charset="-122"/>
              </a:rPr>
              <a:t>,</a:t>
            </a:r>
            <a:r>
              <a:rPr lang="en-US" altLang="zh-CN" sz="1800" i="1">
                <a:ea typeface="宋体" pitchFamily="2" charset="-122"/>
              </a:rPr>
              <a:t> course_id</a:t>
            </a:r>
            <a:br>
              <a:rPr lang="en-US" altLang="zh-CN" sz="1800" i="1">
                <a:ea typeface="宋体" pitchFamily="2" charset="-122"/>
              </a:rPr>
            </a:br>
            <a:r>
              <a:rPr lang="en-US" altLang="zh-CN" sz="1800" b="1">
                <a:ea typeface="宋体" pitchFamily="2" charset="-122"/>
              </a:rPr>
              <a:t>from </a:t>
            </a:r>
            <a:r>
              <a:rPr lang="en-US" altLang="zh-CN" sz="1800" i="1">
                <a:ea typeface="宋体" pitchFamily="2" charset="-122"/>
              </a:rPr>
              <a:t>instructor </a:t>
            </a:r>
            <a:r>
              <a:rPr lang="en-US" altLang="zh-CN" sz="1800" b="1">
                <a:ea typeface="宋体" pitchFamily="2" charset="-122"/>
              </a:rPr>
              <a:t>natural join </a:t>
            </a:r>
            <a:r>
              <a:rPr lang="en-US" altLang="zh-CN" sz="1800" i="1">
                <a:ea typeface="宋体" pitchFamily="2" charset="-122"/>
              </a:rPr>
              <a:t>teaches</a:t>
            </a:r>
            <a:r>
              <a:rPr lang="en-US" altLang="zh-CN" sz="1800">
                <a:ea typeface="宋体" pitchFamily="2" charset="-122"/>
              </a:rPr>
              <a:t>;</a:t>
            </a:r>
          </a:p>
          <a:p>
            <a:pPr>
              <a:buFont typeface="Monotype Sorts"/>
              <a:buNone/>
            </a:pPr>
            <a:endParaRPr lang="en-US" altLang="zh-CN" sz="180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Natural Join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9" y="527125"/>
            <a:ext cx="8396287" cy="4142507"/>
          </a:xfrm>
        </p:spPr>
        <p:txBody>
          <a:bodyPr/>
          <a:lstStyle/>
          <a:p>
            <a:r>
              <a:rPr lang="en-US" altLang="zh-CN" sz="1600" dirty="0">
                <a:ea typeface="宋体" pitchFamily="2" charset="-122"/>
              </a:rPr>
              <a:t>Danger in natural join: beware of unrelated attributes with same name which get equated incorrectly   </a:t>
            </a:r>
            <a:r>
              <a:rPr lang="zh-CN" altLang="en-US" sz="16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危险：同名异义</a:t>
            </a:r>
            <a:endParaRPr lang="en-US" altLang="zh-CN" sz="1400" b="1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zh-CN" sz="1600" dirty="0">
                <a:ea typeface="宋体" pitchFamily="2" charset="-122"/>
              </a:rPr>
              <a:t>List the names of instructors along with the </a:t>
            </a:r>
            <a:r>
              <a:rPr lang="en-US" altLang="zh-CN" sz="1600" dirty="0" err="1">
                <a:ea typeface="宋体" pitchFamily="2" charset="-122"/>
              </a:rPr>
              <a:t>the</a:t>
            </a:r>
            <a:r>
              <a:rPr lang="en-US" altLang="zh-CN" sz="1600" dirty="0">
                <a:ea typeface="宋体" pitchFamily="2" charset="-122"/>
              </a:rPr>
              <a:t> titles of courses that they teach</a:t>
            </a:r>
            <a:r>
              <a:rPr lang="en-US" altLang="zh-CN" sz="1400" dirty="0">
                <a:ea typeface="宋体" pitchFamily="2" charset="-122"/>
              </a:rPr>
              <a:t> </a:t>
            </a:r>
          </a:p>
          <a:p>
            <a:pPr lvl="1"/>
            <a:r>
              <a:rPr lang="en-US" altLang="zh-CN" sz="1600" dirty="0">
                <a:ea typeface="宋体" pitchFamily="2" charset="-122"/>
              </a:rPr>
              <a:t>Incorrect version (makes</a:t>
            </a:r>
            <a:r>
              <a:rPr lang="en-US" altLang="zh-CN" sz="1400" dirty="0">
                <a:ea typeface="宋体" pitchFamily="2" charset="-122"/>
              </a:rPr>
              <a:t> </a:t>
            </a:r>
            <a:r>
              <a:rPr lang="en-US" altLang="zh-CN" sz="1600" dirty="0" err="1">
                <a:ea typeface="宋体" pitchFamily="2" charset="-122"/>
              </a:rPr>
              <a:t>course.dept_name</a:t>
            </a:r>
            <a:r>
              <a:rPr lang="en-US" altLang="zh-CN" sz="1400" dirty="0">
                <a:ea typeface="宋体" pitchFamily="2" charset="-122"/>
              </a:rPr>
              <a:t> </a:t>
            </a:r>
            <a:r>
              <a:rPr lang="en-US" altLang="zh-CN" sz="1600" dirty="0">
                <a:ea typeface="宋体" pitchFamily="2" charset="-122"/>
              </a:rPr>
              <a:t>= </a:t>
            </a:r>
            <a:r>
              <a:rPr lang="en-US" altLang="zh-CN" sz="1600" dirty="0" err="1">
                <a:ea typeface="宋体" pitchFamily="2" charset="-122"/>
              </a:rPr>
              <a:t>instructor.dept_name</a:t>
            </a:r>
            <a:r>
              <a:rPr lang="en-US" altLang="zh-CN" sz="1600" dirty="0">
                <a:ea typeface="宋体" pitchFamily="2" charset="-122"/>
              </a:rPr>
              <a:t>)</a:t>
            </a:r>
            <a:endParaRPr lang="en-US" altLang="zh-CN" sz="1400" dirty="0">
              <a:ea typeface="宋体" pitchFamily="2" charset="-122"/>
            </a:endParaRPr>
          </a:p>
          <a:p>
            <a:pPr lvl="2"/>
            <a:r>
              <a:rPr lang="en-US" altLang="zh-CN" sz="1600" b="1" dirty="0">
                <a:ea typeface="宋体" pitchFamily="2" charset="-122"/>
              </a:rPr>
              <a:t>select </a:t>
            </a:r>
            <a:r>
              <a:rPr lang="en-US" altLang="zh-CN" sz="1600" i="1" dirty="0">
                <a:ea typeface="宋体" pitchFamily="2" charset="-122"/>
              </a:rPr>
              <a:t>name</a:t>
            </a:r>
            <a:r>
              <a:rPr lang="en-US" altLang="zh-CN" sz="1600" dirty="0">
                <a:ea typeface="宋体" pitchFamily="2" charset="-122"/>
              </a:rPr>
              <a:t>, </a:t>
            </a:r>
            <a:r>
              <a:rPr lang="en-US" altLang="zh-CN" sz="1600" i="1" dirty="0">
                <a:ea typeface="宋体" pitchFamily="2" charset="-122"/>
              </a:rPr>
              <a:t>title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from </a:t>
            </a:r>
            <a:r>
              <a:rPr lang="en-US" altLang="zh-CN" sz="1600" i="1" dirty="0">
                <a:ea typeface="宋体" pitchFamily="2" charset="-122"/>
              </a:rPr>
              <a:t>instructor </a:t>
            </a:r>
            <a:r>
              <a:rPr lang="en-US" altLang="zh-CN" sz="1600" b="1" dirty="0">
                <a:ea typeface="宋体" pitchFamily="2" charset="-122"/>
              </a:rPr>
              <a:t>natural join </a:t>
            </a:r>
            <a:r>
              <a:rPr lang="en-US" altLang="zh-CN" sz="1600" i="1" dirty="0">
                <a:ea typeface="宋体" pitchFamily="2" charset="-122"/>
              </a:rPr>
              <a:t>teaches </a:t>
            </a:r>
            <a:r>
              <a:rPr lang="en-US" altLang="zh-CN" sz="1600" b="1" dirty="0">
                <a:ea typeface="宋体" pitchFamily="2" charset="-122"/>
              </a:rPr>
              <a:t>natural join </a:t>
            </a:r>
            <a:r>
              <a:rPr lang="en-US" altLang="zh-CN" sz="1600" i="1" dirty="0">
                <a:ea typeface="宋体" pitchFamily="2" charset="-122"/>
              </a:rPr>
              <a:t>course</a:t>
            </a:r>
            <a:r>
              <a:rPr lang="en-US" altLang="zh-CN" sz="1600" dirty="0">
                <a:ea typeface="宋体" pitchFamily="2" charset="-122"/>
              </a:rPr>
              <a:t>;</a:t>
            </a:r>
            <a:endParaRPr lang="en-US" altLang="zh-CN" sz="1400" dirty="0">
              <a:ea typeface="宋体" pitchFamily="2" charset="-122"/>
            </a:endParaRPr>
          </a:p>
          <a:p>
            <a:pPr lvl="1"/>
            <a:r>
              <a:rPr lang="en-US" altLang="zh-CN" sz="1600" dirty="0">
                <a:ea typeface="宋体" pitchFamily="2" charset="-122"/>
              </a:rPr>
              <a:t>Correct version</a:t>
            </a:r>
            <a:endParaRPr lang="en-US" altLang="zh-CN" sz="1400" dirty="0">
              <a:ea typeface="宋体" pitchFamily="2" charset="-122"/>
            </a:endParaRPr>
          </a:p>
          <a:p>
            <a:pPr lvl="2"/>
            <a:r>
              <a:rPr lang="en-US" altLang="zh-CN" sz="1600" b="1" dirty="0">
                <a:ea typeface="宋体" pitchFamily="2" charset="-122"/>
              </a:rPr>
              <a:t>select </a:t>
            </a:r>
            <a:r>
              <a:rPr lang="en-US" altLang="zh-CN" sz="1600" i="1" dirty="0">
                <a:ea typeface="宋体" pitchFamily="2" charset="-122"/>
              </a:rPr>
              <a:t>name</a:t>
            </a:r>
            <a:r>
              <a:rPr lang="en-US" altLang="zh-CN" sz="1600" dirty="0">
                <a:ea typeface="宋体" pitchFamily="2" charset="-122"/>
              </a:rPr>
              <a:t>, </a:t>
            </a:r>
            <a:r>
              <a:rPr lang="en-US" altLang="zh-CN" sz="1600" i="1" dirty="0">
                <a:ea typeface="宋体" pitchFamily="2" charset="-122"/>
              </a:rPr>
              <a:t>title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from </a:t>
            </a:r>
            <a:r>
              <a:rPr lang="en-US" altLang="zh-CN" sz="1600" i="1" dirty="0">
                <a:ea typeface="宋体" pitchFamily="2" charset="-122"/>
              </a:rPr>
              <a:t>instructor </a:t>
            </a:r>
            <a:r>
              <a:rPr lang="en-US" altLang="zh-CN" sz="1600" b="1" dirty="0">
                <a:ea typeface="宋体" pitchFamily="2" charset="-122"/>
              </a:rPr>
              <a:t>natural join </a:t>
            </a:r>
            <a:r>
              <a:rPr lang="en-US" altLang="zh-CN" sz="1600" i="1" dirty="0">
                <a:ea typeface="宋体" pitchFamily="2" charset="-122"/>
              </a:rPr>
              <a:t>teaches</a:t>
            </a:r>
            <a:r>
              <a:rPr lang="en-US" altLang="zh-CN" sz="1600" dirty="0">
                <a:ea typeface="宋体" pitchFamily="2" charset="-122"/>
              </a:rPr>
              <a:t>, </a:t>
            </a:r>
            <a:r>
              <a:rPr lang="en-US" altLang="zh-CN" sz="1600" i="1" dirty="0">
                <a:ea typeface="宋体" pitchFamily="2" charset="-122"/>
              </a:rPr>
              <a:t>course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where </a:t>
            </a:r>
            <a:r>
              <a:rPr lang="en-US" altLang="zh-CN" sz="1600" i="1" dirty="0" err="1">
                <a:ea typeface="宋体" pitchFamily="2" charset="-122"/>
              </a:rPr>
              <a:t>teaches</a:t>
            </a:r>
            <a:r>
              <a:rPr lang="en-US" altLang="zh-CN" sz="1600" dirty="0" err="1">
                <a:ea typeface="宋体" pitchFamily="2" charset="-122"/>
              </a:rPr>
              <a:t>.</a:t>
            </a:r>
            <a:r>
              <a:rPr lang="en-US" altLang="zh-CN" sz="1600" i="1" dirty="0" err="1">
                <a:ea typeface="宋体" pitchFamily="2" charset="-122"/>
              </a:rPr>
              <a:t>course_id</a:t>
            </a:r>
            <a:r>
              <a:rPr lang="en-US" altLang="zh-CN" sz="1600" i="1" dirty="0">
                <a:ea typeface="宋体" pitchFamily="2" charset="-122"/>
              </a:rPr>
              <a:t> </a:t>
            </a:r>
            <a:r>
              <a:rPr lang="en-US" altLang="zh-CN" sz="1600" dirty="0">
                <a:ea typeface="宋体" pitchFamily="2" charset="-122"/>
              </a:rPr>
              <a:t>= </a:t>
            </a:r>
            <a:r>
              <a:rPr lang="en-US" altLang="zh-CN" sz="1600" i="1" dirty="0" err="1">
                <a:ea typeface="宋体" pitchFamily="2" charset="-122"/>
              </a:rPr>
              <a:t>course</a:t>
            </a:r>
            <a:r>
              <a:rPr lang="en-US" altLang="zh-CN" sz="1600" dirty="0" err="1">
                <a:ea typeface="宋体" pitchFamily="2" charset="-122"/>
              </a:rPr>
              <a:t>.</a:t>
            </a:r>
            <a:r>
              <a:rPr lang="en-US" altLang="zh-CN" sz="1600" i="1" dirty="0" err="1">
                <a:ea typeface="宋体" pitchFamily="2" charset="-122"/>
              </a:rPr>
              <a:t>course_id</a:t>
            </a:r>
            <a:r>
              <a:rPr lang="en-US" altLang="zh-CN" sz="1600" dirty="0">
                <a:ea typeface="宋体" pitchFamily="2" charset="-122"/>
              </a:rPr>
              <a:t>;</a:t>
            </a:r>
            <a:endParaRPr lang="en-US" altLang="zh-CN" sz="1400" dirty="0">
              <a:ea typeface="宋体" pitchFamily="2" charset="-122"/>
            </a:endParaRPr>
          </a:p>
          <a:p>
            <a:pPr lvl="1"/>
            <a:r>
              <a:rPr lang="en-US" altLang="zh-CN" sz="1600" dirty="0">
                <a:ea typeface="宋体" pitchFamily="2" charset="-122"/>
              </a:rPr>
              <a:t>Another correct version</a:t>
            </a:r>
            <a:endParaRPr lang="en-US" altLang="zh-CN" sz="1400" dirty="0">
              <a:ea typeface="宋体" pitchFamily="2" charset="-122"/>
            </a:endParaRPr>
          </a:p>
          <a:p>
            <a:pPr lvl="2"/>
            <a:r>
              <a:rPr lang="en-US" altLang="zh-CN" sz="1600" b="1" dirty="0">
                <a:ea typeface="宋体" pitchFamily="2" charset="-122"/>
              </a:rPr>
              <a:t>select </a:t>
            </a:r>
            <a:r>
              <a:rPr lang="en-US" altLang="zh-CN" sz="1600" i="1" dirty="0">
                <a:ea typeface="宋体" pitchFamily="2" charset="-122"/>
              </a:rPr>
              <a:t>name</a:t>
            </a:r>
            <a:r>
              <a:rPr lang="en-US" altLang="zh-CN" sz="1600" dirty="0">
                <a:ea typeface="宋体" pitchFamily="2" charset="-122"/>
              </a:rPr>
              <a:t>, </a:t>
            </a:r>
            <a:r>
              <a:rPr lang="en-US" altLang="zh-CN" sz="1600" i="1" dirty="0">
                <a:ea typeface="宋体" pitchFamily="2" charset="-122"/>
              </a:rPr>
              <a:t>title</a:t>
            </a:r>
            <a:br>
              <a:rPr lang="en-US" altLang="zh-CN" sz="1600" i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from </a:t>
            </a:r>
            <a:r>
              <a:rPr lang="en-US" altLang="zh-CN" sz="1600" dirty="0">
                <a:ea typeface="宋体" pitchFamily="2" charset="-122"/>
              </a:rPr>
              <a:t>(</a:t>
            </a:r>
            <a:r>
              <a:rPr lang="en-US" altLang="zh-CN" sz="1600" i="1" dirty="0">
                <a:ea typeface="宋体" pitchFamily="2" charset="-122"/>
              </a:rPr>
              <a:t>instructor </a:t>
            </a:r>
            <a:r>
              <a:rPr lang="en-US" altLang="zh-CN" sz="1600" b="1" dirty="0">
                <a:ea typeface="宋体" pitchFamily="2" charset="-122"/>
              </a:rPr>
              <a:t>natural join </a:t>
            </a:r>
            <a:r>
              <a:rPr lang="en-US" altLang="zh-CN" sz="1600" i="1" dirty="0">
                <a:ea typeface="宋体" pitchFamily="2" charset="-122"/>
              </a:rPr>
              <a:t>teaches</a:t>
            </a:r>
            <a:r>
              <a:rPr lang="en-US" altLang="zh-CN" sz="1600" dirty="0">
                <a:ea typeface="宋体" pitchFamily="2" charset="-122"/>
              </a:rPr>
              <a:t>)</a:t>
            </a:r>
            <a:r>
              <a:rPr lang="en-US" altLang="zh-CN" sz="1600" b="1" dirty="0">
                <a:ea typeface="宋体" pitchFamily="2" charset="-122"/>
              </a:rPr>
              <a:t/>
            </a:r>
            <a:br>
              <a:rPr lang="en-US" altLang="zh-CN" sz="1600" b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                   </a:t>
            </a:r>
            <a:r>
              <a:rPr lang="en-US" altLang="zh-CN" sz="1600" b="1" dirty="0" smtClean="0">
                <a:ea typeface="宋体" pitchFamily="2" charset="-122"/>
              </a:rPr>
              <a:t>join </a:t>
            </a:r>
            <a:r>
              <a:rPr lang="en-US" altLang="zh-CN" sz="1600" i="1" dirty="0">
                <a:ea typeface="宋体" pitchFamily="2" charset="-122"/>
              </a:rPr>
              <a:t>course </a:t>
            </a:r>
            <a:r>
              <a:rPr lang="en-US" altLang="zh-CN" sz="1600" b="1" dirty="0">
                <a:ea typeface="宋体" pitchFamily="2" charset="-122"/>
              </a:rPr>
              <a:t>using</a:t>
            </a:r>
            <a:r>
              <a:rPr lang="en-US" altLang="zh-CN" sz="1600" dirty="0">
                <a:ea typeface="宋体" pitchFamily="2" charset="-122"/>
              </a:rPr>
              <a:t>(</a:t>
            </a:r>
            <a:r>
              <a:rPr lang="en-US" altLang="zh-CN" sz="1600" i="1" dirty="0" err="1">
                <a:ea typeface="宋体" pitchFamily="2" charset="-122"/>
              </a:rPr>
              <a:t>course_id</a:t>
            </a:r>
            <a:r>
              <a:rPr lang="en-US" altLang="zh-CN" sz="1600" dirty="0">
                <a:ea typeface="宋体" pitchFamily="2" charset="-122"/>
              </a:rPr>
              <a:t>);</a:t>
            </a:r>
            <a:endParaRPr lang="en-US" altLang="zh-CN" sz="1400" dirty="0">
              <a:ea typeface="宋体" pitchFamily="2" charset="-122"/>
            </a:endParaRPr>
          </a:p>
          <a:p>
            <a:endParaRPr lang="en-US" altLang="zh-CN" sz="1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2250"/>
            <a:ext cx="8077200" cy="4572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 </a:t>
            </a:r>
            <a:r>
              <a:rPr lang="zh-CN" altLang="en-US" sz="2800" dirty="0">
                <a:latin typeface="华文宋体" pitchFamily="2" charset="-122"/>
                <a:ea typeface="华文宋体" pitchFamily="2" charset="-122"/>
              </a:rPr>
              <a:t>更名</a:t>
            </a:r>
            <a:endParaRPr lang="en-US" altLang="en-US" sz="2800" dirty="0">
              <a:latin typeface="华文宋体" pitchFamily="2" charset="-122"/>
              <a:ea typeface="华文宋体" pitchFamily="2" charset="-122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66443"/>
            <a:ext cx="7760830" cy="25559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       </a:t>
            </a:r>
            <a:r>
              <a:rPr lang="en-US" altLang="zh-CN" sz="1700" b="1" dirty="0"/>
              <a:t>from</a:t>
            </a:r>
            <a:r>
              <a:rPr lang="zh-CN" altLang="en-US" sz="1700" dirty="0"/>
              <a:t>子句的</a:t>
            </a:r>
            <a:r>
              <a:rPr lang="en-US" altLang="zh-CN" sz="1700" b="1" dirty="0"/>
              <a:t>as</a:t>
            </a:r>
            <a:r>
              <a:rPr lang="zh-CN" altLang="en-US" dirty="0"/>
              <a:t>通常省略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29866"/>
            <a:ext cx="7692898" cy="268143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243569"/>
            <a:ext cx="1784870" cy="94631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688489"/>
            <a:ext cx="7638802" cy="3700631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>
                <a:solidFill>
                  <a:srgbClr val="FF0000"/>
                </a:solidFill>
              </a:rPr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6"/>
            <a:ext cx="7434616" cy="3284934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31057"/>
            <a:ext cx="7522211" cy="3064288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FF000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FF000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7"/>
            <a:ext cx="7436866" cy="2718005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r>
              <a:rPr kumimoji="0" lang="en-US" altLang="en-US" sz="1700" i="1" dirty="0"/>
              <a:t/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1531"/>
            <a:ext cx="7668514" cy="3677841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4304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39820"/>
            <a:ext cx="7647680" cy="2735485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    </a:t>
            </a:r>
            <a:r>
              <a:rPr lang="zh-CN" altLang="en-US" sz="1700" dirty="0">
                <a:solidFill>
                  <a:srgbClr val="FF0000"/>
                </a:solidFill>
                <a:sym typeface="Symbol" panose="05050102010706020507" pitchFamily="18" charset="2"/>
              </a:rPr>
              <a:t>多重集 并、交、差</a:t>
            </a:r>
            <a:endParaRPr lang="en-US" altLang="en-US" sz="17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/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613186"/>
            <a:ext cx="7612169" cy="3702782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 </a:t>
            </a:r>
            <a:r>
              <a:rPr lang="zh-CN" altLang="en-US" dirty="0">
                <a:latin typeface="华文宋体" pitchFamily="2" charset="-122"/>
                <a:ea typeface="华文宋体" pitchFamily="2" charset="-122"/>
              </a:rPr>
              <a:t>空值：不知道、不确定</a:t>
            </a:r>
            <a:endParaRPr lang="en-US" altLang="en-US" sz="1700" dirty="0">
              <a:latin typeface="华文宋体" pitchFamily="2" charset="-122"/>
              <a:ea typeface="华文宋体" pitchFamily="2" charset="-122"/>
            </a:endParaRP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90488"/>
            <a:ext cx="8077200" cy="4572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645459"/>
            <a:ext cx="7563776" cy="3798526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20341"/>
            <a:ext cx="7253986" cy="2846403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31057"/>
            <a:ext cx="7681913" cy="3603784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6" y="2109788"/>
            <a:ext cx="7681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767954"/>
            <a:ext cx="7900162" cy="969407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19771" t="2012" r="19587" b="13353"/>
          <a:stretch/>
        </p:blipFill>
        <p:spPr>
          <a:xfrm>
            <a:off x="641556" y="1896530"/>
            <a:ext cx="3930444" cy="256165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l="31384" t="3188" r="31718" b="23128"/>
          <a:stretch/>
        </p:blipFill>
        <p:spPr>
          <a:xfrm>
            <a:off x="5346097" y="1896530"/>
            <a:ext cx="2426304" cy="167361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1" y="820342"/>
            <a:ext cx="7656321" cy="2508074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 </a:t>
            </a:r>
            <a:r>
              <a:rPr lang="en-US" altLang="zh-CN" sz="1800" dirty="0">
                <a:ea typeface="宋体" pitchFamily="2" charset="-122"/>
              </a:rPr>
              <a:t>   </a:t>
            </a:r>
            <a:r>
              <a:rPr lang="zh-CN" altLang="en-US" sz="1800" dirty="0">
                <a:solidFill>
                  <a:srgbClr val="FF0000"/>
                </a:solidFill>
                <a:ea typeface="宋体" pitchFamily="2" charset="-122"/>
              </a:rPr>
              <a:t>除了聚集函数，能够出现在</a:t>
            </a: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select</a:t>
            </a:r>
            <a:r>
              <a:rPr lang="zh-CN" altLang="en-US" sz="1800" dirty="0">
                <a:solidFill>
                  <a:srgbClr val="FF0000"/>
                </a:solidFill>
                <a:ea typeface="宋体" pitchFamily="2" charset="-122"/>
              </a:rPr>
              <a:t>子句后的属性必须出现在</a:t>
            </a: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group by</a:t>
            </a:r>
            <a:r>
              <a:rPr lang="zh-CN" altLang="en-US" sz="1800" dirty="0">
                <a:solidFill>
                  <a:srgbClr val="FF0000"/>
                </a:solidFill>
                <a:ea typeface="宋体" pitchFamily="2" charset="-122"/>
              </a:rPr>
              <a:t>后</a:t>
            </a:r>
            <a:endParaRPr lang="en-US" altLang="en-US" sz="1700" dirty="0"/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72629"/>
            <a:ext cx="8077200" cy="4572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4" y="895351"/>
            <a:ext cx="7829631" cy="2423921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        </a:t>
            </a:r>
            <a:r>
              <a:rPr lang="en-US" altLang="en-US" b="1" dirty="0">
                <a:solidFill>
                  <a:srgbClr val="FF0000"/>
                </a:solidFill>
              </a:rPr>
              <a:t>having</a:t>
            </a:r>
            <a:r>
              <a:rPr lang="zh-CN" altLang="en-US" sz="1700" dirty="0">
                <a:solidFill>
                  <a:srgbClr val="FF0000"/>
                </a:solidFill>
              </a:rPr>
              <a:t>对分组进行限制</a:t>
            </a:r>
            <a:endParaRPr lang="en-US" altLang="en-US" sz="1700" dirty="0">
              <a:solidFill>
                <a:srgbClr val="FF0000"/>
              </a:solidFill>
            </a:endParaRP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403033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xmlns="" val="1256658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779860"/>
            <a:ext cx="7656559" cy="3691556"/>
          </a:xfrm>
        </p:spPr>
        <p:txBody>
          <a:bodyPr/>
          <a:lstStyle/>
          <a:p>
            <a:r>
              <a:rPr lang="en-US" altLang="en-US" sz="1400" dirty="0"/>
              <a:t>SQL provides a mechanism for the nesting of subqueries. A </a:t>
            </a:r>
            <a:r>
              <a:rPr lang="en-US" altLang="en-US" sz="1400" b="1" dirty="0">
                <a:solidFill>
                  <a:srgbClr val="002060"/>
                </a:solidFill>
              </a:rPr>
              <a:t>subquery</a:t>
            </a:r>
            <a:r>
              <a:rPr lang="en-US" altLang="en-US" sz="1400" dirty="0"/>
              <a:t> is a </a:t>
            </a:r>
            <a:r>
              <a:rPr lang="en-US" altLang="en-US" sz="1400" b="1" dirty="0"/>
              <a:t>select-from-where</a:t>
            </a:r>
            <a:r>
              <a:rPr lang="en-US" altLang="en-US" sz="1400" dirty="0"/>
              <a:t> expression that is nested within another query.</a:t>
            </a:r>
          </a:p>
          <a:p>
            <a:r>
              <a:rPr lang="en-US" altLang="en-US" sz="1400" dirty="0"/>
              <a:t>The nesting can be done in the following SQL query</a:t>
            </a:r>
            <a:br>
              <a:rPr lang="en-US" altLang="en-US" sz="1400" dirty="0"/>
            </a:b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	</a:t>
            </a:r>
            <a:r>
              <a:rPr lang="en-US" altLang="en-US" sz="1400" b="1" dirty="0"/>
              <a:t>select </a:t>
            </a:r>
            <a:r>
              <a:rPr lang="en-US" altLang="en-US" sz="1400" i="1" dirty="0"/>
              <a:t>A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, </a:t>
            </a:r>
            <a:r>
              <a:rPr lang="en-US" altLang="en-US" sz="1400" i="1" dirty="0"/>
              <a:t>A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, ..., </a:t>
            </a:r>
            <a:r>
              <a:rPr lang="en-US" altLang="en-US" sz="1400" i="1" dirty="0"/>
              <a:t>A</a:t>
            </a:r>
            <a:r>
              <a:rPr lang="en-US" altLang="en-US" sz="1400" i="1" baseline="-25000" dirty="0"/>
              <a:t>n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	</a:t>
            </a:r>
            <a:r>
              <a:rPr lang="en-US" altLang="en-US" sz="1400" b="1" dirty="0"/>
              <a:t>from</a:t>
            </a:r>
            <a:r>
              <a:rPr lang="en-US" altLang="en-US" sz="1400" dirty="0"/>
              <a:t> </a:t>
            </a:r>
            <a:r>
              <a:rPr lang="en-US" altLang="en-US" sz="1400" i="1" dirty="0"/>
              <a:t>r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, </a:t>
            </a:r>
            <a:r>
              <a:rPr lang="en-US" altLang="en-US" sz="1400" i="1" dirty="0"/>
              <a:t>r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, ..., </a:t>
            </a:r>
            <a:r>
              <a:rPr lang="en-US" altLang="en-US" sz="1400" i="1" dirty="0" err="1"/>
              <a:t>r</a:t>
            </a:r>
            <a:r>
              <a:rPr lang="en-US" altLang="en-US" sz="1400" i="1" baseline="-25000" dirty="0" err="1"/>
              <a:t>m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	</a:t>
            </a:r>
            <a:r>
              <a:rPr lang="en-US" altLang="en-US" sz="1400" b="1" dirty="0"/>
              <a:t>where </a:t>
            </a:r>
            <a:r>
              <a:rPr lang="en-US" altLang="en-US" sz="14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600" i="1" dirty="0"/>
              <a:t> </a:t>
            </a:r>
            <a:r>
              <a:rPr lang="en-US" altLang="en-US" sz="1400" i="1" dirty="0"/>
              <a:t/>
            </a:r>
            <a:br>
              <a:rPr lang="en-US" altLang="en-US" sz="1400" i="1" dirty="0"/>
            </a:br>
            <a:r>
              <a:rPr lang="en-US" altLang="en-US" sz="1400" dirty="0"/>
              <a:t>as follows:</a:t>
            </a:r>
          </a:p>
          <a:p>
            <a:pPr lvl="1"/>
            <a:r>
              <a:rPr lang="en-US" altLang="en-US" sz="1400" b="1" dirty="0"/>
              <a:t>From clause: </a:t>
            </a:r>
            <a:r>
              <a:rPr lang="en-US" altLang="en-US" sz="1400" i="1" dirty="0" err="1"/>
              <a:t>r</a:t>
            </a:r>
            <a:r>
              <a:rPr lang="en-US" altLang="en-US" sz="1400" i="1" baseline="-25000" dirty="0" err="1"/>
              <a:t>i</a:t>
            </a:r>
            <a:r>
              <a:rPr lang="en-US" altLang="en-US" sz="1400" i="1" baseline="-25000" dirty="0"/>
              <a:t> </a:t>
            </a:r>
            <a:r>
              <a:rPr lang="en-US" altLang="en-US" sz="1400" dirty="0"/>
              <a:t> can be replaced by any valid subquery</a:t>
            </a:r>
          </a:p>
          <a:p>
            <a:pPr lvl="1"/>
            <a:r>
              <a:rPr lang="en-US" altLang="en-US" sz="1400" b="1" dirty="0"/>
              <a:t>Where clause: </a:t>
            </a:r>
            <a:r>
              <a:rPr lang="en-US" altLang="en-US" sz="1400" i="1" dirty="0"/>
              <a:t>P</a:t>
            </a:r>
            <a:r>
              <a:rPr lang="en-US" altLang="en-US" sz="14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                </a:t>
            </a:r>
            <a:r>
              <a:rPr lang="en-US" altLang="en-US" sz="1400" i="1" dirty="0"/>
              <a:t>B</a:t>
            </a:r>
            <a:r>
              <a:rPr lang="en-US" altLang="en-US" sz="14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     </a:t>
            </a:r>
            <a:r>
              <a:rPr lang="en-US" altLang="en-US" sz="1400" i="1" dirty="0"/>
              <a:t>B</a:t>
            </a:r>
            <a:r>
              <a:rPr lang="en-US" altLang="en-US" sz="1400" dirty="0"/>
              <a:t> is an attribute and &lt;operation&gt; to be defined later.</a:t>
            </a:r>
          </a:p>
          <a:p>
            <a:pPr lvl="1"/>
            <a:r>
              <a:rPr lang="en-US" altLang="en-US" sz="14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400" i="1" dirty="0"/>
              <a:t>A</a:t>
            </a:r>
            <a:r>
              <a:rPr lang="en-US" altLang="en-US" sz="1400" i="1" baseline="-25000" dirty="0"/>
              <a:t>i   </a:t>
            </a:r>
            <a:r>
              <a:rPr lang="en-US" altLang="en-US" sz="1400" dirty="0"/>
              <a:t>can be replaced be a subquery that generates a single value.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52613"/>
            <a:ext cx="8077200" cy="4572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548640"/>
            <a:ext cx="7648313" cy="4170074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915903"/>
            <a:ext cx="621665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017473"/>
            <a:ext cx="65865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580913"/>
            <a:ext cx="7665436" cy="4064239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 smtClean="0"/>
              <a:t>Find </a:t>
            </a:r>
            <a:r>
              <a:rPr lang="en-US" altLang="en-US" sz="1700" dirty="0"/>
              <a:t>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buNone/>
              <a:tabLst>
                <a:tab pos="684213" algn="l"/>
                <a:tab pos="1250950" algn="l"/>
              </a:tabLst>
            </a:pPr>
            <a:endParaRPr lang="en-US" altLang="en-US" sz="1700" dirty="0" smtClean="0"/>
          </a:p>
          <a:p>
            <a:pPr defTabSz="915988">
              <a:buNone/>
              <a:tabLst>
                <a:tab pos="684213" algn="l"/>
                <a:tab pos="1250950" algn="l"/>
              </a:tabLst>
            </a:pPr>
            <a:r>
              <a:rPr lang="en-US" altLang="en-US" sz="1700" dirty="0" smtClean="0"/>
              <a:t>Note</a:t>
            </a:r>
            <a:r>
              <a:rPr lang="en-US" altLang="en-US" sz="1700" dirty="0"/>
              <a:t>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6" y="2483466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52613"/>
            <a:ext cx="8077200" cy="4572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07156"/>
            <a:ext cx="8077200" cy="4572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829865"/>
            <a:ext cx="7384238" cy="3151869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2851707"/>
            <a:ext cx="56578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6" y="1354850"/>
            <a:ext cx="52752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09791"/>
            <a:ext cx="8077200" cy="4572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2" y="829867"/>
            <a:ext cx="6800849" cy="535781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i="1" dirty="0">
                <a:sym typeface="Symbol" panose="05050102010706020507" pitchFamily="18" charset="2"/>
              </a:rPr>
              <a:t/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9" y="1464469"/>
            <a:ext cx="7805737" cy="3175397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1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31057"/>
            <a:ext cx="7680705" cy="549688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5" y="1332740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41773"/>
            <a:ext cx="6694488" cy="286940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314451"/>
            <a:ext cx="6800850" cy="3164681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4"/>
              <a:ext cx="45720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6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6"/>
            <a:ext cx="7603292" cy="208707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 smtClean="0"/>
              <a:t>Ø</a:t>
            </a:r>
          </a:p>
          <a:p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用于解决集合包含问题，方法重要</a:t>
            </a:r>
            <a:endParaRPr lang="en-US" altLang="en-US" sz="1700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0342"/>
            <a:ext cx="7851697" cy="3677840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FF0000"/>
                </a:solidFill>
              </a:rPr>
              <a:t>Correlated subquery </a:t>
            </a:r>
            <a:r>
              <a:rPr lang="en-US" altLang="en-US" sz="1700" dirty="0"/>
              <a:t>– the inner query </a:t>
            </a:r>
            <a:r>
              <a:rPr lang="zh-CN" altLang="en-US" sz="17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相关子查询</a:t>
            </a:r>
            <a:endParaRPr lang="en-US" altLang="en-US" sz="1700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591672"/>
            <a:ext cx="7570436" cy="3697138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</a:t>
            </a:r>
            <a:r>
              <a:rPr lang="en-US" altLang="en-US" sz="1700" dirty="0" smtClean="0"/>
              <a:t>.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607409" y="1188418"/>
            <a:ext cx="6834476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400" b="1" dirty="0"/>
              <a:t>select distinct </a:t>
            </a:r>
            <a:r>
              <a:rPr kumimoji="1" lang="en-US" altLang="en-US" sz="1400" i="1" dirty="0"/>
              <a:t>S</a:t>
            </a:r>
            <a:r>
              <a:rPr kumimoji="1" lang="en-US" altLang="en-US" sz="1400" dirty="0"/>
              <a:t>.</a:t>
            </a:r>
            <a:r>
              <a:rPr kumimoji="1" lang="en-US" altLang="en-US" sz="1400" i="1" dirty="0"/>
              <a:t>ID</a:t>
            </a:r>
            <a:r>
              <a:rPr kumimoji="1" lang="en-US" altLang="en-US" sz="1400" dirty="0"/>
              <a:t>, </a:t>
            </a:r>
            <a:r>
              <a:rPr kumimoji="1" lang="en-US" altLang="en-US" sz="1400" i="1" dirty="0"/>
              <a:t>S</a:t>
            </a:r>
            <a:r>
              <a:rPr kumimoji="1" lang="en-US" altLang="en-US" sz="1400" dirty="0"/>
              <a:t>.</a:t>
            </a:r>
            <a:r>
              <a:rPr kumimoji="1" lang="en-US" altLang="en-US" sz="1400" i="1" dirty="0"/>
              <a:t>name</a:t>
            </a:r>
          </a:p>
          <a:p>
            <a:r>
              <a:rPr kumimoji="1" lang="en-US" altLang="en-US" sz="1400" b="1" dirty="0"/>
              <a:t>from </a:t>
            </a:r>
            <a:r>
              <a:rPr kumimoji="1" lang="en-US" altLang="en-US" sz="1400" i="1" dirty="0"/>
              <a:t>student </a:t>
            </a:r>
            <a:r>
              <a:rPr kumimoji="1" lang="en-US" altLang="en-US" sz="1400" b="1" dirty="0"/>
              <a:t>as </a:t>
            </a:r>
            <a:r>
              <a:rPr kumimoji="1" lang="en-US" altLang="en-US" sz="1400" i="1" dirty="0"/>
              <a:t>S</a:t>
            </a:r>
          </a:p>
          <a:p>
            <a:r>
              <a:rPr kumimoji="1" lang="en-US" altLang="en-US" sz="1400" b="1" dirty="0"/>
              <a:t>where not exists </a:t>
            </a:r>
            <a:r>
              <a:rPr kumimoji="1" lang="en-US" altLang="en-US" sz="1400" dirty="0"/>
              <a:t>( (</a:t>
            </a:r>
            <a:r>
              <a:rPr kumimoji="1" lang="en-US" altLang="en-US" sz="1400" b="1" dirty="0"/>
              <a:t>select </a:t>
            </a:r>
            <a:r>
              <a:rPr kumimoji="1" lang="en-US" altLang="en-US" sz="1400" i="1" dirty="0" err="1"/>
              <a:t>course_id</a:t>
            </a:r>
            <a:endParaRPr kumimoji="1" lang="en-US" altLang="en-US" sz="1400" i="1" dirty="0"/>
          </a:p>
          <a:p>
            <a:r>
              <a:rPr kumimoji="1" lang="en-US" altLang="en-US" sz="1400" b="1" dirty="0"/>
              <a:t>                                 from </a:t>
            </a:r>
            <a:r>
              <a:rPr kumimoji="1" lang="en-US" altLang="en-US" sz="1400" i="1" dirty="0"/>
              <a:t>course</a:t>
            </a:r>
          </a:p>
          <a:p>
            <a:r>
              <a:rPr kumimoji="1" lang="en-US" altLang="en-US" sz="1400" b="1" dirty="0"/>
              <a:t>                                 where </a:t>
            </a:r>
            <a:r>
              <a:rPr kumimoji="1" lang="en-US" altLang="en-US" sz="1400" i="1" dirty="0" err="1"/>
              <a:t>dept_name</a:t>
            </a:r>
            <a:r>
              <a:rPr kumimoji="1" lang="en-US" altLang="en-US" sz="1400" i="1" dirty="0"/>
              <a:t> </a:t>
            </a:r>
            <a:r>
              <a:rPr kumimoji="1" lang="en-US" altLang="en-US" sz="1400" dirty="0"/>
              <a:t>= 'Biology')</a:t>
            </a:r>
          </a:p>
          <a:p>
            <a:r>
              <a:rPr kumimoji="1" lang="en-US" altLang="en-US" sz="1400" b="1" dirty="0"/>
              <a:t>                               except</a:t>
            </a:r>
          </a:p>
          <a:p>
            <a:r>
              <a:rPr kumimoji="1" lang="en-US" altLang="en-US" sz="1400" dirty="0"/>
              <a:t>                                 (</a:t>
            </a:r>
            <a:r>
              <a:rPr kumimoji="1" lang="en-US" altLang="en-US" sz="1400" b="1" dirty="0"/>
              <a:t>select </a:t>
            </a:r>
            <a:r>
              <a:rPr kumimoji="1" lang="en-US" altLang="en-US" sz="1400" i="1" dirty="0" err="1"/>
              <a:t>T</a:t>
            </a:r>
            <a:r>
              <a:rPr kumimoji="1" lang="en-US" altLang="en-US" sz="1400" dirty="0" err="1"/>
              <a:t>.</a:t>
            </a:r>
            <a:r>
              <a:rPr kumimoji="1" lang="en-US" altLang="en-US" sz="1400" i="1" dirty="0" err="1"/>
              <a:t>course_id</a:t>
            </a:r>
            <a:endParaRPr kumimoji="1" lang="en-US" altLang="en-US" sz="1400" i="1" dirty="0"/>
          </a:p>
          <a:p>
            <a:r>
              <a:rPr kumimoji="1" lang="en-US" altLang="en-US" sz="1400" b="1" dirty="0"/>
              <a:t>                                   from </a:t>
            </a:r>
            <a:r>
              <a:rPr kumimoji="1" lang="en-US" altLang="en-US" sz="1400" i="1" dirty="0"/>
              <a:t>takes </a:t>
            </a:r>
            <a:r>
              <a:rPr kumimoji="1" lang="en-US" altLang="en-US" sz="1400" b="1" dirty="0"/>
              <a:t>as </a:t>
            </a:r>
            <a:r>
              <a:rPr kumimoji="1" lang="en-US" altLang="en-US" sz="1400" i="1" dirty="0"/>
              <a:t>T</a:t>
            </a:r>
          </a:p>
          <a:p>
            <a:r>
              <a:rPr kumimoji="1" lang="en-US" altLang="en-US" sz="1400" b="1" dirty="0"/>
              <a:t>                                   where </a:t>
            </a:r>
            <a:r>
              <a:rPr kumimoji="1" lang="en-US" altLang="en-US" sz="1400" i="1" dirty="0"/>
              <a:t>S</a:t>
            </a:r>
            <a:r>
              <a:rPr kumimoji="1" lang="en-US" altLang="en-US" sz="1400" dirty="0"/>
              <a:t>.</a:t>
            </a:r>
            <a:r>
              <a:rPr kumimoji="1" lang="en-US" altLang="en-US" sz="1400" i="1" dirty="0"/>
              <a:t>ID </a:t>
            </a:r>
            <a:r>
              <a:rPr kumimoji="1" lang="en-US" altLang="en-US" sz="1400" dirty="0"/>
              <a:t>= </a:t>
            </a:r>
            <a:r>
              <a:rPr kumimoji="1" lang="en-US" altLang="en-US" sz="1400" i="1" dirty="0"/>
              <a:t>T</a:t>
            </a:r>
            <a:r>
              <a:rPr kumimoji="1" lang="en-US" altLang="en-US" sz="1400" dirty="0"/>
              <a:t>.</a:t>
            </a:r>
            <a:r>
              <a:rPr kumimoji="1" lang="en-US" altLang="en-US" sz="1400" i="1" dirty="0"/>
              <a:t>ID</a:t>
            </a:r>
            <a:r>
              <a:rPr kumimoji="1" lang="en-US" altLang="en-US" sz="14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4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600" dirty="0"/>
          </a:p>
          <a:p>
            <a:endParaRPr kumimoji="1" lang="en-US" alt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14300"/>
            <a:ext cx="8077200" cy="4572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825485"/>
            <a:ext cx="7499160" cy="3275409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14300"/>
            <a:ext cx="8077200" cy="4572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825485"/>
            <a:ext cx="7499160" cy="3275409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b="1" dirty="0"/>
              <a:t>1&gt;=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count(*)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  <p:extLst>
      <p:ext uri="{BB962C8B-B14F-4D97-AF65-F5344CB8AC3E}">
        <p14:creationId xmlns:p14="http://schemas.microsoft.com/office/powerpoint/2010/main" xmlns="" val="3362612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52613"/>
            <a:ext cx="8077200" cy="4572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02434"/>
            <a:ext cx="7443495" cy="36576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/>
              <a:t>SQL allows a subquery expression to be used in the </a:t>
            </a:r>
            <a:r>
              <a:rPr lang="en-US" altLang="en-US" sz="1600" b="1" dirty="0"/>
              <a:t>from </a:t>
            </a:r>
            <a:r>
              <a:rPr lang="en-US" altLang="en-US" sz="16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b="1" dirty="0"/>
              <a:t>     select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avg_salary</a:t>
            </a:r>
            <a:r>
              <a:rPr lang="en-US" altLang="en-US" sz="1600" i="1" dirty="0"/>
              <a:t/>
            </a:r>
            <a:br>
              <a:rPr lang="en-US" altLang="en-US" sz="1600" i="1" dirty="0"/>
            </a:br>
            <a:r>
              <a:rPr lang="en-US" altLang="en-US" sz="1600" b="1" dirty="0"/>
              <a:t>from </a:t>
            </a:r>
            <a:r>
              <a:rPr lang="en-US" altLang="en-US" sz="1600" dirty="0"/>
              <a:t>( 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, </a:t>
            </a:r>
            <a:r>
              <a:rPr lang="en-US" altLang="en-US" sz="1600" b="1" dirty="0" err="1"/>
              <a:t>avg</a:t>
            </a:r>
            <a:r>
              <a:rPr lang="en-US" altLang="en-US" sz="1600" b="1" dirty="0"/>
              <a:t> </a:t>
            </a:r>
            <a:r>
              <a:rPr lang="en-US" altLang="en-US" sz="1600" dirty="0"/>
              <a:t>(</a:t>
            </a:r>
            <a:r>
              <a:rPr lang="en-US" altLang="en-US" sz="1600" i="1" dirty="0"/>
              <a:t>salary</a:t>
            </a:r>
            <a:r>
              <a:rPr lang="en-US" altLang="en-US" sz="1600" dirty="0"/>
              <a:t>) </a:t>
            </a:r>
            <a:r>
              <a:rPr lang="en-US" altLang="en-US" sz="1600" b="1" dirty="0"/>
              <a:t>as </a:t>
            </a:r>
            <a:r>
              <a:rPr lang="en-US" altLang="en-US" sz="1600" i="1" dirty="0" err="1"/>
              <a:t>avg_salary</a:t>
            </a:r>
            <a:r>
              <a:rPr lang="en-US" altLang="en-US" sz="1600" i="1" dirty="0"/>
              <a:t/>
            </a:r>
            <a:br>
              <a:rPr lang="en-US" altLang="en-US" sz="1600" i="1" dirty="0"/>
            </a:br>
            <a:r>
              <a:rPr lang="en-US" altLang="en-US" sz="1600" i="1" dirty="0"/>
              <a:t>         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i="1" dirty="0"/>
              <a:t>           </a:t>
            </a:r>
            <a:r>
              <a:rPr lang="en-US" altLang="en-US" sz="1600" b="1" dirty="0"/>
              <a:t>group by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b="1" dirty="0"/>
              <a:t>where </a:t>
            </a:r>
            <a:r>
              <a:rPr lang="en-US" altLang="en-US" sz="1600" i="1" dirty="0" err="1"/>
              <a:t>avg_salary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/>
              <a:t>Note that we do not need to use the </a:t>
            </a:r>
            <a:r>
              <a:rPr lang="en-US" altLang="en-US" sz="1600" b="1" dirty="0"/>
              <a:t>having </a:t>
            </a:r>
            <a:r>
              <a:rPr lang="en-US" altLang="en-US" sz="16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sz="1600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02434"/>
            <a:ext cx="7443495" cy="36576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/>
              <a:t>SQL allows a subquery expression to be used in the </a:t>
            </a:r>
            <a:r>
              <a:rPr lang="en-US" altLang="en-US" sz="1600" b="1" dirty="0"/>
              <a:t>from </a:t>
            </a:r>
            <a:r>
              <a:rPr lang="en-US" altLang="en-US" sz="16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/>
              <a:t>Find the average instructors’ salaries of those departments where the average salary is greater than $42,000.”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 smtClean="0"/>
              <a:t>Another </a:t>
            </a:r>
            <a:r>
              <a:rPr lang="en-US" altLang="en-US" sz="1600" dirty="0"/>
              <a:t>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7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b="1" dirty="0"/>
              <a:t>     select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avg_salary</a:t>
            </a:r>
            <a:r>
              <a:rPr lang="en-US" altLang="en-US" sz="1600" i="1" dirty="0"/>
              <a:t/>
            </a:r>
            <a:br>
              <a:rPr lang="en-US" altLang="en-US" sz="1600" i="1" dirty="0"/>
            </a:br>
            <a:r>
              <a:rPr lang="en-US" altLang="en-US" sz="1600" b="1" dirty="0"/>
              <a:t>from </a:t>
            </a:r>
            <a:r>
              <a:rPr lang="en-US" altLang="en-US" sz="1600" dirty="0"/>
              <a:t>( 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, </a:t>
            </a:r>
            <a:r>
              <a:rPr lang="en-US" altLang="en-US" sz="1600" b="1" dirty="0" err="1"/>
              <a:t>avg</a:t>
            </a:r>
            <a:r>
              <a:rPr lang="en-US" altLang="en-US" sz="1600" b="1" dirty="0"/>
              <a:t> </a:t>
            </a:r>
            <a:r>
              <a:rPr lang="en-US" altLang="en-US" sz="1600" dirty="0"/>
              <a:t>(</a:t>
            </a:r>
            <a:r>
              <a:rPr lang="en-US" altLang="en-US" sz="1600" i="1" dirty="0"/>
              <a:t>salary</a:t>
            </a:r>
            <a:r>
              <a:rPr lang="en-US" altLang="en-US" sz="1600" dirty="0"/>
              <a:t>) </a:t>
            </a:r>
            <a:r>
              <a:rPr lang="en-US" altLang="en-US" sz="1600" i="1" dirty="0"/>
              <a:t/>
            </a:r>
            <a:br>
              <a:rPr lang="en-US" altLang="en-US" sz="1600" i="1" dirty="0"/>
            </a:br>
            <a:r>
              <a:rPr lang="en-US" altLang="en-US" sz="1600" i="1" dirty="0"/>
              <a:t>         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i="1" dirty="0"/>
              <a:t>           </a:t>
            </a:r>
            <a:r>
              <a:rPr lang="en-US" altLang="en-US" sz="1600" b="1" dirty="0"/>
              <a:t>group by 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b="1" dirty="0"/>
              <a:t>                </a:t>
            </a:r>
            <a:r>
              <a:rPr lang="en-US" altLang="en-US" sz="1600" b="1" dirty="0">
                <a:solidFill>
                  <a:srgbClr val="FF0000"/>
                </a:solidFill>
              </a:rPr>
              <a:t>as</a:t>
            </a:r>
            <a:r>
              <a:rPr lang="en-US" altLang="en-US" sz="1600" b="1" dirty="0"/>
              <a:t> </a:t>
            </a:r>
            <a:r>
              <a:rPr lang="en-US" altLang="en-US" sz="1600" i="1" dirty="0" err="1"/>
              <a:t>dept_avg</a:t>
            </a:r>
            <a:r>
              <a:rPr lang="en-US" altLang="en-US" sz="1600" i="1" dirty="0"/>
              <a:t> </a:t>
            </a:r>
            <a:r>
              <a:rPr lang="en-US" altLang="en-US" sz="1600" dirty="0"/>
              <a:t>(</a:t>
            </a:r>
            <a:r>
              <a:rPr lang="en-US" altLang="en-US" sz="1600" i="1" dirty="0"/>
              <a:t>dept_name</a:t>
            </a:r>
            <a:r>
              <a:rPr lang="en-US" altLang="en-US" sz="1600" dirty="0"/>
              <a:t>, </a:t>
            </a:r>
            <a:r>
              <a:rPr lang="en-US" altLang="en-US" sz="1600" i="1" dirty="0" err="1"/>
              <a:t>avg_salary</a:t>
            </a:r>
            <a:r>
              <a:rPr lang="en-US" altLang="en-US" sz="16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b="1" dirty="0"/>
              <a:t>    where </a:t>
            </a:r>
            <a:r>
              <a:rPr lang="en-US" altLang="en-US" sz="1600" i="1" dirty="0" err="1"/>
              <a:t>avg_salary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42000;</a:t>
            </a:r>
          </a:p>
          <a:p>
            <a:pPr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600" dirty="0" smtClean="0"/>
              <a:t>     </a:t>
            </a:r>
            <a:r>
              <a:rPr lang="zh-CN" altLang="en-US" sz="1600" dirty="0" smtClean="0"/>
              <a:t>注意，这个</a:t>
            </a:r>
            <a:r>
              <a:rPr lang="en-US" altLang="zh-CN" sz="1600" dirty="0" smtClean="0"/>
              <a:t>as</a:t>
            </a:r>
            <a:r>
              <a:rPr lang="zh-CN" altLang="en-US" sz="1600" dirty="0" smtClean="0"/>
              <a:t>一般不能省略</a:t>
            </a:r>
            <a:endParaRPr lang="en-US" altLang="en-US" sz="1600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9867"/>
            <a:ext cx="7736457" cy="367784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r>
              <a:rPr lang="en-US" altLang="en-US" sz="1700" b="1" dirty="0"/>
              <a:t/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60822"/>
            <a:ext cx="7557504" cy="520398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381220"/>
            <a:ext cx="6858036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20342"/>
            <a:ext cx="7546594" cy="3541347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84535"/>
            <a:ext cx="8077200" cy="4572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858915"/>
            <a:ext cx="7420668" cy="235063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25588"/>
            <a:ext cx="8077200" cy="4572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857298"/>
            <a:ext cx="7634796" cy="3881438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823104"/>
            <a:ext cx="7875778" cy="610790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269301"/>
            <a:ext cx="6385650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08360"/>
            <a:ext cx="8077200" cy="3429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851559"/>
            <a:ext cx="7652552" cy="3440382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184547"/>
            <a:ext cx="8058150" cy="3429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4" y="829866"/>
            <a:ext cx="7561407" cy="3806142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92869"/>
            <a:ext cx="8077200" cy="4572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829009"/>
            <a:ext cx="7634796" cy="36576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92869"/>
            <a:ext cx="8077200" cy="4572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7" y="825624"/>
            <a:ext cx="7634795" cy="2959993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60722"/>
            <a:ext cx="8077200" cy="4572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820342"/>
            <a:ext cx="7228909" cy="1932002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792910"/>
            <a:ext cx="7656559" cy="3404187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93335</TotalTime>
  <Words>3054</Words>
  <Application>Microsoft Office PowerPoint</Application>
  <PresentationFormat>全屏显示(16:9)</PresentationFormat>
  <Paragraphs>631</Paragraphs>
  <Slides>70</Slides>
  <Notes>64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  <vt:variant>
        <vt:lpstr>自定义放映</vt:lpstr>
      </vt:variant>
      <vt:variant>
        <vt:i4>1</vt:i4>
      </vt:variant>
    </vt:vector>
  </HeadingPairs>
  <TitlesOfParts>
    <vt:vector size="72" baseType="lpstr"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Cartesian Product: instructor X teaches</vt:lpstr>
      <vt:lpstr>Joins 连接</vt:lpstr>
      <vt:lpstr>Examples</vt:lpstr>
      <vt:lpstr>The meaning of an SQL query</vt:lpstr>
      <vt:lpstr>Natural Join</vt:lpstr>
      <vt:lpstr>Natural Join Example</vt:lpstr>
      <vt:lpstr>Natural Join (Cont.)</vt:lpstr>
      <vt:lpstr>The Rename Operation 更名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Test for Absence of Duplicate Tuples</vt:lpstr>
      <vt:lpstr>Subqueries in the From Clause</vt:lpstr>
      <vt:lpstr>Subqueries in the Form Clause</vt:lpstr>
      <vt:lpstr>Subqueries in the Form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postgres</cp:lastModifiedBy>
  <cp:revision>494</cp:revision>
  <cp:lastPrinted>1999-06-28T19:27:31Z</cp:lastPrinted>
  <dcterms:created xsi:type="dcterms:W3CDTF">2009-12-21T15:40:22Z</dcterms:created>
  <dcterms:modified xsi:type="dcterms:W3CDTF">2026-08-29T07:17:55Z</dcterms:modified>
</cp:coreProperties>
</file>