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Default Extension="svg" ContentType="image/svg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Override PartName="/ppt/notesSlides/notesSlide27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25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23.xml" ContentType="application/vnd.openxmlformats-officedocument.presentationml.notesSlide+xml"/>
  <Override PartName="/ppt/commentAuthors.xml" ContentType="application/vnd.openxmlformats-officedocument.presentationml.commentAuthors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Layouts/slideLayout12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6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32"/>
  </p:notesMasterIdLst>
  <p:handoutMasterIdLst>
    <p:handoutMasterId r:id="rId33"/>
  </p:handoutMasterIdLst>
  <p:sldIdLst>
    <p:sldId id="335" r:id="rId2"/>
    <p:sldId id="336" r:id="rId3"/>
    <p:sldId id="337" r:id="rId4"/>
    <p:sldId id="367" r:id="rId5"/>
    <p:sldId id="338" r:id="rId6"/>
    <p:sldId id="364" r:id="rId7"/>
    <p:sldId id="340" r:id="rId8"/>
    <p:sldId id="341" r:id="rId9"/>
    <p:sldId id="342" r:id="rId10"/>
    <p:sldId id="343" r:id="rId11"/>
    <p:sldId id="344" r:id="rId12"/>
    <p:sldId id="345" r:id="rId13"/>
    <p:sldId id="368" r:id="rId14"/>
    <p:sldId id="347" r:id="rId15"/>
    <p:sldId id="348" r:id="rId16"/>
    <p:sldId id="349" r:id="rId17"/>
    <p:sldId id="350" r:id="rId18"/>
    <p:sldId id="351" r:id="rId19"/>
    <p:sldId id="352" r:id="rId20"/>
    <p:sldId id="353" r:id="rId21"/>
    <p:sldId id="354" r:id="rId22"/>
    <p:sldId id="355" r:id="rId23"/>
    <p:sldId id="356" r:id="rId24"/>
    <p:sldId id="357" r:id="rId25"/>
    <p:sldId id="358" r:id="rId26"/>
    <p:sldId id="359" r:id="rId27"/>
    <p:sldId id="360" r:id="rId28"/>
    <p:sldId id="361" r:id="rId29"/>
    <p:sldId id="362" r:id="rId30"/>
    <p:sldId id="363" r:id="rId31"/>
  </p:sldIdLst>
  <p:sldSz cx="12192000" cy="6858000"/>
  <p:notesSz cx="6997700" cy="9283700"/>
  <p:custShowLst>
    <p:custShow name="Custom Show 1" id="0">
      <p:sldLst>
        <p:sld r:id="rId2"/>
      </p:sldLst>
    </p:custShow>
  </p:custShow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707">
          <p15:clr>
            <a:srgbClr val="A4A3A4"/>
          </p15:clr>
        </p15:guide>
        <p15:guide id="2" pos="576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S Sudarshan" initials="SS" lastIdx="1" clrIdx="1">
    <p:extLst>
      <p:ext uri="{19B8F6BF-5375-455C-9EA6-DF929625EA0E}">
        <p15:presenceInfo xmlns:p15="http://schemas.microsoft.com/office/powerpoint/2012/main" xmlns="" userId="b463bc06a992a747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FF9933"/>
    <a:srgbClr val="000099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32767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9022" autoAdjust="0"/>
    <p:restoredTop sz="96517" autoAdjust="0"/>
  </p:normalViewPr>
  <p:slideViewPr>
    <p:cSldViewPr snapToGrid="0">
      <p:cViewPr varScale="1">
        <p:scale>
          <a:sx n="68" d="100"/>
          <a:sy n="68" d="100"/>
        </p:scale>
        <p:origin x="-654" y="-96"/>
      </p:cViewPr>
      <p:guideLst>
        <p:guide orient="horz" pos="707"/>
        <p:guide pos="57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handoutMaster" Target="handoutMasters/handout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266" name="Rectangle 2">
            <a:extLst>
              <a:ext uri="{FF2B5EF4-FFF2-40B4-BE49-F238E27FC236}">
                <a16:creationId xmlns:a16="http://schemas.microsoft.com/office/drawing/2014/main" xmlns="" id="{C6EF5354-BFFB-44DF-8FA7-1A088153BD8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7" tIns="46514" rIns="93027" bIns="46514" numCol="1" anchor="t" anchorCtr="0" compatLnSpc="1">
            <a:prstTxWarp prst="textNoShape">
              <a:avLst/>
            </a:prstTxWarp>
          </a:bodyPr>
          <a:lstStyle>
            <a:lvl1pPr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67267" name="Rectangle 3">
            <a:extLst>
              <a:ext uri="{FF2B5EF4-FFF2-40B4-BE49-F238E27FC236}">
                <a16:creationId xmlns:a16="http://schemas.microsoft.com/office/drawing/2014/main" xmlns="" id="{5BBF6CF9-ADFE-4F6E-89A0-8CB582D8FFC5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65575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7" tIns="46514" rIns="93027" bIns="46514" numCol="1" anchor="t" anchorCtr="0" compatLnSpc="1">
            <a:prstTxWarp prst="textNoShape">
              <a:avLst/>
            </a:prstTxWarp>
          </a:bodyPr>
          <a:lstStyle>
            <a:lvl1pPr algn="r"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67268" name="Rectangle 4">
            <a:extLst>
              <a:ext uri="{FF2B5EF4-FFF2-40B4-BE49-F238E27FC236}">
                <a16:creationId xmlns:a16="http://schemas.microsoft.com/office/drawing/2014/main" xmlns="" id="{8C120FC7-7BCE-4696-BB5D-C087861E4B4E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7" tIns="46514" rIns="93027" bIns="46514" numCol="1" anchor="b" anchorCtr="0" compatLnSpc="1">
            <a:prstTxWarp prst="textNoShape">
              <a:avLst/>
            </a:prstTxWarp>
          </a:bodyPr>
          <a:lstStyle>
            <a:lvl1pPr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67269" name="Rectangle 5">
            <a:extLst>
              <a:ext uri="{FF2B5EF4-FFF2-40B4-BE49-F238E27FC236}">
                <a16:creationId xmlns:a16="http://schemas.microsoft.com/office/drawing/2014/main" xmlns="" id="{6735A123-7D3E-455E-AB82-1C3749BB052A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7" tIns="46514" rIns="93027" bIns="46514" numCol="1" anchor="b" anchorCtr="0" compatLnSpc="1">
            <a:prstTxWarp prst="textNoShape">
              <a:avLst/>
            </a:prstTxWarp>
          </a:bodyPr>
          <a:lstStyle>
            <a:lvl1pPr algn="r" defTabSz="930275">
              <a:defRPr sz="1300"/>
            </a:lvl1pPr>
          </a:lstStyle>
          <a:p>
            <a:pPr>
              <a:defRPr/>
            </a:pPr>
            <a:fld id="{A8B4C920-550B-4EA7-9CB5-2D8883A273B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642" name="Rectangle 2">
            <a:extLst>
              <a:ext uri="{FF2B5EF4-FFF2-40B4-BE49-F238E27FC236}">
                <a16:creationId xmlns:a16="http://schemas.microsoft.com/office/drawing/2014/main" xmlns="" id="{2E8AF117-EF14-4BF3-AB7D-D75C4F934CC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t" anchorCtr="0" compatLnSpc="1">
            <a:prstTxWarp prst="textNoShape">
              <a:avLst/>
            </a:prstTxWarp>
          </a:bodyPr>
          <a:lstStyle>
            <a:lvl1pPr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40643" name="Rectangle 3">
            <a:extLst>
              <a:ext uri="{FF2B5EF4-FFF2-40B4-BE49-F238E27FC236}">
                <a16:creationId xmlns:a16="http://schemas.microsoft.com/office/drawing/2014/main" xmlns="" id="{D7D2DA5C-BED3-45D1-AFD2-94AF29863ABC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965575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t" anchorCtr="0" compatLnSpc="1">
            <a:prstTxWarp prst="textNoShape">
              <a:avLst/>
            </a:prstTxWarp>
          </a:bodyPr>
          <a:lstStyle>
            <a:lvl1pPr algn="r"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xmlns="" id="{A2936E5F-4C9B-4144-9261-C3F188AA67D9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77925" y="696913"/>
            <a:ext cx="4641850" cy="34813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240645" name="Rectangle 5">
            <a:extLst>
              <a:ext uri="{FF2B5EF4-FFF2-40B4-BE49-F238E27FC236}">
                <a16:creationId xmlns:a16="http://schemas.microsoft.com/office/drawing/2014/main" xmlns="" id="{D73F14C5-05F8-4300-9D01-F3633C854740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1863" y="4410075"/>
            <a:ext cx="5133975" cy="417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40646" name="Rectangle 6">
            <a:extLst>
              <a:ext uri="{FF2B5EF4-FFF2-40B4-BE49-F238E27FC236}">
                <a16:creationId xmlns:a16="http://schemas.microsoft.com/office/drawing/2014/main" xmlns="" id="{BCB6CAD9-A006-4455-8054-9CACB290288C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b" anchorCtr="0" compatLnSpc="1">
            <a:prstTxWarp prst="textNoShape">
              <a:avLst/>
            </a:prstTxWarp>
          </a:bodyPr>
          <a:lstStyle>
            <a:lvl1pPr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40647" name="Rectangle 7">
            <a:extLst>
              <a:ext uri="{FF2B5EF4-FFF2-40B4-BE49-F238E27FC236}">
                <a16:creationId xmlns:a16="http://schemas.microsoft.com/office/drawing/2014/main" xmlns="" id="{63060AD7-0C3D-477B-BD60-55C8EBDB945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b" anchorCtr="0" compatLnSpc="1">
            <a:prstTxWarp prst="textNoShape">
              <a:avLst/>
            </a:prstTxWarp>
          </a:bodyPr>
          <a:lstStyle>
            <a:lvl1pPr algn="r" defTabSz="930275">
              <a:defRPr sz="1300"/>
            </a:lvl1pPr>
          </a:lstStyle>
          <a:p>
            <a:pPr>
              <a:defRPr/>
            </a:pPr>
            <a:fld id="{AE66C03C-4B0E-4149-8287-A3B340EB818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>
            <a:extLst>
              <a:ext uri="{FF2B5EF4-FFF2-40B4-BE49-F238E27FC236}">
                <a16:creationId xmlns:a16="http://schemas.microsoft.com/office/drawing/2014/main" xmlns="" id="{1DE2DCE1-2EFC-4C42-8DFC-CBA6F33233E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01637794-A468-4EC6-9DD2-8F932E639220}" type="slidenum">
              <a:rPr lang="en-US" altLang="en-US" sz="1300" smtClean="0"/>
              <a:pPr/>
              <a:t>1</a:t>
            </a:fld>
            <a:endParaRPr lang="en-US" altLang="en-US" sz="1300"/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xmlns="" id="{607B12F9-7FC5-42D0-9964-0865785D1C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xmlns="" id="{2BC6D4DE-B9DA-4FD2-A997-14A566E8D5B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A5814F0E-33C5-4FFC-97A8-A1EDBAA0258F}" type="slidenum">
              <a:rPr lang="en-US" altLang="en-US" sz="1200"/>
              <a:pPr/>
              <a:t>2</a:t>
            </a:fld>
            <a:endParaRPr lang="en-US" altLang="en-US" sz="1200" dirty="0"/>
          </a:p>
        </p:txBody>
      </p:sp>
      <p:sp>
        <p:nvSpPr>
          <p:cNvPr id="72706" name="Rectangle 2"/>
          <p:cNvSpPr>
            <a:spLocks noChangeArrowheads="1"/>
          </p:cNvSpPr>
          <p:nvPr/>
        </p:nvSpPr>
        <p:spPr bwMode="auto">
          <a:xfrm>
            <a:off x="3965991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72707" name="Rectangle 3"/>
          <p:cNvSpPr>
            <a:spLocks noChangeArrowheads="1"/>
          </p:cNvSpPr>
          <p:nvPr/>
        </p:nvSpPr>
        <p:spPr bwMode="auto">
          <a:xfrm>
            <a:off x="3965991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903" tIns="45146" rIns="91903" bIns="45146" anchor="b"/>
          <a:lstStyle>
            <a:lvl1pPr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r>
              <a:rPr lang="en-US" altLang="en-US" sz="1300" dirty="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72708" name="Rectangle 4"/>
          <p:cNvSpPr>
            <a:spLocks noChangeArrowheads="1"/>
          </p:cNvSpPr>
          <p:nvPr/>
        </p:nvSpPr>
        <p:spPr bwMode="auto">
          <a:xfrm>
            <a:off x="0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72709" name="Rectangle 5"/>
          <p:cNvSpPr>
            <a:spLocks noChangeArrowheads="1"/>
          </p:cNvSpPr>
          <p:nvPr/>
        </p:nvSpPr>
        <p:spPr bwMode="auto">
          <a:xfrm>
            <a:off x="0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72710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 w="12700" cap="flat"/>
        </p:spPr>
      </p:sp>
      <p:sp>
        <p:nvSpPr>
          <p:cNvPr id="72711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903" tIns="45146" rIns="91903" bIns="45146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1761" indent="-285293"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1171" indent="-228234"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97640" indent="-228234"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4108" indent="-228234"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0577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67045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3514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79982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B24B64C8-56F4-412C-A096-460A1996127B}" type="slidenum">
              <a:rPr lang="en-US" altLang="en-US" sz="1200"/>
              <a:pPr/>
              <a:t>3</a:t>
            </a:fld>
            <a:endParaRPr lang="en-US" altLang="en-US" sz="1200" dirty="0"/>
          </a:p>
        </p:txBody>
      </p:sp>
      <p:sp>
        <p:nvSpPr>
          <p:cNvPr id="307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4813" y="696913"/>
            <a:ext cx="6188075" cy="3481387"/>
          </a:xfrm>
          <a:ln/>
        </p:spPr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A5814F0E-33C5-4FFC-97A8-A1EDBAA0258F}" type="slidenum">
              <a:rPr lang="en-US" altLang="en-US" sz="1200"/>
              <a:pPr/>
              <a:t>4</a:t>
            </a:fld>
            <a:endParaRPr lang="en-US" altLang="en-US" sz="1200" dirty="0"/>
          </a:p>
        </p:txBody>
      </p:sp>
      <p:sp>
        <p:nvSpPr>
          <p:cNvPr id="72706" name="Rectangle 2"/>
          <p:cNvSpPr>
            <a:spLocks noChangeArrowheads="1"/>
          </p:cNvSpPr>
          <p:nvPr/>
        </p:nvSpPr>
        <p:spPr bwMode="auto">
          <a:xfrm>
            <a:off x="3965991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72707" name="Rectangle 3"/>
          <p:cNvSpPr>
            <a:spLocks noChangeArrowheads="1"/>
          </p:cNvSpPr>
          <p:nvPr/>
        </p:nvSpPr>
        <p:spPr bwMode="auto">
          <a:xfrm>
            <a:off x="3965991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903" tIns="45146" rIns="91903" bIns="45146" anchor="b"/>
          <a:lstStyle>
            <a:lvl1pPr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r>
              <a:rPr lang="en-US" altLang="en-US" sz="1300" dirty="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72708" name="Rectangle 4"/>
          <p:cNvSpPr>
            <a:spLocks noChangeArrowheads="1"/>
          </p:cNvSpPr>
          <p:nvPr/>
        </p:nvSpPr>
        <p:spPr bwMode="auto">
          <a:xfrm>
            <a:off x="0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72709" name="Rectangle 5"/>
          <p:cNvSpPr>
            <a:spLocks noChangeArrowheads="1"/>
          </p:cNvSpPr>
          <p:nvPr/>
        </p:nvSpPr>
        <p:spPr bwMode="auto">
          <a:xfrm>
            <a:off x="0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72710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17513" y="703263"/>
            <a:ext cx="6162675" cy="3467100"/>
          </a:xfrm>
          <a:ln w="12700" cap="flat"/>
        </p:spPr>
      </p:sp>
      <p:sp>
        <p:nvSpPr>
          <p:cNvPr id="72711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903" tIns="45146" rIns="91903" bIns="45146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4814928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1761" indent="-285293"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1171" indent="-228234"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97640" indent="-228234"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4108" indent="-228234"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0577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67045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3514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79982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348DD873-39B1-4B0F-9E11-CA0A5E740CE2}" type="slidenum">
              <a:rPr lang="en-US" altLang="en-US" sz="1200"/>
              <a:pPr/>
              <a:t>5</a:t>
            </a:fld>
            <a:endParaRPr lang="en-US" altLang="en-US" sz="1200" dirty="0"/>
          </a:p>
        </p:txBody>
      </p:sp>
      <p:sp>
        <p:nvSpPr>
          <p:cNvPr id="317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4813" y="696913"/>
            <a:ext cx="6188075" cy="3481387"/>
          </a:xfrm>
          <a:ln/>
        </p:spPr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1761" indent="-285293"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1171" indent="-228234"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97640" indent="-228234"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4108" indent="-228234"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0577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67045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3514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79982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348DD873-39B1-4B0F-9E11-CA0A5E740CE2}" type="slidenum">
              <a:rPr lang="en-US" altLang="en-US" sz="1200"/>
              <a:pPr/>
              <a:t>6</a:t>
            </a:fld>
            <a:endParaRPr lang="en-US" altLang="en-US" sz="1200" dirty="0"/>
          </a:p>
        </p:txBody>
      </p:sp>
      <p:sp>
        <p:nvSpPr>
          <p:cNvPr id="317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4813" y="696913"/>
            <a:ext cx="6188075" cy="3481387"/>
          </a:xfrm>
          <a:ln/>
        </p:spPr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1761" indent="-285293"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1171" indent="-228234"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97640" indent="-228234"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4108" indent="-228234"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0577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67045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3514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79982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CA82168F-E865-405F-BB81-ED9E0172F23B}" type="slidenum">
              <a:rPr lang="en-US" altLang="en-US" sz="1200"/>
              <a:pPr/>
              <a:t>7</a:t>
            </a:fld>
            <a:endParaRPr lang="en-US" altLang="en-US" sz="1200" dirty="0"/>
          </a:p>
        </p:txBody>
      </p:sp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4813" y="696913"/>
            <a:ext cx="6188075" cy="3481387"/>
          </a:xfrm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1761" indent="-285293"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1171" indent="-228234"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97640" indent="-228234"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4108" indent="-228234"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0577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67045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3514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79982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CA82168F-E865-405F-BB81-ED9E0172F23B}" type="slidenum">
              <a:rPr lang="en-US" altLang="en-US" sz="1200"/>
              <a:pPr/>
              <a:t>8</a:t>
            </a:fld>
            <a:endParaRPr lang="en-US" altLang="en-US" sz="1200" dirty="0"/>
          </a:p>
        </p:txBody>
      </p:sp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4813" y="696913"/>
            <a:ext cx="6188075" cy="3481387"/>
          </a:xfrm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1761" indent="-285293"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1171" indent="-228234"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97640" indent="-228234"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4108" indent="-228234"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0577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67045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3514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79982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3F209238-363D-4A4D-99AF-38838EDEB568}" type="slidenum">
              <a:rPr lang="en-US" altLang="en-US" sz="1200"/>
              <a:pPr/>
              <a:t>10</a:t>
            </a:fld>
            <a:endParaRPr lang="en-US" altLang="en-US" sz="1200" dirty="0"/>
          </a:p>
        </p:txBody>
      </p:sp>
      <p:sp>
        <p:nvSpPr>
          <p:cNvPr id="358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4813" y="696913"/>
            <a:ext cx="6188075" cy="3481387"/>
          </a:xfrm>
          <a:ln/>
        </p:spPr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873" indent="-285721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2883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036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189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343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496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8649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5802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6CB64798-7BD6-4B88-81ED-0C1AFAB11F92}" type="slidenum">
              <a:rPr lang="en-US" altLang="en-US" sz="1300">
                <a:latin typeface="Times New Roman" panose="02020603050405020304" pitchFamily="18" charset="0"/>
              </a:rPr>
              <a:pPr/>
              <a:t>11</a:t>
            </a:fld>
            <a:endParaRPr lang="en-US" altLang="en-US" sz="1300" dirty="0">
              <a:latin typeface="Times New Roman" panose="02020603050405020304" pitchFamily="18" charset="0"/>
            </a:endParaRPr>
          </a:p>
        </p:txBody>
      </p:sp>
      <p:sp>
        <p:nvSpPr>
          <p:cNvPr id="33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4813" y="696913"/>
            <a:ext cx="6188075" cy="3481387"/>
          </a:xfrm>
          <a:ln/>
        </p:spPr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873" indent="-285721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2883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036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189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343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496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8649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5802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133648DA-533A-4CF4-BE6A-7CC0C8DD9180}" type="slidenum">
              <a:rPr lang="en-US" altLang="en-US" sz="1300">
                <a:latin typeface="Times New Roman" panose="02020603050405020304" pitchFamily="18" charset="0"/>
              </a:rPr>
              <a:pPr/>
              <a:t>12</a:t>
            </a:fld>
            <a:endParaRPr lang="en-US" altLang="en-US" sz="1300" dirty="0">
              <a:latin typeface="Times New Roman" panose="02020603050405020304" pitchFamily="18" charset="0"/>
            </a:endParaRPr>
          </a:p>
        </p:txBody>
      </p:sp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873" indent="-285721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2883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036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189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343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496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8649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5802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133648DA-533A-4CF4-BE6A-7CC0C8DD9180}" type="slidenum">
              <a:rPr lang="en-US" altLang="en-US" sz="1300">
                <a:latin typeface="Times New Roman" panose="02020603050405020304" pitchFamily="18" charset="0"/>
              </a:rPr>
              <a:pPr/>
              <a:t>13</a:t>
            </a:fld>
            <a:endParaRPr lang="en-US" altLang="en-US" sz="1300" dirty="0">
              <a:latin typeface="Times New Roman" panose="02020603050405020304" pitchFamily="18" charset="0"/>
            </a:endParaRPr>
          </a:p>
        </p:txBody>
      </p:sp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4813" y="696913"/>
            <a:ext cx="6188075" cy="3481387"/>
          </a:xfrm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22352127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873" indent="-285721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2883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036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189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343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496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8649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5802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1D4AE86D-105E-4E6D-B77F-4AC8A2CFF942}" type="slidenum">
              <a:rPr lang="en-US" altLang="en-US" sz="1300">
                <a:latin typeface="Times New Roman" panose="02020603050405020304" pitchFamily="18" charset="0"/>
              </a:rPr>
              <a:pPr/>
              <a:t>14</a:t>
            </a:fld>
            <a:endParaRPr lang="en-US" altLang="en-US" sz="1300" dirty="0">
              <a:latin typeface="Times New Roman" panose="02020603050405020304" pitchFamily="18" charset="0"/>
            </a:endParaRPr>
          </a:p>
        </p:txBody>
      </p:sp>
      <p:sp>
        <p:nvSpPr>
          <p:cNvPr id="358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873" indent="-285721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2883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036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189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343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496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8649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5802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1D4AE86D-105E-4E6D-B77F-4AC8A2CFF942}" type="slidenum">
              <a:rPr lang="en-US" altLang="en-US" sz="1300">
                <a:latin typeface="Times New Roman" panose="02020603050405020304" pitchFamily="18" charset="0"/>
              </a:rPr>
              <a:pPr/>
              <a:t>15</a:t>
            </a:fld>
            <a:endParaRPr lang="en-US" altLang="en-US" sz="1300" dirty="0">
              <a:latin typeface="Times New Roman" panose="02020603050405020304" pitchFamily="18" charset="0"/>
            </a:endParaRPr>
          </a:p>
        </p:txBody>
      </p:sp>
      <p:sp>
        <p:nvSpPr>
          <p:cNvPr id="358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873" indent="-285721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2883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036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189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343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496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8649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5802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6CB64798-7BD6-4B88-81ED-0C1AFAB11F92}" type="slidenum">
              <a:rPr lang="en-US" altLang="en-US" sz="1300">
                <a:latin typeface="Times New Roman" panose="02020603050405020304" pitchFamily="18" charset="0"/>
              </a:rPr>
              <a:pPr/>
              <a:t>16</a:t>
            </a:fld>
            <a:endParaRPr lang="en-US" altLang="en-US" sz="1300" dirty="0">
              <a:latin typeface="Times New Roman" panose="02020603050405020304" pitchFamily="18" charset="0"/>
            </a:endParaRPr>
          </a:p>
        </p:txBody>
      </p:sp>
      <p:sp>
        <p:nvSpPr>
          <p:cNvPr id="33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873" indent="-285721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2883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036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189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343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496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8649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5802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E04B7984-B6AD-4D3E-800B-506D1974D9BE}" type="slidenum">
              <a:rPr lang="en-US" altLang="en-US" sz="1300">
                <a:latin typeface="Times New Roman" panose="02020603050405020304" pitchFamily="18" charset="0"/>
              </a:rPr>
              <a:pPr/>
              <a:t>17</a:t>
            </a:fld>
            <a:endParaRPr lang="en-US" altLang="en-US" sz="1300" dirty="0">
              <a:latin typeface="Times New Roman" panose="02020603050405020304" pitchFamily="18" charset="0"/>
            </a:endParaRPr>
          </a:p>
        </p:txBody>
      </p:sp>
      <p:sp>
        <p:nvSpPr>
          <p:cNvPr id="399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873" indent="-285721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2883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036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189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343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496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8649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5802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E04B7984-B6AD-4D3E-800B-506D1974D9BE}" type="slidenum">
              <a:rPr lang="en-US" altLang="en-US" sz="1300">
                <a:latin typeface="Times New Roman" panose="02020603050405020304" pitchFamily="18" charset="0"/>
              </a:rPr>
              <a:pPr/>
              <a:t>18</a:t>
            </a:fld>
            <a:endParaRPr lang="en-US" altLang="en-US" sz="1300" dirty="0">
              <a:latin typeface="Times New Roman" panose="02020603050405020304" pitchFamily="18" charset="0"/>
            </a:endParaRPr>
          </a:p>
        </p:txBody>
      </p:sp>
      <p:sp>
        <p:nvSpPr>
          <p:cNvPr id="399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197690030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873" indent="-285721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2883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036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189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343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496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8649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5802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6CB64798-7BD6-4B88-81ED-0C1AFAB11F92}" type="slidenum">
              <a:rPr lang="en-US" altLang="en-US" sz="1300">
                <a:latin typeface="Times New Roman" panose="02020603050405020304" pitchFamily="18" charset="0"/>
              </a:rPr>
              <a:pPr/>
              <a:t>19</a:t>
            </a:fld>
            <a:endParaRPr lang="en-US" altLang="en-US" sz="1300" dirty="0">
              <a:latin typeface="Times New Roman" panose="02020603050405020304" pitchFamily="18" charset="0"/>
            </a:endParaRPr>
          </a:p>
        </p:txBody>
      </p:sp>
      <p:sp>
        <p:nvSpPr>
          <p:cNvPr id="33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873" indent="-285721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2883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036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189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343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496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8649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5802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6CB64798-7BD6-4B88-81ED-0C1AFAB11F92}" type="slidenum">
              <a:rPr lang="en-US" altLang="en-US" sz="1300">
                <a:latin typeface="Times New Roman" panose="02020603050405020304" pitchFamily="18" charset="0"/>
              </a:rPr>
              <a:pPr/>
              <a:t>20</a:t>
            </a:fld>
            <a:endParaRPr lang="en-US" altLang="en-US" sz="1300" dirty="0">
              <a:latin typeface="Times New Roman" panose="02020603050405020304" pitchFamily="18" charset="0"/>
            </a:endParaRPr>
          </a:p>
        </p:txBody>
      </p:sp>
      <p:sp>
        <p:nvSpPr>
          <p:cNvPr id="33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873" indent="-285721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2883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036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189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343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496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8649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5802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6CB64798-7BD6-4B88-81ED-0C1AFAB11F92}" type="slidenum">
              <a:rPr lang="en-US" altLang="en-US" sz="1300">
                <a:latin typeface="Times New Roman" panose="02020603050405020304" pitchFamily="18" charset="0"/>
              </a:rPr>
              <a:pPr/>
              <a:t>21</a:t>
            </a:fld>
            <a:endParaRPr lang="en-US" altLang="en-US" sz="1300" dirty="0">
              <a:latin typeface="Times New Roman" panose="02020603050405020304" pitchFamily="18" charset="0"/>
            </a:endParaRPr>
          </a:p>
        </p:txBody>
      </p:sp>
      <p:sp>
        <p:nvSpPr>
          <p:cNvPr id="33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873" indent="-285721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2883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036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189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343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496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8649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5802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2E6BB600-5F46-4F6C-928D-3BCCB73D5636}" type="slidenum">
              <a:rPr lang="en-US" altLang="en-US" sz="1300">
                <a:latin typeface="Times New Roman" panose="02020603050405020304" pitchFamily="18" charset="0"/>
              </a:rPr>
              <a:pPr/>
              <a:t>22</a:t>
            </a:fld>
            <a:endParaRPr lang="en-US" altLang="en-US" sz="1300" dirty="0">
              <a:latin typeface="Times New Roman" panose="02020603050405020304" pitchFamily="18" charset="0"/>
            </a:endParaRPr>
          </a:p>
        </p:txBody>
      </p:sp>
      <p:sp>
        <p:nvSpPr>
          <p:cNvPr id="36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873" indent="-285721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2883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036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189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343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496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8649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5802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2E6BB600-5F46-4F6C-928D-3BCCB73D5636}" type="slidenum">
              <a:rPr lang="en-US" altLang="en-US" sz="1300">
                <a:latin typeface="Times New Roman" panose="02020603050405020304" pitchFamily="18" charset="0"/>
              </a:rPr>
              <a:pPr/>
              <a:t>23</a:t>
            </a:fld>
            <a:endParaRPr lang="en-US" altLang="en-US" sz="1300" dirty="0">
              <a:latin typeface="Times New Roman" panose="02020603050405020304" pitchFamily="18" charset="0"/>
            </a:endParaRPr>
          </a:p>
        </p:txBody>
      </p:sp>
      <p:sp>
        <p:nvSpPr>
          <p:cNvPr id="36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873" indent="-285721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2883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036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189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343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496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8649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5802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0351035C-5808-407C-8457-78863416B201}" type="slidenum">
              <a:rPr lang="en-US" altLang="en-US" sz="1300">
                <a:latin typeface="Times New Roman" panose="02020603050405020304" pitchFamily="18" charset="0"/>
              </a:rPr>
              <a:pPr/>
              <a:t>24</a:t>
            </a:fld>
            <a:endParaRPr lang="en-US" altLang="en-US" sz="1300" dirty="0">
              <a:latin typeface="Times New Roman" panose="02020603050405020304" pitchFamily="18" charset="0"/>
            </a:endParaRPr>
          </a:p>
        </p:txBody>
      </p:sp>
      <p:sp>
        <p:nvSpPr>
          <p:cNvPr id="389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4813" y="696913"/>
            <a:ext cx="6188075" cy="3481387"/>
          </a:xfrm>
          <a:ln/>
        </p:spPr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873" indent="-285721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2883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036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189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343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496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8649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5802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6434B2C1-B6FF-4E08-B576-E580E4C742E5}" type="slidenum">
              <a:rPr lang="en-US" altLang="en-US" sz="1300">
                <a:latin typeface="Times New Roman" panose="02020603050405020304" pitchFamily="18" charset="0"/>
              </a:rPr>
              <a:pPr/>
              <a:t>25</a:t>
            </a:fld>
            <a:endParaRPr lang="en-US" altLang="en-US" sz="1300" dirty="0">
              <a:latin typeface="Times New Roman" panose="02020603050405020304" pitchFamily="18" charset="0"/>
            </a:endParaRPr>
          </a:p>
        </p:txBody>
      </p:sp>
      <p:sp>
        <p:nvSpPr>
          <p:cNvPr id="378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4813" y="696913"/>
            <a:ext cx="6188075" cy="3481387"/>
          </a:xfrm>
          <a:ln/>
        </p:spPr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873" indent="-285721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2883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036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189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343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496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8649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5802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6CB64798-7BD6-4B88-81ED-0C1AFAB11F92}" type="slidenum">
              <a:rPr lang="en-US" altLang="en-US" sz="1300">
                <a:latin typeface="Times New Roman" panose="02020603050405020304" pitchFamily="18" charset="0"/>
              </a:rPr>
              <a:pPr/>
              <a:t>26</a:t>
            </a:fld>
            <a:endParaRPr lang="en-US" altLang="en-US" sz="1300" dirty="0">
              <a:latin typeface="Times New Roman" panose="02020603050405020304" pitchFamily="18" charset="0"/>
            </a:endParaRPr>
          </a:p>
        </p:txBody>
      </p:sp>
      <p:sp>
        <p:nvSpPr>
          <p:cNvPr id="33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873" indent="-285721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2883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036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189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343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496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8649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5802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6CB64798-7BD6-4B88-81ED-0C1AFAB11F92}" type="slidenum">
              <a:rPr lang="en-US" altLang="en-US" sz="1300">
                <a:latin typeface="Times New Roman" panose="02020603050405020304" pitchFamily="18" charset="0"/>
              </a:rPr>
              <a:pPr/>
              <a:t>27</a:t>
            </a:fld>
            <a:endParaRPr lang="en-US" altLang="en-US" sz="1300" dirty="0">
              <a:latin typeface="Times New Roman" panose="02020603050405020304" pitchFamily="18" charset="0"/>
            </a:endParaRPr>
          </a:p>
        </p:txBody>
      </p:sp>
      <p:sp>
        <p:nvSpPr>
          <p:cNvPr id="33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873" indent="-285721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2883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036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189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343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496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8649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5802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6CB64798-7BD6-4B88-81ED-0C1AFAB11F92}" type="slidenum">
              <a:rPr lang="en-US" altLang="en-US" sz="1300">
                <a:latin typeface="Times New Roman" panose="02020603050405020304" pitchFamily="18" charset="0"/>
              </a:rPr>
              <a:pPr/>
              <a:t>28</a:t>
            </a:fld>
            <a:endParaRPr lang="en-US" altLang="en-US" sz="1300" dirty="0">
              <a:latin typeface="Times New Roman" panose="02020603050405020304" pitchFamily="18" charset="0"/>
            </a:endParaRPr>
          </a:p>
        </p:txBody>
      </p:sp>
      <p:sp>
        <p:nvSpPr>
          <p:cNvPr id="33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873" indent="-285721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2883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036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189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343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496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8649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5802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6CB64798-7BD6-4B88-81ED-0C1AFAB11F92}" type="slidenum">
              <a:rPr lang="en-US" altLang="en-US" sz="1300">
                <a:latin typeface="Times New Roman" panose="02020603050405020304" pitchFamily="18" charset="0"/>
              </a:rPr>
              <a:pPr/>
              <a:t>29</a:t>
            </a:fld>
            <a:endParaRPr lang="en-US" altLang="en-US" sz="1300" dirty="0">
              <a:latin typeface="Times New Roman" panose="02020603050405020304" pitchFamily="18" charset="0"/>
            </a:endParaRPr>
          </a:p>
        </p:txBody>
      </p:sp>
      <p:sp>
        <p:nvSpPr>
          <p:cNvPr id="33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://www.db-book.com/" TargetMode="Externa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7">
            <a:extLst>
              <a:ext uri="{FF2B5EF4-FFF2-40B4-BE49-F238E27FC236}">
                <a16:creationId xmlns:a16="http://schemas.microsoft.com/office/drawing/2014/main" xmlns="" id="{A25BB261-D773-4836-B381-7A051175F5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74938" y="5726113"/>
            <a:ext cx="3694112" cy="79375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b="1" dirty="0">
                <a:solidFill>
                  <a:srgbClr val="002060"/>
                </a:solidFill>
              </a:rPr>
              <a:t>Database System Concepts, 7</a:t>
            </a:r>
            <a:r>
              <a:rPr lang="en-US" altLang="en-US" b="1" baseline="30000" dirty="0">
                <a:solidFill>
                  <a:srgbClr val="002060"/>
                </a:solidFill>
              </a:rPr>
              <a:t>th</a:t>
            </a:r>
            <a:r>
              <a:rPr lang="en-US" altLang="en-US" b="1" dirty="0">
                <a:solidFill>
                  <a:srgbClr val="002060"/>
                </a:solidFill>
              </a:rPr>
              <a:t> Ed</a:t>
            </a:r>
            <a:r>
              <a:rPr lang="en-US" altLang="en-US" dirty="0">
                <a:solidFill>
                  <a:srgbClr val="002060"/>
                </a:solidFill>
              </a:rPr>
              <a:t>.</a:t>
            </a:r>
          </a:p>
          <a:p>
            <a:pPr algn="ctr">
              <a:spcBef>
                <a:spcPct val="50000"/>
              </a:spcBef>
              <a:defRPr/>
            </a:pPr>
            <a:r>
              <a:rPr lang="en-US" altLang="en-US" sz="1200" b="1" dirty="0">
                <a:solidFill>
                  <a:srgbClr val="002060"/>
                </a:solidFill>
              </a:rPr>
              <a:t>©Silberschatz, Korth and Sudarshan</a:t>
            </a:r>
            <a:br>
              <a:rPr lang="en-US" altLang="en-US" sz="1200" b="1" dirty="0">
                <a:solidFill>
                  <a:srgbClr val="002060"/>
                </a:solidFill>
              </a:rPr>
            </a:br>
            <a:r>
              <a:rPr lang="en-US" altLang="en-US" sz="1200" b="1" dirty="0">
                <a:solidFill>
                  <a:srgbClr val="002060"/>
                </a:solidFill>
              </a:rPr>
              <a:t>See </a:t>
            </a:r>
            <a:r>
              <a:rPr lang="en-US" altLang="en-US" sz="1200" b="1" dirty="0">
                <a:solidFill>
                  <a:srgbClr val="002060"/>
                </a:solidFill>
                <a:hlinkClick r:id="rId2"/>
              </a:rPr>
              <a:t>www.db-book.com</a:t>
            </a:r>
            <a:r>
              <a:rPr lang="en-US" altLang="en-US" sz="1200" b="1" dirty="0">
                <a:solidFill>
                  <a:srgbClr val="002060"/>
                </a:solidFill>
              </a:rPr>
              <a:t> for conditions on re-use </a:t>
            </a:r>
          </a:p>
        </p:txBody>
      </p:sp>
      <p:sp>
        <p:nvSpPr>
          <p:cNvPr id="51302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xmlns="" id="{B4760F52-45E1-4E1D-A744-2F2290DE90CC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xfrm>
            <a:off x="6596063" y="6218238"/>
            <a:ext cx="1905000" cy="457200"/>
          </a:xfrm>
        </p:spPr>
        <p:txBody>
          <a:bodyPr/>
          <a:lstStyle>
            <a:lvl1pPr>
              <a:defRPr>
                <a:solidFill>
                  <a:srgbClr val="578963"/>
                </a:solidFill>
              </a:defRPr>
            </a:lvl1pPr>
          </a:lstStyle>
          <a:p>
            <a:pPr>
              <a:defRPr/>
            </a:pPr>
            <a:fld id="{3B69BB99-A72A-4470-971F-83530C443C9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pic>
        <p:nvPicPr>
          <p:cNvPr id="9" name="Picture 8" descr="Cover-6Ed"/>
          <p:cNvPicPr>
            <a:picLocks noChangeAspect="1" noChangeArrowheads="1"/>
          </p:cNvPicPr>
          <p:nvPr userDrawn="1"/>
        </p:nvPicPr>
        <p:blipFill>
          <a:blip r:embed="rId3"/>
          <a:stretch>
            <a:fillRect/>
          </a:stretch>
        </p:blipFill>
        <p:spPr bwMode="auto">
          <a:xfrm>
            <a:off x="13858" y="0"/>
            <a:ext cx="1331269" cy="170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xmlns="" val="32604871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8350" y="1093788"/>
            <a:ext cx="7707313" cy="4903787"/>
          </a:xfrm>
        </p:spPr>
        <p:txBody>
          <a:bodyPr/>
          <a:lstStyle>
            <a:lvl1pPr marL="342900" indent="-342900">
              <a:buSzPct val="110000"/>
              <a:buFont typeface="Wingdings" panose="05000000000000000000" pitchFamily="2" charset="2"/>
              <a:buChar char="§"/>
              <a:defRPr sz="1700"/>
            </a:lvl1pPr>
            <a:lvl2pPr marL="742950" indent="-285750">
              <a:buSzPct val="110000"/>
              <a:buFont typeface="Arial" panose="020B0604020202020204" pitchFamily="34" charset="0"/>
              <a:buChar char="•"/>
              <a:defRPr sz="1700"/>
            </a:lvl2pPr>
            <a:lvl3pPr marL="1085850" indent="-228600">
              <a:buFont typeface="Wingdings" panose="05000000000000000000" pitchFamily="2" charset="2"/>
              <a:buChar char="§"/>
              <a:defRPr sz="1700"/>
            </a:lvl3pPr>
            <a:lvl4pPr marL="1428750" indent="-228600">
              <a:buFont typeface="Arial" panose="020B0604020202020204" pitchFamily="34" charset="0"/>
              <a:buChar char="•"/>
              <a:defRPr sz="1700"/>
            </a:lvl4pPr>
            <a:lvl5pPr marL="1771650" indent="-228600">
              <a:buFont typeface="Wingdings" panose="05000000000000000000" pitchFamily="2" charset="2"/>
              <a:buChar char="§"/>
              <a:defRPr sz="17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xmlns="" val="4124371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336F2EBE-FF5F-4F9D-A3C2-A59A92D7809D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7F3CAF-32BF-49A6-93F1-59C9E4B7C95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29607090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4388" y="1093788"/>
            <a:ext cx="3754437" cy="4903787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1225" y="1093788"/>
            <a:ext cx="3754438" cy="4903787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xmlns="" id="{A6D4A7F0-1138-4608-80AA-D0A6F5D41187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0852D5F-D37B-4E9D-98AD-511A1ABBD6A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41108020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xmlns="" id="{56DFCFB3-6710-4DD2-8404-7E55A930F352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191CCC-CC48-429B-87C9-7123B48E52D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25190424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xmlns="" id="{BB431453-8F56-47C4-89BA-3EDF3CD092BA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E9D92F0-DB25-4E6B-A10D-A7937AC7A36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38360057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xmlns="" id="{4BE8099E-18A5-481A-9697-216087BE067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555C8E-F740-4D28-8DA3-D7B8E0F6F57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24321476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xmlns="" id="{97E2C57D-1205-411A-BA90-DF60A810F6D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BBE5B0-1186-4DAB-9E97-511F15F5C63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13488098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xmlns="" id="{99EB6957-06EE-46F8-A450-3DB417A1F8A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91DB2E-7BC4-4C22-ACAE-0B8B3F0C514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248140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85C950AD-734E-45C7-8042-5795FFAD675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E5E31B-1343-4510-8DCD-65E7B654469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17630467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26250" y="117475"/>
            <a:ext cx="2019300" cy="58801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8350" y="117475"/>
            <a:ext cx="5905500" cy="58801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C7A7A2CD-B5B0-4CF6-8038-339B0E99E36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3574B0-C055-4E38-82A9-667A1DF1F8D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28946499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A9796C49-4A73-449B-A170-DFFCD45313D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0D9E99-A0D8-4F2F-B04A-331DF655FEA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24228256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xmlns="" id="{56112478-D9B7-4D0D-ADE5-62D5EFAAFB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73084" y="1093788"/>
            <a:ext cx="7702579" cy="4903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512003" name="Rectangle 3">
            <a:extLst>
              <a:ext uri="{FF2B5EF4-FFF2-40B4-BE49-F238E27FC236}">
                <a16:creationId xmlns:a16="http://schemas.microsoft.com/office/drawing/2014/main" xmlns="" id="{D2EB5033-CF44-472B-B77D-FAA18581E63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008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50000"/>
              </a:spcBef>
              <a:defRPr sz="1400">
                <a:solidFill>
                  <a:srgbClr val="002060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8BECA7E0-09BC-41D3-BD93-B7E81A2ACCB7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  <p:sp>
        <p:nvSpPr>
          <p:cNvPr id="1028" name="Text Box 4">
            <a:extLst>
              <a:ext uri="{FF2B5EF4-FFF2-40B4-BE49-F238E27FC236}">
                <a16:creationId xmlns:a16="http://schemas.microsoft.com/office/drawing/2014/main" xmlns="" id="{D0CFC8B2-2C6C-4CA4-9AFC-14298F0DD4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62750" y="6613525"/>
            <a:ext cx="238125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2060"/>
                </a:solidFill>
              </a:rPr>
              <a:t>©Silberschatz, Korth and Sudarshan</a:t>
            </a:r>
          </a:p>
        </p:txBody>
      </p:sp>
      <p:sp>
        <p:nvSpPr>
          <p:cNvPr id="512005" name="Text Box 5">
            <a:extLst>
              <a:ext uri="{FF2B5EF4-FFF2-40B4-BE49-F238E27FC236}">
                <a16:creationId xmlns:a16="http://schemas.microsoft.com/office/drawing/2014/main" xmlns="" id="{ED25C836-0663-424A-84A7-5AB803422860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479984" y="6613525"/>
            <a:ext cx="447559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2060"/>
                </a:solidFill>
              </a:rPr>
              <a:t>2.</a:t>
            </a:r>
            <a:fld id="{669DE52E-05EC-4487-BE79-3F9A6A9F8797}" type="slidenum">
              <a:rPr lang="en-US" altLang="en-US" sz="1000" b="1" smtClean="0">
                <a:solidFill>
                  <a:srgbClr val="002060"/>
                </a:solidFill>
              </a:rPr>
              <a:pPr algn="ctr">
                <a:spcBef>
                  <a:spcPct val="50000"/>
                </a:spcBef>
                <a:defRPr/>
              </a:pPr>
              <a:t>‹#›</a:t>
            </a:fld>
            <a:endParaRPr lang="en-US" altLang="en-US" sz="1000" b="1" dirty="0">
              <a:solidFill>
                <a:srgbClr val="002060"/>
              </a:solidFill>
            </a:endParaRPr>
          </a:p>
        </p:txBody>
      </p:sp>
      <p:sp>
        <p:nvSpPr>
          <p:cNvPr id="512006" name="Rectangle 6">
            <a:extLst>
              <a:ext uri="{FF2B5EF4-FFF2-40B4-BE49-F238E27FC236}">
                <a16:creationId xmlns:a16="http://schemas.microsoft.com/office/drawing/2014/main" xmlns="" id="{BFAC4B4C-D3C2-4A14-871E-CC7D45F0769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768350" y="117475"/>
            <a:ext cx="80772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031" name="Text Box 7">
            <a:extLst>
              <a:ext uri="{FF2B5EF4-FFF2-40B4-BE49-F238E27FC236}">
                <a16:creationId xmlns:a16="http://schemas.microsoft.com/office/drawing/2014/main" xmlns="" id="{5472E9A1-C06F-4393-872E-7F8100F916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613525"/>
            <a:ext cx="257175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sz="1000" b="1" dirty="0">
                <a:solidFill>
                  <a:srgbClr val="002060"/>
                </a:solidFill>
              </a:rPr>
              <a:t>Database System Concepts - 7</a:t>
            </a:r>
            <a:r>
              <a:rPr lang="en-US" sz="1000" b="1" baseline="30000" dirty="0">
                <a:solidFill>
                  <a:srgbClr val="002060"/>
                </a:solidFill>
              </a:rPr>
              <a:t>th</a:t>
            </a:r>
            <a:r>
              <a:rPr lang="en-US" sz="1000" b="1" dirty="0">
                <a:solidFill>
                  <a:srgbClr val="002060"/>
                </a:solidFill>
              </a:rPr>
              <a:t> Edition</a:t>
            </a:r>
          </a:p>
        </p:txBody>
      </p:sp>
      <p:sp>
        <p:nvSpPr>
          <p:cNvPr id="1032" name="Freeform 8">
            <a:extLst>
              <a:ext uri="{FF2B5EF4-FFF2-40B4-BE49-F238E27FC236}">
                <a16:creationId xmlns:a16="http://schemas.microsoft.com/office/drawing/2014/main" xmlns="" id="{0362D880-06BD-4D02-876C-3226AC8E6F10}"/>
              </a:ext>
            </a:extLst>
          </p:cNvPr>
          <p:cNvSpPr>
            <a:spLocks/>
          </p:cNvSpPr>
          <p:nvPr/>
        </p:nvSpPr>
        <p:spPr bwMode="auto">
          <a:xfrm>
            <a:off x="8916988" y="5445125"/>
            <a:ext cx="227012" cy="47625"/>
          </a:xfrm>
          <a:custGeom>
            <a:avLst/>
            <a:gdLst>
              <a:gd name="T0" fmla="*/ 0 w 285"/>
              <a:gd name="T1" fmla="*/ 2147483646 h 61"/>
              <a:gd name="T2" fmla="*/ 2147483646 w 285"/>
              <a:gd name="T3" fmla="*/ 2147483646 h 61"/>
              <a:gd name="T4" fmla="*/ 2147483646 w 285"/>
              <a:gd name="T5" fmla="*/ 2147483646 h 61"/>
              <a:gd name="T6" fmla="*/ 2147483646 w 285"/>
              <a:gd name="T7" fmla="*/ 2147483646 h 61"/>
              <a:gd name="T8" fmla="*/ 2147483646 w 285"/>
              <a:gd name="T9" fmla="*/ 2147483646 h 61"/>
              <a:gd name="T10" fmla="*/ 2147483646 w 285"/>
              <a:gd name="T11" fmla="*/ 2147483646 h 61"/>
              <a:gd name="T12" fmla="*/ 2147483646 w 285"/>
              <a:gd name="T13" fmla="*/ 2147483646 h 61"/>
              <a:gd name="T14" fmla="*/ 2147483646 w 285"/>
              <a:gd name="T15" fmla="*/ 2147483646 h 61"/>
              <a:gd name="T16" fmla="*/ 2147483646 w 285"/>
              <a:gd name="T17" fmla="*/ 0 h 61"/>
              <a:gd name="T18" fmla="*/ 2147483646 w 285"/>
              <a:gd name="T19" fmla="*/ 0 h 61"/>
              <a:gd name="T20" fmla="*/ 2147483646 w 285"/>
              <a:gd name="T21" fmla="*/ 0 h 61"/>
              <a:gd name="T22" fmla="*/ 2147483646 w 285"/>
              <a:gd name="T23" fmla="*/ 0 h 61"/>
              <a:gd name="T24" fmla="*/ 2147483646 w 285"/>
              <a:gd name="T25" fmla="*/ 2147483646 h 61"/>
              <a:gd name="T26" fmla="*/ 2147483646 w 285"/>
              <a:gd name="T27" fmla="*/ 2147483646 h 61"/>
              <a:gd name="T28" fmla="*/ 2147483646 w 285"/>
              <a:gd name="T29" fmla="*/ 2147483646 h 61"/>
              <a:gd name="T30" fmla="*/ 2147483646 w 285"/>
              <a:gd name="T31" fmla="*/ 2147483646 h 61"/>
              <a:gd name="T32" fmla="*/ 2147483646 w 285"/>
              <a:gd name="T33" fmla="*/ 2147483646 h 61"/>
              <a:gd name="T34" fmla="*/ 2147483646 w 285"/>
              <a:gd name="T35" fmla="*/ 2147483646 h 61"/>
              <a:gd name="T36" fmla="*/ 2147483646 w 285"/>
              <a:gd name="T37" fmla="*/ 2147483646 h 61"/>
              <a:gd name="T38" fmla="*/ 2147483646 w 285"/>
              <a:gd name="T39" fmla="*/ 2147483646 h 61"/>
              <a:gd name="T40" fmla="*/ 2147483646 w 285"/>
              <a:gd name="T41" fmla="*/ 2147483646 h 61"/>
              <a:gd name="T42" fmla="*/ 2147483646 w 285"/>
              <a:gd name="T43" fmla="*/ 2147483646 h 61"/>
              <a:gd name="T44" fmla="*/ 2147483646 w 285"/>
              <a:gd name="T45" fmla="*/ 2147483646 h 61"/>
              <a:gd name="T46" fmla="*/ 2147483646 w 285"/>
              <a:gd name="T47" fmla="*/ 2147483646 h 61"/>
              <a:gd name="T48" fmla="*/ 2147483646 w 285"/>
              <a:gd name="T49" fmla="*/ 2147483646 h 61"/>
              <a:gd name="T50" fmla="*/ 2147483646 w 285"/>
              <a:gd name="T51" fmla="*/ 2147483646 h 61"/>
              <a:gd name="T52" fmla="*/ 2147483646 w 285"/>
              <a:gd name="T53" fmla="*/ 2147483646 h 61"/>
              <a:gd name="T54" fmla="*/ 2147483646 w 285"/>
              <a:gd name="T55" fmla="*/ 2147483646 h 61"/>
              <a:gd name="T56" fmla="*/ 2147483646 w 285"/>
              <a:gd name="T57" fmla="*/ 2147483646 h 61"/>
              <a:gd name="T58" fmla="*/ 2147483646 w 285"/>
              <a:gd name="T59" fmla="*/ 2147483646 h 61"/>
              <a:gd name="T60" fmla="*/ 2147483646 w 285"/>
              <a:gd name="T61" fmla="*/ 2147483646 h 61"/>
              <a:gd name="T62" fmla="*/ 2147483646 w 285"/>
              <a:gd name="T63" fmla="*/ 2147483646 h 61"/>
              <a:gd name="T64" fmla="*/ 2147483646 w 285"/>
              <a:gd name="T65" fmla="*/ 2147483646 h 61"/>
              <a:gd name="T66" fmla="*/ 2147483646 w 285"/>
              <a:gd name="T67" fmla="*/ 2147483646 h 61"/>
              <a:gd name="T68" fmla="*/ 2147483646 w 285"/>
              <a:gd name="T69" fmla="*/ 2147483646 h 61"/>
              <a:gd name="T70" fmla="*/ 2147483646 w 285"/>
              <a:gd name="T71" fmla="*/ 2147483646 h 61"/>
              <a:gd name="T72" fmla="*/ 2147483646 w 285"/>
              <a:gd name="T73" fmla="*/ 2147483646 h 61"/>
              <a:gd name="T74" fmla="*/ 2147483646 w 285"/>
              <a:gd name="T75" fmla="*/ 2147483646 h 61"/>
              <a:gd name="T76" fmla="*/ 2147483646 w 285"/>
              <a:gd name="T77" fmla="*/ 2147483646 h 61"/>
              <a:gd name="T78" fmla="*/ 2147483646 w 285"/>
              <a:gd name="T79" fmla="*/ 2147483646 h 61"/>
              <a:gd name="T80" fmla="*/ 2147483646 w 285"/>
              <a:gd name="T81" fmla="*/ 2147483646 h 61"/>
              <a:gd name="T82" fmla="*/ 2147483646 w 285"/>
              <a:gd name="T83" fmla="*/ 2147483646 h 61"/>
              <a:gd name="T84" fmla="*/ 2147483646 w 285"/>
              <a:gd name="T85" fmla="*/ 2147483646 h 61"/>
              <a:gd name="T86" fmla="*/ 2147483646 w 285"/>
              <a:gd name="T87" fmla="*/ 2147483646 h 61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</a:gdLst>
            <a:ahLst/>
            <a:cxnLst>
              <a:cxn ang="T88">
                <a:pos x="T0" y="T1"/>
              </a:cxn>
              <a:cxn ang="T89">
                <a:pos x="T2" y="T3"/>
              </a:cxn>
              <a:cxn ang="T90">
                <a:pos x="T4" y="T5"/>
              </a:cxn>
              <a:cxn ang="T91">
                <a:pos x="T6" y="T7"/>
              </a:cxn>
              <a:cxn ang="T92">
                <a:pos x="T8" y="T9"/>
              </a:cxn>
              <a:cxn ang="T93">
                <a:pos x="T10" y="T11"/>
              </a:cxn>
              <a:cxn ang="T94">
                <a:pos x="T12" y="T13"/>
              </a:cxn>
              <a:cxn ang="T95">
                <a:pos x="T14" y="T15"/>
              </a:cxn>
              <a:cxn ang="T96">
                <a:pos x="T16" y="T17"/>
              </a:cxn>
              <a:cxn ang="T97">
                <a:pos x="T18" y="T19"/>
              </a:cxn>
              <a:cxn ang="T98">
                <a:pos x="T20" y="T21"/>
              </a:cxn>
              <a:cxn ang="T99">
                <a:pos x="T22" y="T23"/>
              </a:cxn>
              <a:cxn ang="T100">
                <a:pos x="T24" y="T25"/>
              </a:cxn>
              <a:cxn ang="T101">
                <a:pos x="T26" y="T27"/>
              </a:cxn>
              <a:cxn ang="T102">
                <a:pos x="T28" y="T29"/>
              </a:cxn>
              <a:cxn ang="T103">
                <a:pos x="T30" y="T31"/>
              </a:cxn>
              <a:cxn ang="T104">
                <a:pos x="T32" y="T33"/>
              </a:cxn>
              <a:cxn ang="T105">
                <a:pos x="T34" y="T35"/>
              </a:cxn>
              <a:cxn ang="T106">
                <a:pos x="T36" y="T37"/>
              </a:cxn>
              <a:cxn ang="T107">
                <a:pos x="T38" y="T39"/>
              </a:cxn>
              <a:cxn ang="T108">
                <a:pos x="T40" y="T41"/>
              </a:cxn>
              <a:cxn ang="T109">
                <a:pos x="T42" y="T43"/>
              </a:cxn>
              <a:cxn ang="T110">
                <a:pos x="T44" y="T45"/>
              </a:cxn>
              <a:cxn ang="T111">
                <a:pos x="T46" y="T47"/>
              </a:cxn>
              <a:cxn ang="T112">
                <a:pos x="T48" y="T49"/>
              </a:cxn>
              <a:cxn ang="T113">
                <a:pos x="T50" y="T51"/>
              </a:cxn>
              <a:cxn ang="T114">
                <a:pos x="T52" y="T53"/>
              </a:cxn>
              <a:cxn ang="T115">
                <a:pos x="T54" y="T55"/>
              </a:cxn>
              <a:cxn ang="T116">
                <a:pos x="T56" y="T57"/>
              </a:cxn>
              <a:cxn ang="T117">
                <a:pos x="T58" y="T59"/>
              </a:cxn>
              <a:cxn ang="T118">
                <a:pos x="T60" y="T61"/>
              </a:cxn>
              <a:cxn ang="T119">
                <a:pos x="T62" y="T63"/>
              </a:cxn>
              <a:cxn ang="T120">
                <a:pos x="T64" y="T65"/>
              </a:cxn>
              <a:cxn ang="T121">
                <a:pos x="T66" y="T67"/>
              </a:cxn>
              <a:cxn ang="T122">
                <a:pos x="T68" y="T69"/>
              </a:cxn>
              <a:cxn ang="T123">
                <a:pos x="T70" y="T71"/>
              </a:cxn>
              <a:cxn ang="T124">
                <a:pos x="T72" y="T73"/>
              </a:cxn>
              <a:cxn ang="T125">
                <a:pos x="T74" y="T75"/>
              </a:cxn>
              <a:cxn ang="T126">
                <a:pos x="T76" y="T77"/>
              </a:cxn>
              <a:cxn ang="T127">
                <a:pos x="T78" y="T79"/>
              </a:cxn>
              <a:cxn ang="T128">
                <a:pos x="T80" y="T81"/>
              </a:cxn>
              <a:cxn ang="T129">
                <a:pos x="T82" y="T83"/>
              </a:cxn>
              <a:cxn ang="T130">
                <a:pos x="T84" y="T85"/>
              </a:cxn>
              <a:cxn ang="T131">
                <a:pos x="T86" y="T87"/>
              </a:cxn>
            </a:cxnLst>
            <a:rect l="0" t="0" r="r" b="b"/>
            <a:pathLst>
              <a:path w="285" h="61">
                <a:moveTo>
                  <a:pt x="2" y="61"/>
                </a:moveTo>
                <a:lnTo>
                  <a:pt x="0" y="59"/>
                </a:lnTo>
                <a:lnTo>
                  <a:pt x="0" y="55"/>
                </a:lnTo>
                <a:lnTo>
                  <a:pt x="2" y="48"/>
                </a:lnTo>
                <a:lnTo>
                  <a:pt x="5" y="40"/>
                </a:lnTo>
                <a:lnTo>
                  <a:pt x="9" y="34"/>
                </a:lnTo>
                <a:lnTo>
                  <a:pt x="13" y="31"/>
                </a:lnTo>
                <a:lnTo>
                  <a:pt x="17" y="25"/>
                </a:lnTo>
                <a:lnTo>
                  <a:pt x="24" y="21"/>
                </a:lnTo>
                <a:lnTo>
                  <a:pt x="30" y="17"/>
                </a:lnTo>
                <a:lnTo>
                  <a:pt x="40" y="13"/>
                </a:lnTo>
                <a:lnTo>
                  <a:pt x="45" y="10"/>
                </a:lnTo>
                <a:lnTo>
                  <a:pt x="51" y="8"/>
                </a:lnTo>
                <a:lnTo>
                  <a:pt x="57" y="6"/>
                </a:lnTo>
                <a:lnTo>
                  <a:pt x="64" y="6"/>
                </a:lnTo>
                <a:lnTo>
                  <a:pt x="70" y="2"/>
                </a:lnTo>
                <a:lnTo>
                  <a:pt x="78" y="2"/>
                </a:lnTo>
                <a:lnTo>
                  <a:pt x="85" y="0"/>
                </a:lnTo>
                <a:lnTo>
                  <a:pt x="93" y="0"/>
                </a:lnTo>
                <a:lnTo>
                  <a:pt x="100" y="0"/>
                </a:lnTo>
                <a:lnTo>
                  <a:pt x="110" y="0"/>
                </a:lnTo>
                <a:lnTo>
                  <a:pt x="118" y="0"/>
                </a:lnTo>
                <a:lnTo>
                  <a:pt x="129" y="0"/>
                </a:lnTo>
                <a:lnTo>
                  <a:pt x="137" y="0"/>
                </a:lnTo>
                <a:lnTo>
                  <a:pt x="146" y="2"/>
                </a:lnTo>
                <a:lnTo>
                  <a:pt x="154" y="2"/>
                </a:lnTo>
                <a:lnTo>
                  <a:pt x="163" y="4"/>
                </a:lnTo>
                <a:lnTo>
                  <a:pt x="173" y="6"/>
                </a:lnTo>
                <a:lnTo>
                  <a:pt x="182" y="8"/>
                </a:lnTo>
                <a:lnTo>
                  <a:pt x="192" y="8"/>
                </a:lnTo>
                <a:lnTo>
                  <a:pt x="201" y="12"/>
                </a:lnTo>
                <a:lnTo>
                  <a:pt x="209" y="12"/>
                </a:lnTo>
                <a:lnTo>
                  <a:pt x="216" y="13"/>
                </a:lnTo>
                <a:lnTo>
                  <a:pt x="224" y="15"/>
                </a:lnTo>
                <a:lnTo>
                  <a:pt x="234" y="17"/>
                </a:lnTo>
                <a:lnTo>
                  <a:pt x="239" y="19"/>
                </a:lnTo>
                <a:lnTo>
                  <a:pt x="247" y="21"/>
                </a:lnTo>
                <a:lnTo>
                  <a:pt x="254" y="23"/>
                </a:lnTo>
                <a:lnTo>
                  <a:pt x="260" y="25"/>
                </a:lnTo>
                <a:lnTo>
                  <a:pt x="266" y="25"/>
                </a:lnTo>
                <a:lnTo>
                  <a:pt x="270" y="27"/>
                </a:lnTo>
                <a:lnTo>
                  <a:pt x="273" y="27"/>
                </a:lnTo>
                <a:lnTo>
                  <a:pt x="279" y="29"/>
                </a:lnTo>
                <a:lnTo>
                  <a:pt x="283" y="31"/>
                </a:lnTo>
                <a:lnTo>
                  <a:pt x="285" y="32"/>
                </a:lnTo>
                <a:lnTo>
                  <a:pt x="279" y="44"/>
                </a:lnTo>
                <a:lnTo>
                  <a:pt x="277" y="44"/>
                </a:lnTo>
                <a:lnTo>
                  <a:pt x="273" y="42"/>
                </a:lnTo>
                <a:lnTo>
                  <a:pt x="268" y="42"/>
                </a:lnTo>
                <a:lnTo>
                  <a:pt x="260" y="40"/>
                </a:lnTo>
                <a:lnTo>
                  <a:pt x="251" y="38"/>
                </a:lnTo>
                <a:lnTo>
                  <a:pt x="241" y="36"/>
                </a:lnTo>
                <a:lnTo>
                  <a:pt x="235" y="34"/>
                </a:lnTo>
                <a:lnTo>
                  <a:pt x="230" y="34"/>
                </a:lnTo>
                <a:lnTo>
                  <a:pt x="224" y="32"/>
                </a:lnTo>
                <a:lnTo>
                  <a:pt x="218" y="32"/>
                </a:lnTo>
                <a:lnTo>
                  <a:pt x="213" y="31"/>
                </a:lnTo>
                <a:lnTo>
                  <a:pt x="207" y="31"/>
                </a:lnTo>
                <a:lnTo>
                  <a:pt x="201" y="29"/>
                </a:lnTo>
                <a:lnTo>
                  <a:pt x="196" y="29"/>
                </a:lnTo>
                <a:lnTo>
                  <a:pt x="190" y="27"/>
                </a:lnTo>
                <a:lnTo>
                  <a:pt x="182" y="27"/>
                </a:lnTo>
                <a:lnTo>
                  <a:pt x="178" y="25"/>
                </a:lnTo>
                <a:lnTo>
                  <a:pt x="173" y="25"/>
                </a:lnTo>
                <a:lnTo>
                  <a:pt x="167" y="23"/>
                </a:lnTo>
                <a:lnTo>
                  <a:pt x="163" y="23"/>
                </a:lnTo>
                <a:lnTo>
                  <a:pt x="158" y="21"/>
                </a:lnTo>
                <a:lnTo>
                  <a:pt x="154" y="21"/>
                </a:lnTo>
                <a:lnTo>
                  <a:pt x="148" y="19"/>
                </a:lnTo>
                <a:lnTo>
                  <a:pt x="142" y="19"/>
                </a:lnTo>
                <a:lnTo>
                  <a:pt x="144" y="48"/>
                </a:lnTo>
                <a:lnTo>
                  <a:pt x="110" y="15"/>
                </a:lnTo>
                <a:lnTo>
                  <a:pt x="118" y="48"/>
                </a:lnTo>
                <a:lnTo>
                  <a:pt x="83" y="21"/>
                </a:lnTo>
                <a:lnTo>
                  <a:pt x="91" y="48"/>
                </a:lnTo>
                <a:lnTo>
                  <a:pt x="59" y="29"/>
                </a:lnTo>
                <a:lnTo>
                  <a:pt x="57" y="29"/>
                </a:lnTo>
                <a:lnTo>
                  <a:pt x="53" y="31"/>
                </a:lnTo>
                <a:lnTo>
                  <a:pt x="49" y="31"/>
                </a:lnTo>
                <a:lnTo>
                  <a:pt x="43" y="34"/>
                </a:lnTo>
                <a:lnTo>
                  <a:pt x="38" y="36"/>
                </a:lnTo>
                <a:lnTo>
                  <a:pt x="32" y="38"/>
                </a:lnTo>
                <a:lnTo>
                  <a:pt x="26" y="42"/>
                </a:lnTo>
                <a:lnTo>
                  <a:pt x="23" y="44"/>
                </a:lnTo>
                <a:lnTo>
                  <a:pt x="15" y="50"/>
                </a:lnTo>
                <a:lnTo>
                  <a:pt x="7" y="55"/>
                </a:lnTo>
                <a:lnTo>
                  <a:pt x="4" y="59"/>
                </a:lnTo>
                <a:lnTo>
                  <a:pt x="2" y="6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IN"/>
          </a:p>
        </p:txBody>
      </p:sp>
      <p:pic>
        <p:nvPicPr>
          <p:cNvPr id="10" name="Picture 8" descr="Cover-6Ed"/>
          <p:cNvPicPr>
            <a:picLocks noChangeAspect="1" noChangeArrowheads="1"/>
          </p:cNvPicPr>
          <p:nvPr userDrawn="1"/>
        </p:nvPicPr>
        <p:blipFill>
          <a:blip r:embed="rId14"/>
          <a:stretch>
            <a:fillRect/>
          </a:stretch>
        </p:blipFill>
        <p:spPr bwMode="auto">
          <a:xfrm>
            <a:off x="5546" y="0"/>
            <a:ext cx="742012" cy="9476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61" r:id="rId1"/>
    <p:sldLayoutId id="2147483750" r:id="rId2"/>
    <p:sldLayoutId id="2147483751" r:id="rId3"/>
    <p:sldLayoutId id="2147483752" r:id="rId4"/>
    <p:sldLayoutId id="2147483753" r:id="rId5"/>
    <p:sldLayoutId id="2147483754" r:id="rId6"/>
    <p:sldLayoutId id="2147483755" r:id="rId7"/>
    <p:sldLayoutId id="2147483756" r:id="rId8"/>
    <p:sldLayoutId id="2147483757" r:id="rId9"/>
    <p:sldLayoutId id="2147483758" r:id="rId10"/>
    <p:sldLayoutId id="2147483759" r:id="rId11"/>
    <p:sldLayoutId id="2147483760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2800" b="1">
          <a:solidFill>
            <a:srgbClr val="002060"/>
          </a:solidFill>
          <a:effectLst>
            <a:outerShdw blurRad="38100" dist="38100" dir="2700000" algn="tl">
              <a:srgbClr val="DDDDDD"/>
            </a:outerShdw>
          </a:effectLst>
          <a:latin typeface="+mj-lt"/>
          <a:ea typeface="MS PGothic" panose="020B0600070205080204" pitchFamily="34" charset="-128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panose="020B0600070205080204" pitchFamily="34" charset="-128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panose="020B0600070205080204" pitchFamily="34" charset="-128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panose="020B0600070205080204" pitchFamily="34" charset="-128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panose="020B0600070205080204" pitchFamily="34" charset="-128"/>
          <a:cs typeface="ＭＳ Ｐゴシック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9pPr>
    </p:titleStyle>
    <p:bodyStyle>
      <a:lvl1pPr marL="342900" indent="-342900" algn="l" rtl="0" eaLnBrk="0" fontAlgn="base" hangingPunct="0">
        <a:spcBef>
          <a:spcPct val="35000"/>
        </a:spcBef>
        <a:spcAft>
          <a:spcPct val="0"/>
        </a:spcAft>
        <a:buClr>
          <a:srgbClr val="002060"/>
        </a:buClr>
        <a:buSzPct val="100000"/>
        <a:buFont typeface="Monotype Sorts" pitchFamily="-65" charset="2"/>
        <a:buChar char="n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  <a:cs typeface="ＭＳ Ｐゴシック" charset="0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chemeClr val="folHlink"/>
        </a:buClr>
        <a:buSzPct val="95000"/>
        <a:buFont typeface="Monotype Sorts" pitchFamily="-65" charset="2"/>
        <a:buChar char="l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33CC33"/>
        </a:buClr>
        <a:buSzPct val="85000"/>
        <a:buFont typeface="Webdings" panose="05030102010509060703" pitchFamily="18" charset="2"/>
        <a:buChar char="4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Font typeface="Times New Roman" panose="02020603050405020304" pitchFamily="18" charset="0"/>
        <a:buChar char="–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</a:defRPr>
      </a:lvl5pPr>
      <a:lvl6pPr marL="22288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6pPr>
      <a:lvl7pPr marL="26860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7pPr>
      <a:lvl8pPr marL="31432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8pPr>
      <a:lvl9pPr marL="36004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sv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sv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sv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sv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sv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sv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sv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sv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386" name="Rectangle 2">
            <a:extLst>
              <a:ext uri="{FF2B5EF4-FFF2-40B4-BE49-F238E27FC236}">
                <a16:creationId xmlns:a16="http://schemas.microsoft.com/office/drawing/2014/main" xmlns="" id="{1CB68582-BBE2-4F64-8E5F-7C76410784FB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914377" y="2286000"/>
            <a:ext cx="10362940" cy="1143000"/>
          </a:xfrm>
        </p:spPr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Chapter 2: Intro to Relational Model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762" name="Rectangle 2"/>
          <p:cNvSpPr>
            <a:spLocks noGrp="1" noChangeArrowheads="1"/>
          </p:cNvSpPr>
          <p:nvPr>
            <p:ph type="title"/>
          </p:nvPr>
        </p:nvSpPr>
        <p:spPr>
          <a:xfrm>
            <a:off x="1024441" y="117475"/>
            <a:ext cx="10769330" cy="609600"/>
          </a:xfrm>
        </p:spPr>
        <p:txBody>
          <a:bodyPr lIns="90488" tIns="44450" rIns="90488" bIns="44450" anchor="ctr"/>
          <a:lstStyle/>
          <a:p>
            <a:r>
              <a:rPr lang="en-US" altLang="en-US" sz="3733" dirty="0"/>
              <a:t>Outline</a:t>
            </a:r>
          </a:p>
        </p:txBody>
      </p:sp>
      <p:sp>
        <p:nvSpPr>
          <p:cNvPr id="512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24442" y="1104900"/>
            <a:ext cx="9995430" cy="2772156"/>
          </a:xfrm>
        </p:spPr>
        <p:txBody>
          <a:bodyPr lIns="90488" tIns="44450" rIns="90488" bIns="44450"/>
          <a:lstStyle/>
          <a:p>
            <a:r>
              <a:rPr lang="en-US" altLang="en-US" sz="2266" dirty="0"/>
              <a:t>Structure of Relational Databases</a:t>
            </a:r>
          </a:p>
          <a:p>
            <a:r>
              <a:rPr lang="en-US" altLang="en-US" sz="2266" dirty="0"/>
              <a:t>Database Schema</a:t>
            </a:r>
          </a:p>
          <a:p>
            <a:r>
              <a:rPr lang="en-US" altLang="en-US" sz="2266" dirty="0"/>
              <a:t>Keys</a:t>
            </a:r>
          </a:p>
          <a:p>
            <a:r>
              <a:rPr lang="en-US" altLang="en-US" sz="2266" dirty="0"/>
              <a:t>Schema Diagrams</a:t>
            </a:r>
          </a:p>
          <a:p>
            <a:r>
              <a:rPr lang="en-US" altLang="en-US" sz="2266" dirty="0"/>
              <a:t>Relational Query Languages</a:t>
            </a:r>
          </a:p>
          <a:p>
            <a:r>
              <a:rPr lang="en-US" altLang="en-US" sz="2266" dirty="0"/>
              <a:t>The Relational Algebra</a:t>
            </a:r>
          </a:p>
          <a:p>
            <a:endParaRPr lang="en-US" altLang="en-US" dirty="0"/>
          </a:p>
        </p:txBody>
      </p:sp>
    </p:spTree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62" name="Rectangle 2"/>
          <p:cNvSpPr>
            <a:spLocks noGrp="1" noChangeArrowheads="1"/>
          </p:cNvSpPr>
          <p:nvPr>
            <p:ph type="title"/>
          </p:nvPr>
        </p:nvSpPr>
        <p:spPr>
          <a:xfrm>
            <a:off x="1024441" y="117475"/>
            <a:ext cx="10769330" cy="609600"/>
          </a:xfrm>
        </p:spPr>
        <p:txBody>
          <a:bodyPr/>
          <a:lstStyle/>
          <a:p>
            <a:r>
              <a:rPr lang="en-US" altLang="en-US" sz="3733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Example of a </a:t>
            </a:r>
            <a:r>
              <a:rPr lang="en-US" altLang="en-US" sz="3733" i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Instructor</a:t>
            </a:r>
            <a:r>
              <a:rPr lang="en-US" altLang="en-US" sz="3733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 Relation</a:t>
            </a:r>
          </a:p>
        </p:txBody>
      </p:sp>
      <p:sp>
        <p:nvSpPr>
          <p:cNvPr id="5123" name="Text Box 4"/>
          <p:cNvSpPr txBox="1">
            <a:spLocks noChangeArrowheads="1"/>
          </p:cNvSpPr>
          <p:nvPr/>
        </p:nvSpPr>
        <p:spPr bwMode="auto">
          <a:xfrm>
            <a:off x="9465495" y="1333500"/>
            <a:ext cx="2166352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en-US" altLang="en-US" sz="2000" dirty="0"/>
              <a:t>Attributes </a:t>
            </a:r>
            <a:r>
              <a:rPr lang="zh-CN" altLang="en-US" sz="2000" dirty="0"/>
              <a:t>属性</a:t>
            </a:r>
            <a:endParaRPr lang="en-US" altLang="en-US" sz="2000" dirty="0"/>
          </a:p>
          <a:p>
            <a:pPr algn="ctr"/>
            <a:r>
              <a:rPr lang="en-US" altLang="en-US" sz="2000" dirty="0"/>
              <a:t>(or columns </a:t>
            </a:r>
            <a:r>
              <a:rPr lang="zh-CN" altLang="en-US" sz="2000" dirty="0"/>
              <a:t>列</a:t>
            </a:r>
            <a:r>
              <a:rPr lang="en-US" altLang="en-US" sz="2000" dirty="0"/>
              <a:t>)</a:t>
            </a:r>
          </a:p>
        </p:txBody>
      </p:sp>
      <p:sp>
        <p:nvSpPr>
          <p:cNvPr id="5124" name="Line 5"/>
          <p:cNvSpPr>
            <a:spLocks noChangeShapeType="1"/>
          </p:cNvSpPr>
          <p:nvPr/>
        </p:nvSpPr>
        <p:spPr bwMode="auto">
          <a:xfrm flipH="1">
            <a:off x="4317890" y="1565275"/>
            <a:ext cx="5236502" cy="3508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/>
          <a:lstStyle/>
          <a:p>
            <a:endParaRPr lang="en-IN"/>
          </a:p>
        </p:txBody>
      </p:sp>
      <p:sp>
        <p:nvSpPr>
          <p:cNvPr id="5125" name="Line 6"/>
          <p:cNvSpPr>
            <a:spLocks noChangeShapeType="1"/>
          </p:cNvSpPr>
          <p:nvPr/>
        </p:nvSpPr>
        <p:spPr bwMode="auto">
          <a:xfrm flipH="1">
            <a:off x="6144530" y="1546225"/>
            <a:ext cx="3409862" cy="3698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/>
          <a:lstStyle/>
          <a:p>
            <a:endParaRPr lang="en-IN"/>
          </a:p>
        </p:txBody>
      </p:sp>
      <p:sp>
        <p:nvSpPr>
          <p:cNvPr id="5126" name="Line 7"/>
          <p:cNvSpPr>
            <a:spLocks noChangeShapeType="1"/>
          </p:cNvSpPr>
          <p:nvPr/>
        </p:nvSpPr>
        <p:spPr bwMode="auto">
          <a:xfrm flipH="1">
            <a:off x="7759506" y="1565275"/>
            <a:ext cx="1761022" cy="3603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/>
          <a:lstStyle/>
          <a:p>
            <a:endParaRPr lang="en-IN"/>
          </a:p>
        </p:txBody>
      </p:sp>
      <p:sp>
        <p:nvSpPr>
          <p:cNvPr id="5127" name="Text Box 8"/>
          <p:cNvSpPr txBox="1">
            <a:spLocks noChangeArrowheads="1"/>
          </p:cNvSpPr>
          <p:nvPr/>
        </p:nvSpPr>
        <p:spPr bwMode="auto">
          <a:xfrm>
            <a:off x="9520528" y="2470834"/>
            <a:ext cx="1529713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en-US" altLang="en-US" sz="2000" dirty="0"/>
              <a:t>Tuples 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元组</a:t>
            </a:r>
            <a:endParaRPr lang="en-US" altLang="en-US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en-US" altLang="en-US" sz="2000" dirty="0"/>
              <a:t>(or rows 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行</a:t>
            </a:r>
            <a:r>
              <a:rPr lang="en-US" altLang="en-US" sz="2000" dirty="0"/>
              <a:t>)</a:t>
            </a:r>
          </a:p>
        </p:txBody>
      </p:sp>
      <p:sp>
        <p:nvSpPr>
          <p:cNvPr id="5128" name="Line 9"/>
          <p:cNvSpPr>
            <a:spLocks noChangeShapeType="1"/>
          </p:cNvSpPr>
          <p:nvPr/>
        </p:nvSpPr>
        <p:spPr bwMode="auto">
          <a:xfrm flipH="1" flipV="1">
            <a:off x="8989259" y="2487613"/>
            <a:ext cx="493170" cy="2206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/>
          <a:lstStyle/>
          <a:p>
            <a:endParaRPr lang="en-IN"/>
          </a:p>
        </p:txBody>
      </p:sp>
      <p:sp>
        <p:nvSpPr>
          <p:cNvPr id="5129" name="Line 10"/>
          <p:cNvSpPr>
            <a:spLocks noChangeShapeType="1"/>
          </p:cNvSpPr>
          <p:nvPr/>
        </p:nvSpPr>
        <p:spPr bwMode="auto">
          <a:xfrm flipH="1">
            <a:off x="8972326" y="2706688"/>
            <a:ext cx="493170" cy="111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/>
          <a:lstStyle/>
          <a:p>
            <a:endParaRPr lang="en-IN"/>
          </a:p>
        </p:txBody>
      </p:sp>
      <p:sp>
        <p:nvSpPr>
          <p:cNvPr id="5130" name="Line 11"/>
          <p:cNvSpPr>
            <a:spLocks noChangeShapeType="1"/>
          </p:cNvSpPr>
          <p:nvPr/>
        </p:nvSpPr>
        <p:spPr bwMode="auto">
          <a:xfrm flipH="1">
            <a:off x="8957509" y="2717800"/>
            <a:ext cx="522804" cy="3127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/>
          <a:lstStyle/>
          <a:p>
            <a:endParaRPr lang="en-IN"/>
          </a:p>
        </p:txBody>
      </p:sp>
      <p:sp>
        <p:nvSpPr>
          <p:cNvPr id="5131" name="Line 12"/>
          <p:cNvSpPr>
            <a:spLocks noChangeShapeType="1"/>
          </p:cNvSpPr>
          <p:nvPr/>
        </p:nvSpPr>
        <p:spPr bwMode="auto">
          <a:xfrm flipH="1">
            <a:off x="8972326" y="2727325"/>
            <a:ext cx="507987" cy="5556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/>
          <a:lstStyle/>
          <a:p>
            <a:endParaRPr lang="en-IN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xmlns="" id="{30151978-E921-4884-8DCD-8A5563064E4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rcRect b="13197"/>
          <a:stretch/>
        </p:blipFill>
        <p:spPr>
          <a:xfrm>
            <a:off x="2240435" y="1756896"/>
            <a:ext cx="6872644" cy="442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762" name="Rectangle 2"/>
          <p:cNvSpPr>
            <a:spLocks noGrp="1" noChangeArrowheads="1"/>
          </p:cNvSpPr>
          <p:nvPr>
            <p:ph type="title"/>
          </p:nvPr>
        </p:nvSpPr>
        <p:spPr>
          <a:xfrm>
            <a:off x="1024441" y="117475"/>
            <a:ext cx="10769330" cy="609600"/>
          </a:xfrm>
        </p:spPr>
        <p:txBody>
          <a:bodyPr lIns="90488" tIns="44450" rIns="90488" bIns="44450" anchor="ctr"/>
          <a:lstStyle/>
          <a:p>
            <a:r>
              <a:rPr lang="en-US" dirty="0"/>
              <a:t>Relation Schema and Instance</a:t>
            </a:r>
            <a:endParaRPr lang="en-US" altLang="en-US" dirty="0"/>
          </a:p>
        </p:txBody>
      </p:sp>
      <p:sp>
        <p:nvSpPr>
          <p:cNvPr id="512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24441" y="1104900"/>
            <a:ext cx="9054026" cy="3515868"/>
          </a:xfrm>
        </p:spPr>
        <p:txBody>
          <a:bodyPr lIns="90488" tIns="44450" rIns="90488" bIns="44450"/>
          <a:lstStyle/>
          <a:p>
            <a:r>
              <a:rPr lang="en-US" altLang="en-US" sz="2000" i="1" dirty="0">
                <a:ea typeface="ＭＳ Ｐゴシック" panose="020B0600070205080204" pitchFamily="34" charset="-128"/>
              </a:rPr>
              <a:t>A</a:t>
            </a:r>
            <a:r>
              <a:rPr lang="en-US" altLang="en-US" sz="2000" baseline="-25000" dirty="0">
                <a:ea typeface="ＭＳ Ｐゴシック" panose="020B0600070205080204" pitchFamily="34" charset="-128"/>
              </a:rPr>
              <a:t>1</a:t>
            </a:r>
            <a:r>
              <a:rPr lang="en-US" altLang="en-US" sz="2000" dirty="0">
                <a:ea typeface="ＭＳ Ｐゴシック" panose="020B0600070205080204" pitchFamily="34" charset="-128"/>
              </a:rPr>
              <a:t>, </a:t>
            </a:r>
            <a:r>
              <a:rPr lang="en-US" altLang="en-US" sz="2000" i="1" dirty="0">
                <a:ea typeface="ＭＳ Ｐゴシック" panose="020B0600070205080204" pitchFamily="34" charset="-128"/>
              </a:rPr>
              <a:t>A</a:t>
            </a:r>
            <a:r>
              <a:rPr lang="en-US" altLang="en-US" sz="2000" baseline="-25000" dirty="0">
                <a:ea typeface="ＭＳ Ｐゴシック" panose="020B0600070205080204" pitchFamily="34" charset="-128"/>
              </a:rPr>
              <a:t>2</a:t>
            </a:r>
            <a:r>
              <a:rPr lang="en-US" altLang="en-US" sz="2000" dirty="0">
                <a:ea typeface="ＭＳ Ｐゴシック" panose="020B0600070205080204" pitchFamily="34" charset="-128"/>
              </a:rPr>
              <a:t>, …, </a:t>
            </a:r>
            <a:r>
              <a:rPr lang="en-US" altLang="en-US" sz="2000" i="1" dirty="0">
                <a:ea typeface="ＭＳ Ｐゴシック" panose="020B0600070205080204" pitchFamily="34" charset="-128"/>
              </a:rPr>
              <a:t>A</a:t>
            </a:r>
            <a:r>
              <a:rPr lang="en-US" altLang="en-US" sz="2000" i="1" baseline="-25000" dirty="0">
                <a:ea typeface="ＭＳ Ｐゴシック" panose="020B0600070205080204" pitchFamily="34" charset="-128"/>
              </a:rPr>
              <a:t>n</a:t>
            </a:r>
            <a:r>
              <a:rPr lang="en-US" altLang="en-US" sz="2000" i="1" dirty="0">
                <a:ea typeface="ＭＳ Ｐゴシック" panose="020B0600070205080204" pitchFamily="34" charset="-128"/>
              </a:rPr>
              <a:t> </a:t>
            </a:r>
            <a:r>
              <a:rPr lang="en-US" altLang="en-US" sz="2000" dirty="0">
                <a:ea typeface="ＭＳ Ｐゴシック" panose="020B0600070205080204" pitchFamily="34" charset="-128"/>
              </a:rPr>
              <a:t>are </a:t>
            </a:r>
            <a:r>
              <a:rPr lang="en-US" altLang="en-US" sz="2000" i="1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attributes  </a:t>
            </a:r>
            <a:r>
              <a:rPr lang="zh-CN" altLang="en-US" sz="2000" dirty="0">
                <a:solidFill>
                  <a:srgbClr val="FF0000"/>
                </a:solidFill>
                <a:latin typeface="华文宋体" pitchFamily="2" charset="-122"/>
                <a:ea typeface="华文宋体" pitchFamily="2" charset="-122"/>
              </a:rPr>
              <a:t>属性</a:t>
            </a:r>
            <a:endParaRPr lang="en-US" altLang="en-US" sz="2000" dirty="0">
              <a:solidFill>
                <a:srgbClr val="FF0000"/>
              </a:solidFill>
              <a:latin typeface="华文宋体" pitchFamily="2" charset="-122"/>
              <a:ea typeface="华文宋体" pitchFamily="2" charset="-122"/>
            </a:endParaRPr>
          </a:p>
          <a:p>
            <a:r>
              <a:rPr lang="en-US" altLang="en-US" sz="2000" i="1" dirty="0">
                <a:ea typeface="ＭＳ Ｐゴシック" panose="020B0600070205080204" pitchFamily="34" charset="-128"/>
              </a:rPr>
              <a:t>R</a:t>
            </a:r>
            <a:r>
              <a:rPr lang="en-US" altLang="en-US" sz="2000" dirty="0">
                <a:ea typeface="ＭＳ Ｐゴシック" panose="020B0600070205080204" pitchFamily="34" charset="-128"/>
              </a:rPr>
              <a:t> = (</a:t>
            </a:r>
            <a:r>
              <a:rPr lang="en-US" altLang="en-US" sz="2000" i="1" dirty="0">
                <a:ea typeface="ＭＳ Ｐゴシック" panose="020B0600070205080204" pitchFamily="34" charset="-128"/>
              </a:rPr>
              <a:t>A</a:t>
            </a:r>
            <a:r>
              <a:rPr lang="en-US" altLang="en-US" sz="2000" baseline="-25000" dirty="0">
                <a:ea typeface="ＭＳ Ｐゴシック" panose="020B0600070205080204" pitchFamily="34" charset="-128"/>
              </a:rPr>
              <a:t>1</a:t>
            </a:r>
            <a:r>
              <a:rPr lang="en-US" altLang="en-US" sz="2000" dirty="0">
                <a:ea typeface="ＭＳ Ｐゴシック" panose="020B0600070205080204" pitchFamily="34" charset="-128"/>
              </a:rPr>
              <a:t>, </a:t>
            </a:r>
            <a:r>
              <a:rPr lang="en-US" altLang="en-US" sz="2000" i="1" dirty="0">
                <a:ea typeface="ＭＳ Ｐゴシック" panose="020B0600070205080204" pitchFamily="34" charset="-128"/>
              </a:rPr>
              <a:t>A</a:t>
            </a:r>
            <a:r>
              <a:rPr lang="en-US" altLang="en-US" sz="2000" baseline="-25000" dirty="0">
                <a:ea typeface="ＭＳ Ｐゴシック" panose="020B0600070205080204" pitchFamily="34" charset="-128"/>
              </a:rPr>
              <a:t>2</a:t>
            </a:r>
            <a:r>
              <a:rPr lang="en-US" altLang="en-US" sz="2000" dirty="0">
                <a:ea typeface="ＭＳ Ｐゴシック" panose="020B0600070205080204" pitchFamily="34" charset="-128"/>
              </a:rPr>
              <a:t>, …, </a:t>
            </a:r>
            <a:r>
              <a:rPr lang="en-US" altLang="en-US" sz="2000" i="1" dirty="0">
                <a:ea typeface="ＭＳ Ｐゴシック" panose="020B0600070205080204" pitchFamily="34" charset="-128"/>
              </a:rPr>
              <a:t>A</a:t>
            </a:r>
            <a:r>
              <a:rPr lang="en-US" altLang="en-US" sz="2000" i="1" baseline="-25000" dirty="0">
                <a:ea typeface="ＭＳ Ｐゴシック" panose="020B0600070205080204" pitchFamily="34" charset="-128"/>
              </a:rPr>
              <a:t>n</a:t>
            </a:r>
            <a:r>
              <a:rPr lang="en-US" altLang="en-US" sz="2000" dirty="0">
                <a:ea typeface="ＭＳ Ｐゴシック" panose="020B0600070205080204" pitchFamily="34" charset="-128"/>
              </a:rPr>
              <a:t> ) is a </a:t>
            </a:r>
            <a:r>
              <a:rPr lang="en-US" altLang="en-US" sz="2000" i="1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relation schema  </a:t>
            </a:r>
            <a:r>
              <a:rPr lang="zh-CN" altLang="en-US" sz="2000" dirty="0">
                <a:solidFill>
                  <a:srgbClr val="FF0000"/>
                </a:solidFill>
                <a:latin typeface="华文宋体" pitchFamily="2" charset="-122"/>
                <a:ea typeface="华文宋体" pitchFamily="2" charset="-122"/>
              </a:rPr>
              <a:t>关系模式</a:t>
            </a:r>
            <a:endParaRPr lang="en-US" altLang="en-US" sz="2000" dirty="0">
              <a:solidFill>
                <a:srgbClr val="FF0000"/>
              </a:solidFill>
              <a:latin typeface="华文宋体" pitchFamily="2" charset="-122"/>
              <a:ea typeface="华文宋体" pitchFamily="2" charset="-122"/>
            </a:endParaRPr>
          </a:p>
          <a:p>
            <a:pPr>
              <a:lnSpc>
                <a:spcPct val="120000"/>
              </a:lnSpc>
              <a:buFont typeface="Monotype Sorts" charset="2"/>
              <a:buNone/>
            </a:pPr>
            <a:r>
              <a:rPr lang="en-US" altLang="en-US" sz="2000" dirty="0">
                <a:ea typeface="ＭＳ Ｐゴシック" panose="020B0600070205080204" pitchFamily="34" charset="-128"/>
              </a:rPr>
              <a:t>	Example:</a:t>
            </a:r>
          </a:p>
          <a:p>
            <a:pPr>
              <a:lnSpc>
                <a:spcPct val="120000"/>
              </a:lnSpc>
              <a:buFont typeface="Monotype Sorts" charset="2"/>
              <a:buNone/>
            </a:pPr>
            <a:r>
              <a:rPr lang="en-US" altLang="en-US" sz="2000" dirty="0">
                <a:ea typeface="ＭＳ Ｐゴシック" panose="020B0600070205080204" pitchFamily="34" charset="-128"/>
              </a:rPr>
              <a:t>	</a:t>
            </a:r>
            <a:r>
              <a:rPr lang="en-US" altLang="en-US" sz="2000" i="1" dirty="0">
                <a:ea typeface="ＭＳ Ｐゴシック" panose="020B0600070205080204" pitchFamily="34" charset="-128"/>
              </a:rPr>
              <a:t>     instructor </a:t>
            </a:r>
            <a:r>
              <a:rPr lang="en-US" altLang="en-US" sz="2000" dirty="0">
                <a:ea typeface="ＭＳ Ｐゴシック" panose="020B0600070205080204" pitchFamily="34" charset="-128"/>
              </a:rPr>
              <a:t> = (</a:t>
            </a:r>
            <a:r>
              <a:rPr lang="en-US" altLang="en-US" sz="2000" i="1" dirty="0">
                <a:ea typeface="ＭＳ Ｐゴシック" panose="020B0600070205080204" pitchFamily="34" charset="-128"/>
              </a:rPr>
              <a:t>ID,  name, dept_name, salary</a:t>
            </a:r>
            <a:r>
              <a:rPr lang="en-US" altLang="en-US" sz="2000" dirty="0">
                <a:ea typeface="ＭＳ Ｐゴシック" panose="020B0600070205080204" pitchFamily="34" charset="-128"/>
              </a:rPr>
              <a:t>)</a:t>
            </a:r>
          </a:p>
          <a:p>
            <a:pPr>
              <a:lnSpc>
                <a:spcPct val="120000"/>
              </a:lnSpc>
            </a:pPr>
            <a:r>
              <a:rPr lang="en-US" altLang="en-US" sz="2000" dirty="0"/>
              <a:t>A relation instance </a:t>
            </a:r>
            <a:r>
              <a:rPr lang="en-US" altLang="en-US" sz="2000" i="1" dirty="0"/>
              <a:t>r</a:t>
            </a:r>
            <a:r>
              <a:rPr lang="en-US" altLang="en-US" sz="2000" dirty="0"/>
              <a:t> defined over schema </a:t>
            </a:r>
            <a:r>
              <a:rPr lang="en-US" altLang="en-US" sz="2000" i="1" dirty="0"/>
              <a:t>R</a:t>
            </a:r>
            <a:r>
              <a:rPr lang="en-US" altLang="en-US" sz="2000" dirty="0"/>
              <a:t> is denoted  by </a:t>
            </a:r>
            <a:r>
              <a:rPr lang="en-US" altLang="en-US" sz="2000" i="1" dirty="0"/>
              <a:t>r </a:t>
            </a:r>
            <a:r>
              <a:rPr lang="en-US" altLang="en-US" sz="2000" dirty="0"/>
              <a:t>(</a:t>
            </a:r>
            <a:r>
              <a:rPr lang="en-US" altLang="en-US" sz="2000" i="1" dirty="0"/>
              <a:t>R</a:t>
            </a:r>
            <a:r>
              <a:rPr lang="en-US" altLang="en-US" sz="2000" dirty="0"/>
              <a:t>).</a:t>
            </a:r>
          </a:p>
          <a:p>
            <a:pPr>
              <a:lnSpc>
                <a:spcPct val="120000"/>
              </a:lnSpc>
            </a:pPr>
            <a:r>
              <a:rPr lang="en-US" altLang="en-US" sz="2000" dirty="0"/>
              <a:t>The current values a relation are specified by a table</a:t>
            </a:r>
          </a:p>
          <a:p>
            <a:pPr>
              <a:lnSpc>
                <a:spcPct val="120000"/>
              </a:lnSpc>
            </a:pPr>
            <a:r>
              <a:rPr lang="en-US" altLang="en-US" sz="2000" dirty="0"/>
              <a:t>An element </a:t>
            </a:r>
            <a:r>
              <a:rPr lang="en-US" altLang="en-US" sz="2000" b="1" i="1" dirty="0">
                <a:solidFill>
                  <a:srgbClr val="000099"/>
                </a:solidFill>
              </a:rPr>
              <a:t>t</a:t>
            </a:r>
            <a:r>
              <a:rPr lang="en-US" altLang="en-US" sz="2000" b="1" dirty="0">
                <a:solidFill>
                  <a:srgbClr val="000099"/>
                </a:solidFill>
              </a:rPr>
              <a:t> </a:t>
            </a:r>
            <a:r>
              <a:rPr lang="en-US" altLang="en-US" sz="2000" dirty="0"/>
              <a:t>of</a:t>
            </a:r>
            <a:r>
              <a:rPr lang="en-US" altLang="en-US" sz="2000" b="1" dirty="0">
                <a:solidFill>
                  <a:schemeClr val="bg2"/>
                </a:solidFill>
              </a:rPr>
              <a:t> </a:t>
            </a:r>
            <a:r>
              <a:rPr lang="en-US" altLang="en-US" sz="2000" dirty="0"/>
              <a:t>relation</a:t>
            </a:r>
            <a:r>
              <a:rPr lang="en-US" altLang="en-US" sz="2000" b="1" dirty="0">
                <a:solidFill>
                  <a:schemeClr val="bg2"/>
                </a:solidFill>
              </a:rPr>
              <a:t> </a:t>
            </a:r>
            <a:r>
              <a:rPr lang="en-US" altLang="en-US" sz="2000" b="1" i="1" dirty="0">
                <a:solidFill>
                  <a:srgbClr val="000099"/>
                </a:solidFill>
              </a:rPr>
              <a:t>r</a:t>
            </a:r>
            <a:r>
              <a:rPr lang="en-US" altLang="en-US" sz="2000" dirty="0"/>
              <a:t> is called a  </a:t>
            </a:r>
            <a:r>
              <a:rPr lang="en-US" altLang="en-US" sz="2000" i="1" dirty="0">
                <a:solidFill>
                  <a:srgbClr val="FF0000"/>
                </a:solidFill>
              </a:rPr>
              <a:t>tuple </a:t>
            </a:r>
            <a:r>
              <a:rPr lang="zh-CN" altLang="en-US" sz="2000" dirty="0">
                <a:solidFill>
                  <a:srgbClr val="FF0000"/>
                </a:solidFill>
                <a:latin typeface="华文宋体" pitchFamily="2" charset="-122"/>
                <a:ea typeface="华文宋体" pitchFamily="2" charset="-122"/>
              </a:rPr>
              <a:t>（发音</a:t>
            </a:r>
            <a:r>
              <a:rPr lang="en-US" altLang="zh-CN" sz="2000" b="0" i="0" dirty="0">
                <a:solidFill>
                  <a:srgbClr val="060607"/>
                </a:solidFill>
                <a:effectLst/>
                <a:latin typeface="-apple-system"/>
              </a:rPr>
              <a:t>/ˈ</a:t>
            </a:r>
            <a:r>
              <a:rPr lang="en-US" altLang="zh-CN" sz="2000" b="0" i="0" dirty="0" err="1">
                <a:solidFill>
                  <a:srgbClr val="060607"/>
                </a:solidFill>
                <a:effectLst/>
                <a:latin typeface="-apple-system"/>
              </a:rPr>
              <a:t>tʌpəl</a:t>
            </a:r>
            <a:r>
              <a:rPr lang="en-US" altLang="zh-CN" sz="2000" b="0" i="0" dirty="0">
                <a:solidFill>
                  <a:srgbClr val="060607"/>
                </a:solidFill>
                <a:effectLst/>
                <a:latin typeface="-apple-system"/>
              </a:rPr>
              <a:t>/</a:t>
            </a:r>
            <a:r>
              <a:rPr lang="zh-CN" altLang="en-US" sz="2000" b="0" i="0" dirty="0">
                <a:solidFill>
                  <a:srgbClr val="060607"/>
                </a:solidFill>
                <a:effectLst/>
                <a:latin typeface="-apple-system"/>
              </a:rPr>
              <a:t>，</a:t>
            </a:r>
            <a:r>
              <a:rPr lang="zh-CN" altLang="en-US" sz="2000" dirty="0">
                <a:solidFill>
                  <a:srgbClr val="FF0000"/>
                </a:solidFill>
                <a:latin typeface="华文宋体" pitchFamily="2" charset="-122"/>
                <a:ea typeface="华文宋体" pitchFamily="2" charset="-122"/>
              </a:rPr>
              <a:t>元组）</a:t>
            </a:r>
            <a:r>
              <a:rPr lang="en-US" altLang="en-US" sz="2000" dirty="0">
                <a:solidFill>
                  <a:srgbClr val="FF0000"/>
                </a:solidFill>
                <a:latin typeface="华文宋体" pitchFamily="2" charset="-122"/>
                <a:ea typeface="华文宋体" pitchFamily="2" charset="-122"/>
              </a:rPr>
              <a:t> </a:t>
            </a:r>
            <a:r>
              <a:rPr lang="en-US" altLang="en-US" sz="2000" dirty="0"/>
              <a:t>and is represented by a </a:t>
            </a:r>
            <a:r>
              <a:rPr lang="en-US" altLang="en-US" sz="2000" i="1" dirty="0">
                <a:solidFill>
                  <a:srgbClr val="FF0000"/>
                </a:solidFill>
              </a:rPr>
              <a:t>row</a:t>
            </a:r>
            <a:r>
              <a:rPr lang="en-US" altLang="en-US" sz="2000" i="1" dirty="0"/>
              <a:t> </a:t>
            </a:r>
            <a:r>
              <a:rPr lang="en-US" altLang="en-US" sz="2000" dirty="0"/>
              <a:t>in a table</a:t>
            </a:r>
          </a:p>
          <a:p>
            <a:pPr>
              <a:lnSpc>
                <a:spcPct val="120000"/>
              </a:lnSpc>
            </a:pPr>
            <a:endParaRPr lang="en-US" altLang="en-US" sz="2000" dirty="0"/>
          </a:p>
        </p:txBody>
      </p:sp>
    </p:spTree>
    <p:extLst>
      <p:ext uri="{BB962C8B-B14F-4D97-AF65-F5344CB8AC3E}">
        <p14:creationId xmlns:p14="http://schemas.microsoft.com/office/powerpoint/2010/main" xmlns="" val="273649219"/>
      </p:ext>
    </p:extLst>
  </p:cSld>
  <p:clrMapOvr>
    <a:masterClrMapping/>
  </p:clrMapOvr>
  <p:transition spd="slow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810" name="Rectangle 2"/>
          <p:cNvSpPr>
            <a:spLocks noGrp="1" noChangeArrowheads="1"/>
          </p:cNvSpPr>
          <p:nvPr>
            <p:ph type="title"/>
          </p:nvPr>
        </p:nvSpPr>
        <p:spPr>
          <a:xfrm>
            <a:off x="1024441" y="117475"/>
            <a:ext cx="10769330" cy="609600"/>
          </a:xfrm>
        </p:spPr>
        <p:txBody>
          <a:bodyPr/>
          <a:lstStyle/>
          <a:p>
            <a:r>
              <a:rPr lang="en-US" altLang="en-US" sz="3733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Attributes</a:t>
            </a:r>
          </a:p>
        </p:txBody>
      </p:sp>
      <p:sp>
        <p:nvSpPr>
          <p:cNvPr id="614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24442" y="1219200"/>
            <a:ext cx="10208488" cy="4230624"/>
          </a:xfrm>
        </p:spPr>
        <p:txBody>
          <a:bodyPr/>
          <a:lstStyle/>
          <a:p>
            <a:r>
              <a:rPr lang="en-US" altLang="en-US" sz="2266" dirty="0"/>
              <a:t>The set of allowed values for each attribute is called the </a:t>
            </a:r>
            <a:r>
              <a:rPr lang="en-US" altLang="en-US" sz="2266" b="1" dirty="0">
                <a:solidFill>
                  <a:srgbClr val="FF0000"/>
                </a:solidFill>
              </a:rPr>
              <a:t>domain</a:t>
            </a:r>
            <a:r>
              <a:rPr lang="en-US" altLang="en-US" sz="2266" dirty="0">
                <a:solidFill>
                  <a:srgbClr val="002060"/>
                </a:solidFill>
              </a:rPr>
              <a:t> </a:t>
            </a:r>
            <a:r>
              <a:rPr lang="en-US" altLang="en-US" sz="2266" dirty="0"/>
              <a:t>of the attribute  </a:t>
            </a:r>
            <a:r>
              <a:rPr lang="zh-CN" altLang="en-US" sz="2266" dirty="0">
                <a:latin typeface="华文宋体" pitchFamily="2" charset="-122"/>
                <a:ea typeface="华文宋体" pitchFamily="2" charset="-122"/>
              </a:rPr>
              <a:t>域：属性的取值集合</a:t>
            </a:r>
            <a:endParaRPr lang="en-US" altLang="en-US" sz="1700" dirty="0">
              <a:latin typeface="华文宋体" pitchFamily="2" charset="-122"/>
              <a:ea typeface="华文宋体" pitchFamily="2" charset="-122"/>
            </a:endParaRPr>
          </a:p>
          <a:p>
            <a:r>
              <a:rPr lang="en-US" altLang="en-US" sz="2266" dirty="0"/>
              <a:t>Attribute values are (normally) required to be </a:t>
            </a:r>
            <a:r>
              <a:rPr lang="en-US" altLang="en-US" sz="2266" b="1" dirty="0">
                <a:solidFill>
                  <a:srgbClr val="FF0000"/>
                </a:solidFill>
              </a:rPr>
              <a:t>atomic </a:t>
            </a:r>
            <a:r>
              <a:rPr lang="zh-CN" altLang="en-US" sz="2266" dirty="0">
                <a:solidFill>
                  <a:srgbClr val="FF0000"/>
                </a:solidFill>
                <a:latin typeface="华文宋体" pitchFamily="2" charset="-122"/>
                <a:ea typeface="华文宋体" pitchFamily="2" charset="-122"/>
              </a:rPr>
              <a:t>（原子性）</a:t>
            </a:r>
            <a:r>
              <a:rPr lang="en-US" altLang="en-US" sz="2266" dirty="0"/>
              <a:t>; that is, indivisible</a:t>
            </a:r>
            <a:r>
              <a:rPr lang="zh-CN" altLang="en-US" sz="2266" dirty="0"/>
              <a:t>，</a:t>
            </a:r>
            <a:r>
              <a:rPr lang="zh-CN" altLang="en-US" dirty="0">
                <a:latin typeface="华文宋体" pitchFamily="2" charset="-122"/>
                <a:ea typeface="华文宋体" pitchFamily="2" charset="-122"/>
              </a:rPr>
              <a:t>不可分割</a:t>
            </a:r>
            <a:endParaRPr lang="en-US" altLang="en-US" dirty="0">
              <a:latin typeface="华文宋体" pitchFamily="2" charset="-122"/>
              <a:ea typeface="华文宋体" pitchFamily="2" charset="-122"/>
            </a:endParaRPr>
          </a:p>
          <a:p>
            <a:r>
              <a:rPr lang="en-US" altLang="en-US" sz="2266" dirty="0"/>
              <a:t>The special value</a:t>
            </a:r>
            <a:r>
              <a:rPr lang="en-US" altLang="en-US" sz="2266" b="1" dirty="0">
                <a:solidFill>
                  <a:schemeClr val="tx2"/>
                </a:solidFill>
              </a:rPr>
              <a:t> </a:t>
            </a:r>
            <a:r>
              <a:rPr lang="en-US" altLang="en-US" sz="2266" b="1" i="1" dirty="0">
                <a:solidFill>
                  <a:srgbClr val="FF0000"/>
                </a:solidFill>
              </a:rPr>
              <a:t>null</a:t>
            </a:r>
            <a:r>
              <a:rPr lang="en-US" altLang="en-US" sz="2266" dirty="0"/>
              <a:t> </a:t>
            </a:r>
            <a:r>
              <a:rPr lang="zh-CN" altLang="en-US" sz="2000" dirty="0">
                <a:solidFill>
                  <a:srgbClr val="FF0000"/>
                </a:solidFill>
                <a:latin typeface="华文宋体" pitchFamily="2" charset="-122"/>
                <a:ea typeface="华文宋体" pitchFamily="2" charset="-122"/>
              </a:rPr>
              <a:t>（读音</a:t>
            </a:r>
            <a:r>
              <a:rPr lang="en-US" altLang="zh-CN" sz="2000" b="0" i="0" dirty="0">
                <a:solidFill>
                  <a:srgbClr val="060607"/>
                </a:solidFill>
                <a:effectLst/>
                <a:latin typeface="-apple-system"/>
              </a:rPr>
              <a:t>/</a:t>
            </a:r>
            <a:r>
              <a:rPr lang="en-US" altLang="zh-CN" sz="2000" b="0" i="0" dirty="0" err="1">
                <a:solidFill>
                  <a:srgbClr val="060607"/>
                </a:solidFill>
                <a:effectLst/>
                <a:latin typeface="-apple-system"/>
              </a:rPr>
              <a:t>nʌl</a:t>
            </a:r>
            <a:r>
              <a:rPr lang="en-US" altLang="zh-CN" sz="2000" b="0" i="0" dirty="0">
                <a:solidFill>
                  <a:srgbClr val="060607"/>
                </a:solidFill>
                <a:effectLst/>
                <a:latin typeface="-apple-system"/>
              </a:rPr>
              <a:t>/</a:t>
            </a:r>
            <a:r>
              <a:rPr lang="zh-CN" altLang="en-US" sz="2000" b="0" i="0" dirty="0">
                <a:solidFill>
                  <a:srgbClr val="060607"/>
                </a:solidFill>
                <a:effectLst/>
                <a:latin typeface="-apple-system"/>
              </a:rPr>
              <a:t>，</a:t>
            </a:r>
            <a:r>
              <a:rPr lang="zh-CN" altLang="en-US" sz="2000" dirty="0">
                <a:solidFill>
                  <a:srgbClr val="FF0000"/>
                </a:solidFill>
                <a:latin typeface="华文宋体" pitchFamily="2" charset="-122"/>
                <a:ea typeface="华文宋体" pitchFamily="2" charset="-122"/>
              </a:rPr>
              <a:t>空值）</a:t>
            </a:r>
            <a:r>
              <a:rPr lang="en-US" altLang="en-US" sz="2000" dirty="0"/>
              <a:t> </a:t>
            </a:r>
            <a:r>
              <a:rPr lang="en-US" altLang="en-US" sz="2266" dirty="0"/>
              <a:t>is a member of every domain. Indicated that the value is “unknown”  </a:t>
            </a:r>
            <a:r>
              <a:rPr lang="zh-CN" altLang="en-US" dirty="0">
                <a:latin typeface="华文宋体" pitchFamily="2" charset="-122"/>
                <a:ea typeface="华文宋体" pitchFamily="2" charset="-122"/>
              </a:rPr>
              <a:t>空值：不知道，不确定</a:t>
            </a:r>
            <a:endParaRPr lang="en-US" altLang="en-US" dirty="0">
              <a:latin typeface="华文宋体" pitchFamily="2" charset="-122"/>
              <a:ea typeface="华文宋体" pitchFamily="2" charset="-122"/>
            </a:endParaRPr>
          </a:p>
          <a:p>
            <a:r>
              <a:rPr lang="en-US" altLang="en-US" sz="2266" dirty="0"/>
              <a:t>The null value causes complications in the definition of many operations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810" name="Rectangle 2"/>
          <p:cNvSpPr>
            <a:spLocks noGrp="1" noChangeArrowheads="1"/>
          </p:cNvSpPr>
          <p:nvPr>
            <p:ph type="title"/>
          </p:nvPr>
        </p:nvSpPr>
        <p:spPr>
          <a:xfrm>
            <a:off x="1024441" y="117475"/>
            <a:ext cx="10769330" cy="609600"/>
          </a:xfrm>
        </p:spPr>
        <p:txBody>
          <a:bodyPr/>
          <a:lstStyle/>
          <a:p>
            <a:r>
              <a:rPr lang="en-US" altLang="en-US" sz="3733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Relations are Unordered</a:t>
            </a:r>
          </a:p>
        </p:txBody>
      </p:sp>
      <p:sp>
        <p:nvSpPr>
          <p:cNvPr id="614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24441" y="1219200"/>
            <a:ext cx="10161141" cy="1048512"/>
          </a:xfrm>
        </p:spPr>
        <p:txBody>
          <a:bodyPr/>
          <a:lstStyle/>
          <a:p>
            <a:r>
              <a:rPr lang="en-US" altLang="en-US" sz="2266" dirty="0"/>
              <a:t>Order of tuples is irrelevant (tuples may be stored in an arbitrary order) </a:t>
            </a:r>
            <a:r>
              <a:rPr lang="zh-CN" altLang="en-US" sz="2266" dirty="0">
                <a:latin typeface="华文宋体" pitchFamily="2" charset="-122"/>
                <a:ea typeface="华文宋体" pitchFamily="2" charset="-122"/>
              </a:rPr>
              <a:t>元组顺序无所谓</a:t>
            </a:r>
            <a:endParaRPr lang="en-US" altLang="en-US" sz="1700" dirty="0">
              <a:latin typeface="华文宋体" pitchFamily="2" charset="-122"/>
              <a:ea typeface="华文宋体" pitchFamily="2" charset="-122"/>
            </a:endParaRPr>
          </a:p>
          <a:p>
            <a:r>
              <a:rPr lang="en-US" altLang="en-US" sz="2266" dirty="0"/>
              <a:t>Example: </a:t>
            </a:r>
            <a:r>
              <a:rPr lang="en-US" altLang="en-US" sz="2266" i="1" dirty="0"/>
              <a:t>instructor</a:t>
            </a:r>
            <a:r>
              <a:rPr lang="en-US" altLang="en-US" sz="2266" dirty="0"/>
              <a:t>  relation with unordered tuples</a:t>
            </a:r>
          </a:p>
          <a:p>
            <a:endParaRPr lang="en-US" altLang="en-US" dirty="0"/>
          </a:p>
          <a:p>
            <a:endParaRPr lang="en-US" alt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xmlns="" id="{422967B4-430E-442F-B611-B9DC46ED7A2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rcRect t="-1" b="12197"/>
          <a:stretch/>
        </p:blipFill>
        <p:spPr>
          <a:xfrm>
            <a:off x="2598491" y="2357120"/>
            <a:ext cx="6270160" cy="371358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02" name="Rectangle 2"/>
          <p:cNvSpPr>
            <a:spLocks noGrp="1" noChangeArrowheads="1"/>
          </p:cNvSpPr>
          <p:nvPr>
            <p:ph type="title"/>
          </p:nvPr>
        </p:nvSpPr>
        <p:spPr>
          <a:xfrm>
            <a:off x="1024441" y="117475"/>
            <a:ext cx="10769330" cy="609600"/>
          </a:xfrm>
        </p:spPr>
        <p:txBody>
          <a:bodyPr/>
          <a:lstStyle/>
          <a:p>
            <a:r>
              <a:rPr lang="en-US" altLang="en-US" sz="3733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Database Schema</a:t>
            </a:r>
          </a:p>
        </p:txBody>
      </p:sp>
      <p:sp>
        <p:nvSpPr>
          <p:cNvPr id="921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24442" y="750597"/>
            <a:ext cx="10125632" cy="2055431"/>
          </a:xfrm>
        </p:spPr>
        <p:txBody>
          <a:bodyPr/>
          <a:lstStyle/>
          <a:p>
            <a:r>
              <a:rPr lang="en-US" altLang="en-US" sz="2266" dirty="0">
                <a:sym typeface="Symbol" panose="05050102010706020507" pitchFamily="18" charset="2"/>
              </a:rPr>
              <a:t>Database schema -- is the logical structure of the database.</a:t>
            </a:r>
          </a:p>
          <a:p>
            <a:r>
              <a:rPr lang="en-US" altLang="en-US" sz="2266" dirty="0">
                <a:sym typeface="Symbol" panose="05050102010706020507" pitchFamily="18" charset="2"/>
              </a:rPr>
              <a:t>Database instance -- is a snapshot </a:t>
            </a:r>
            <a:r>
              <a:rPr lang="zh-CN" altLang="en-US" sz="2266" dirty="0">
                <a:sym typeface="Symbol" panose="05050102010706020507" pitchFamily="18" charset="2"/>
              </a:rPr>
              <a:t>（</a:t>
            </a:r>
            <a:r>
              <a:rPr lang="zh-CN" altLang="en-US" sz="2266" dirty="0">
                <a:latin typeface="华文宋体" pitchFamily="2" charset="-122"/>
                <a:ea typeface="华文宋体" pitchFamily="2" charset="-122"/>
                <a:sym typeface="Symbol" panose="05050102010706020507" pitchFamily="18" charset="2"/>
              </a:rPr>
              <a:t>快照</a:t>
            </a:r>
            <a:r>
              <a:rPr lang="zh-CN" altLang="en-US" sz="2266" dirty="0">
                <a:sym typeface="Symbol" panose="05050102010706020507" pitchFamily="18" charset="2"/>
              </a:rPr>
              <a:t>）</a:t>
            </a:r>
            <a:r>
              <a:rPr lang="en-US" altLang="en-US" sz="2266" dirty="0">
                <a:sym typeface="Symbol" panose="05050102010706020507" pitchFamily="18" charset="2"/>
              </a:rPr>
              <a:t> of the data in the database at a given instant in time. </a:t>
            </a:r>
          </a:p>
          <a:p>
            <a:r>
              <a:rPr lang="en-US" altLang="en-US" sz="2266" dirty="0">
                <a:sym typeface="Symbol" panose="05050102010706020507" pitchFamily="18" charset="2"/>
              </a:rPr>
              <a:t>Example:</a:t>
            </a:r>
          </a:p>
          <a:p>
            <a:pPr lvl="1"/>
            <a:r>
              <a:rPr lang="en-US" altLang="en-US" sz="2266" dirty="0">
                <a:sym typeface="Symbol" panose="05050102010706020507" pitchFamily="18" charset="2"/>
              </a:rPr>
              <a:t>schema:   i</a:t>
            </a:r>
            <a:r>
              <a:rPr lang="en-US" altLang="en-US" sz="2266" i="1" dirty="0">
                <a:sym typeface="Symbol" panose="05050102010706020507" pitchFamily="18" charset="2"/>
              </a:rPr>
              <a:t>nstructor</a:t>
            </a:r>
            <a:r>
              <a:rPr lang="en-US" altLang="en-US" sz="2266" dirty="0">
                <a:sym typeface="Symbol" panose="05050102010706020507" pitchFamily="18" charset="2"/>
              </a:rPr>
              <a:t> (</a:t>
            </a:r>
            <a:r>
              <a:rPr lang="en-US" altLang="en-US" sz="2266" i="1" dirty="0">
                <a:sym typeface="Symbol" panose="05050102010706020507" pitchFamily="18" charset="2"/>
              </a:rPr>
              <a:t>ID, name, dept_name, salary</a:t>
            </a:r>
            <a:r>
              <a:rPr lang="en-US" altLang="en-US" sz="2266" dirty="0">
                <a:sym typeface="Symbol" panose="05050102010706020507" pitchFamily="18" charset="2"/>
              </a:rPr>
              <a:t>)</a:t>
            </a:r>
          </a:p>
          <a:p>
            <a:pPr lvl="1"/>
            <a:r>
              <a:rPr lang="en-US" altLang="en-US" sz="2266" dirty="0">
                <a:sym typeface="Symbol" panose="05050102010706020507" pitchFamily="18" charset="2"/>
              </a:rPr>
              <a:t>Instance: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xmlns="" id="{BD43850F-C798-4B0C-AB3F-7891AC78428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rcRect t="-1" b="12197"/>
          <a:stretch/>
        </p:blipFill>
        <p:spPr>
          <a:xfrm>
            <a:off x="3452429" y="2909279"/>
            <a:ext cx="5977251" cy="354010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02" name="Rectangle 2"/>
          <p:cNvSpPr>
            <a:spLocks noGrp="1" noChangeArrowheads="1"/>
          </p:cNvSpPr>
          <p:nvPr>
            <p:ph type="title"/>
          </p:nvPr>
        </p:nvSpPr>
        <p:spPr>
          <a:xfrm>
            <a:off x="1024441" y="117475"/>
            <a:ext cx="10769330" cy="609600"/>
          </a:xfrm>
        </p:spPr>
        <p:txBody>
          <a:bodyPr/>
          <a:lstStyle/>
          <a:p>
            <a:r>
              <a:rPr lang="en-US" altLang="en-US" sz="3733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Keys </a:t>
            </a:r>
            <a:r>
              <a:rPr lang="zh-CN" altLang="en-US" sz="3733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码</a:t>
            </a:r>
            <a:endParaRPr lang="en-US" altLang="en-US" sz="280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921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24442" y="1098865"/>
            <a:ext cx="10196651" cy="4896167"/>
          </a:xfrm>
        </p:spPr>
        <p:txBody>
          <a:bodyPr/>
          <a:lstStyle/>
          <a:p>
            <a:r>
              <a:rPr lang="en-US" altLang="en-US" sz="2000" dirty="0"/>
              <a:t>Let K </a:t>
            </a:r>
            <a:r>
              <a:rPr lang="en-US" altLang="en-US" sz="2000" dirty="0">
                <a:sym typeface="Symbol" panose="05050102010706020507" pitchFamily="18" charset="2"/>
              </a:rPr>
              <a:t> R</a:t>
            </a:r>
          </a:p>
          <a:p>
            <a:r>
              <a:rPr lang="en-US" altLang="en-US" sz="2000" i="1" dirty="0">
                <a:sym typeface="Symbol" panose="05050102010706020507" pitchFamily="18" charset="2"/>
              </a:rPr>
              <a:t>K </a:t>
            </a:r>
            <a:r>
              <a:rPr lang="en-US" altLang="en-US" sz="2000" dirty="0">
                <a:sym typeface="Symbol" panose="05050102010706020507" pitchFamily="18" charset="2"/>
              </a:rPr>
              <a:t>is a </a:t>
            </a:r>
            <a:r>
              <a:rPr lang="en-US" altLang="en-US" sz="2000" b="1" dirty="0" err="1">
                <a:solidFill>
                  <a:srgbClr val="FF0000"/>
                </a:solidFill>
                <a:sym typeface="Symbol" panose="05050102010706020507" pitchFamily="18" charset="2"/>
              </a:rPr>
              <a:t>superkey</a:t>
            </a:r>
            <a:r>
              <a:rPr lang="en-US" altLang="en-US" sz="2000" b="1" dirty="0">
                <a:solidFill>
                  <a:srgbClr val="FF0000"/>
                </a:solidFill>
                <a:sym typeface="Symbol" panose="05050102010706020507" pitchFamily="18" charset="2"/>
              </a:rPr>
              <a:t> </a:t>
            </a:r>
            <a:r>
              <a:rPr lang="zh-CN" altLang="en-US" sz="2000" b="1" dirty="0">
                <a:solidFill>
                  <a:srgbClr val="FF0000"/>
                </a:solidFill>
                <a:latin typeface="华文宋体" pitchFamily="2" charset="-122"/>
                <a:ea typeface="华文宋体" pitchFamily="2" charset="-122"/>
                <a:sym typeface="Symbol" panose="05050102010706020507" pitchFamily="18" charset="2"/>
              </a:rPr>
              <a:t>（超码）</a:t>
            </a:r>
            <a:r>
              <a:rPr lang="en-US" altLang="en-US" sz="2000" b="1" dirty="0">
                <a:solidFill>
                  <a:srgbClr val="FF0000"/>
                </a:solidFill>
                <a:latin typeface="华文宋体" pitchFamily="2" charset="-122"/>
                <a:ea typeface="华文宋体" pitchFamily="2" charset="-122"/>
                <a:sym typeface="Symbol" panose="05050102010706020507" pitchFamily="18" charset="2"/>
              </a:rPr>
              <a:t> </a:t>
            </a:r>
            <a:r>
              <a:rPr lang="en-US" altLang="en-US" sz="2000" dirty="0">
                <a:sym typeface="Symbol" panose="05050102010706020507" pitchFamily="18" charset="2"/>
              </a:rPr>
              <a:t>of </a:t>
            </a:r>
            <a:r>
              <a:rPr lang="en-US" altLang="en-US" sz="2000" i="1" dirty="0">
                <a:sym typeface="Symbol" panose="05050102010706020507" pitchFamily="18" charset="2"/>
              </a:rPr>
              <a:t>R</a:t>
            </a:r>
            <a:r>
              <a:rPr lang="en-US" altLang="en-US" sz="2000" dirty="0">
                <a:sym typeface="Symbol" panose="05050102010706020507" pitchFamily="18" charset="2"/>
              </a:rPr>
              <a:t> if values for </a:t>
            </a:r>
            <a:r>
              <a:rPr lang="en-US" altLang="en-US" sz="2000" i="1" dirty="0">
                <a:sym typeface="Symbol" panose="05050102010706020507" pitchFamily="18" charset="2"/>
              </a:rPr>
              <a:t>K</a:t>
            </a:r>
            <a:r>
              <a:rPr lang="en-US" altLang="en-US" sz="2000" dirty="0">
                <a:sym typeface="Symbol" panose="05050102010706020507" pitchFamily="18" charset="2"/>
              </a:rPr>
              <a:t> are sufficient to identify a unique tuple of each possible relation </a:t>
            </a:r>
            <a:r>
              <a:rPr lang="en-US" altLang="en-US" sz="2000" i="1" dirty="0">
                <a:sym typeface="Symbol" panose="05050102010706020507" pitchFamily="18" charset="2"/>
              </a:rPr>
              <a:t>r(R)</a:t>
            </a:r>
            <a:r>
              <a:rPr lang="en-US" altLang="en-US" sz="2000" dirty="0">
                <a:sym typeface="Symbol" panose="05050102010706020507" pitchFamily="18" charset="2"/>
              </a:rPr>
              <a:t> </a:t>
            </a:r>
          </a:p>
          <a:p>
            <a:pPr lvl="1">
              <a:lnSpc>
                <a:spcPct val="130000"/>
              </a:lnSpc>
            </a:pPr>
            <a:r>
              <a:rPr lang="en-US" altLang="en-US" sz="2000" dirty="0">
                <a:sym typeface="Symbol" panose="05050102010706020507" pitchFamily="18" charset="2"/>
              </a:rPr>
              <a:t>Example:  {</a:t>
            </a:r>
            <a:r>
              <a:rPr lang="en-US" altLang="en-US" sz="2000" i="1" dirty="0">
                <a:sym typeface="Symbol" panose="05050102010706020507" pitchFamily="18" charset="2"/>
              </a:rPr>
              <a:t>ID</a:t>
            </a:r>
            <a:r>
              <a:rPr lang="en-US" altLang="en-US" sz="2000" dirty="0">
                <a:sym typeface="Symbol" panose="05050102010706020507" pitchFamily="18" charset="2"/>
              </a:rPr>
              <a:t>} and {</a:t>
            </a:r>
            <a:r>
              <a:rPr lang="en-US" altLang="en-US" sz="2000" dirty="0" err="1">
                <a:sym typeface="Symbol" panose="05050102010706020507" pitchFamily="18" charset="2"/>
              </a:rPr>
              <a:t>ID,name</a:t>
            </a:r>
            <a:r>
              <a:rPr lang="en-US" altLang="en-US" sz="2000" dirty="0">
                <a:sym typeface="Symbol" panose="05050102010706020507" pitchFamily="18" charset="2"/>
              </a:rPr>
              <a:t>} are both </a:t>
            </a:r>
            <a:r>
              <a:rPr lang="en-US" altLang="en-US" sz="2000" dirty="0" err="1">
                <a:sym typeface="Symbol" panose="05050102010706020507" pitchFamily="18" charset="2"/>
              </a:rPr>
              <a:t>superkeys</a:t>
            </a:r>
            <a:r>
              <a:rPr lang="en-US" altLang="en-US" sz="2000" dirty="0">
                <a:sym typeface="Symbol" panose="05050102010706020507" pitchFamily="18" charset="2"/>
              </a:rPr>
              <a:t> of </a:t>
            </a:r>
            <a:r>
              <a:rPr lang="en-US" altLang="en-US" sz="2000" i="1" dirty="0">
                <a:sym typeface="Symbol" panose="05050102010706020507" pitchFamily="18" charset="2"/>
              </a:rPr>
              <a:t>instructor.</a:t>
            </a:r>
            <a:endParaRPr lang="en-US" altLang="en-US" sz="2000" dirty="0">
              <a:sym typeface="Symbol" panose="05050102010706020507" pitchFamily="18" charset="2"/>
            </a:endParaRPr>
          </a:p>
          <a:p>
            <a:pPr>
              <a:lnSpc>
                <a:spcPct val="120000"/>
              </a:lnSpc>
            </a:pPr>
            <a:r>
              <a:rPr lang="en-US" altLang="en-US" sz="2000" dirty="0" err="1">
                <a:sym typeface="Symbol" panose="05050102010706020507" pitchFamily="18" charset="2"/>
              </a:rPr>
              <a:t>Superkey</a:t>
            </a:r>
            <a:r>
              <a:rPr lang="en-US" altLang="en-US" sz="2000" dirty="0">
                <a:sym typeface="Symbol" panose="05050102010706020507" pitchFamily="18" charset="2"/>
              </a:rPr>
              <a:t> </a:t>
            </a:r>
            <a:r>
              <a:rPr lang="en-US" altLang="en-US" sz="2000" i="1" dirty="0">
                <a:sym typeface="Symbol" panose="05050102010706020507" pitchFamily="18" charset="2"/>
              </a:rPr>
              <a:t>K</a:t>
            </a:r>
            <a:r>
              <a:rPr lang="en-US" altLang="en-US" sz="2000" dirty="0">
                <a:sym typeface="Symbol" panose="05050102010706020507" pitchFamily="18" charset="2"/>
              </a:rPr>
              <a:t> is a </a:t>
            </a:r>
            <a:r>
              <a:rPr lang="en-US" altLang="en-US" sz="2000" b="1" dirty="0">
                <a:solidFill>
                  <a:srgbClr val="FF0000"/>
                </a:solidFill>
                <a:sym typeface="Symbol" panose="05050102010706020507" pitchFamily="18" charset="2"/>
              </a:rPr>
              <a:t>candidate key</a:t>
            </a:r>
            <a:r>
              <a:rPr lang="zh-CN" altLang="en-US" sz="2000" b="1" dirty="0">
                <a:solidFill>
                  <a:srgbClr val="FF0000"/>
                </a:solidFill>
                <a:latin typeface="华文宋体" pitchFamily="2" charset="-122"/>
                <a:ea typeface="华文宋体" pitchFamily="2" charset="-122"/>
                <a:sym typeface="Symbol" panose="05050102010706020507" pitchFamily="18" charset="2"/>
              </a:rPr>
              <a:t> （候选码）</a:t>
            </a:r>
            <a:r>
              <a:rPr lang="en-US" altLang="en-US" sz="2000" dirty="0">
                <a:sym typeface="Symbol" panose="05050102010706020507" pitchFamily="18" charset="2"/>
              </a:rPr>
              <a:t> if </a:t>
            </a:r>
            <a:r>
              <a:rPr lang="en-US" altLang="en-US" sz="2000" i="1" dirty="0">
                <a:sym typeface="Symbol" panose="05050102010706020507" pitchFamily="18" charset="2"/>
              </a:rPr>
              <a:t>K</a:t>
            </a:r>
            <a:r>
              <a:rPr lang="en-US" altLang="en-US" sz="2000" dirty="0">
                <a:sym typeface="Symbol" panose="05050102010706020507" pitchFamily="18" charset="2"/>
              </a:rPr>
              <a:t> is minimal</a:t>
            </a:r>
            <a:br>
              <a:rPr lang="en-US" altLang="en-US" sz="2000" dirty="0">
                <a:sym typeface="Symbol" panose="05050102010706020507" pitchFamily="18" charset="2"/>
              </a:rPr>
            </a:br>
            <a:r>
              <a:rPr lang="en-US" altLang="en-US" sz="2000" dirty="0">
                <a:sym typeface="Symbol" panose="05050102010706020507" pitchFamily="18" charset="2"/>
              </a:rPr>
              <a:t>Example:  {</a:t>
            </a:r>
            <a:r>
              <a:rPr lang="en-US" altLang="en-US" sz="2000" i="1" dirty="0">
                <a:sym typeface="Symbol" panose="05050102010706020507" pitchFamily="18" charset="2"/>
              </a:rPr>
              <a:t>ID</a:t>
            </a:r>
            <a:r>
              <a:rPr lang="en-US" altLang="en-US" sz="2000" dirty="0">
                <a:sym typeface="Symbol" panose="05050102010706020507" pitchFamily="18" charset="2"/>
              </a:rPr>
              <a:t>} is a candidate key for </a:t>
            </a:r>
            <a:r>
              <a:rPr lang="en-US" altLang="en-US" sz="2000" i="1" dirty="0">
                <a:sym typeface="Symbol" panose="05050102010706020507" pitchFamily="18" charset="2"/>
              </a:rPr>
              <a:t>Instructor</a:t>
            </a:r>
            <a:endParaRPr lang="en-US" altLang="en-US" sz="2000" dirty="0">
              <a:sym typeface="Symbol" panose="05050102010706020507" pitchFamily="18" charset="2"/>
            </a:endParaRPr>
          </a:p>
          <a:p>
            <a:pPr>
              <a:lnSpc>
                <a:spcPct val="120000"/>
              </a:lnSpc>
            </a:pPr>
            <a:r>
              <a:rPr lang="en-US" altLang="en-US" sz="2000" dirty="0">
                <a:sym typeface="Symbol" panose="05050102010706020507" pitchFamily="18" charset="2"/>
              </a:rPr>
              <a:t>One of the candidate keys is selected to be the </a:t>
            </a:r>
            <a:r>
              <a:rPr lang="en-US" altLang="en-US" sz="2000" b="1" dirty="0">
                <a:solidFill>
                  <a:srgbClr val="FF0000"/>
                </a:solidFill>
                <a:sym typeface="Symbol" panose="05050102010706020507" pitchFamily="18" charset="2"/>
              </a:rPr>
              <a:t>primary key</a:t>
            </a:r>
            <a:r>
              <a:rPr lang="zh-CN" altLang="en-US" sz="2000" b="1" dirty="0">
                <a:solidFill>
                  <a:srgbClr val="FF0000"/>
                </a:solidFill>
                <a:latin typeface="华文宋体" pitchFamily="2" charset="-122"/>
                <a:ea typeface="华文宋体" pitchFamily="2" charset="-122"/>
                <a:sym typeface="Symbol" panose="05050102010706020507" pitchFamily="18" charset="2"/>
              </a:rPr>
              <a:t> （主码）</a:t>
            </a:r>
            <a:r>
              <a:rPr lang="en-US" altLang="en-US" sz="2000" dirty="0">
                <a:sym typeface="Symbol" panose="05050102010706020507" pitchFamily="18" charset="2"/>
              </a:rPr>
              <a:t>.</a:t>
            </a:r>
          </a:p>
          <a:p>
            <a:pPr lvl="1">
              <a:lnSpc>
                <a:spcPct val="120000"/>
              </a:lnSpc>
            </a:pPr>
            <a:r>
              <a:rPr lang="en-US" altLang="en-US" sz="2000" dirty="0">
                <a:sym typeface="Symbol" panose="05050102010706020507" pitchFamily="18" charset="2"/>
              </a:rPr>
              <a:t>Which one?</a:t>
            </a:r>
          </a:p>
          <a:p>
            <a:r>
              <a:rPr lang="en-US" altLang="en-US" sz="2000" b="1" dirty="0">
                <a:solidFill>
                  <a:srgbClr val="FF0000"/>
                </a:solidFill>
              </a:rPr>
              <a:t>Foreign key</a:t>
            </a:r>
            <a:r>
              <a:rPr lang="zh-CN" altLang="en-US" sz="2000" b="1" dirty="0">
                <a:solidFill>
                  <a:srgbClr val="FF0000"/>
                </a:solidFill>
                <a:latin typeface="华文宋体" pitchFamily="2" charset="-122"/>
                <a:ea typeface="华文宋体" pitchFamily="2" charset="-122"/>
                <a:sym typeface="Symbol" panose="05050102010706020507" pitchFamily="18" charset="2"/>
              </a:rPr>
              <a:t> （外码）</a:t>
            </a:r>
            <a:r>
              <a:rPr lang="en-US" altLang="en-US" sz="2000" dirty="0">
                <a:solidFill>
                  <a:srgbClr val="002060"/>
                </a:solidFill>
              </a:rPr>
              <a:t> </a:t>
            </a:r>
            <a:r>
              <a:rPr lang="en-US" altLang="en-US" sz="2000" dirty="0"/>
              <a:t>constraint: Value in one relation must appear in another</a:t>
            </a:r>
          </a:p>
          <a:p>
            <a:pPr lvl="1"/>
            <a:r>
              <a:rPr lang="en-US" altLang="en-US" sz="2000" b="1" dirty="0">
                <a:solidFill>
                  <a:srgbClr val="FF0000"/>
                </a:solidFill>
              </a:rPr>
              <a:t>Referencing</a:t>
            </a:r>
            <a:r>
              <a:rPr lang="en-US" altLang="en-US" sz="2000" dirty="0"/>
              <a:t> relation </a:t>
            </a:r>
            <a:r>
              <a:rPr lang="zh-CN" altLang="en-US" sz="2000" dirty="0">
                <a:latin typeface="华文宋体" pitchFamily="2" charset="-122"/>
                <a:ea typeface="华文宋体" pitchFamily="2" charset="-122"/>
              </a:rPr>
              <a:t>参照关系</a:t>
            </a:r>
            <a:endParaRPr lang="en-US" altLang="en-US" sz="2000" dirty="0">
              <a:latin typeface="华文宋体" pitchFamily="2" charset="-122"/>
              <a:ea typeface="华文宋体" pitchFamily="2" charset="-122"/>
            </a:endParaRPr>
          </a:p>
          <a:p>
            <a:pPr lvl="1"/>
            <a:r>
              <a:rPr lang="en-US" altLang="en-US" sz="2000" b="1" dirty="0">
                <a:solidFill>
                  <a:srgbClr val="FF0000"/>
                </a:solidFill>
              </a:rPr>
              <a:t>Referenced</a:t>
            </a:r>
            <a:r>
              <a:rPr lang="en-US" altLang="en-US" sz="2000" dirty="0"/>
              <a:t> relation </a:t>
            </a:r>
            <a:r>
              <a:rPr lang="zh-CN" altLang="en-US" sz="2000" dirty="0">
                <a:latin typeface="华文宋体" pitchFamily="2" charset="-122"/>
                <a:ea typeface="华文宋体" pitchFamily="2" charset="-122"/>
              </a:rPr>
              <a:t>被参照关系</a:t>
            </a:r>
            <a:endParaRPr lang="en-US" altLang="en-US" sz="2000" dirty="0">
              <a:latin typeface="华文宋体" pitchFamily="2" charset="-122"/>
              <a:ea typeface="华文宋体" pitchFamily="2" charset="-122"/>
            </a:endParaRPr>
          </a:p>
          <a:p>
            <a:pPr lvl="1"/>
            <a:r>
              <a:rPr lang="en-US" altLang="en-US" sz="2000" dirty="0">
                <a:sym typeface="Symbol" panose="05050102010706020507" pitchFamily="18" charset="2"/>
              </a:rPr>
              <a:t>Example: </a:t>
            </a:r>
            <a:r>
              <a:rPr lang="en-US" altLang="en-US" sz="2000" i="1" dirty="0">
                <a:sym typeface="Symbol" panose="05050102010706020507" pitchFamily="18" charset="2"/>
              </a:rPr>
              <a:t>dept_name</a:t>
            </a:r>
            <a:r>
              <a:rPr lang="en-US" altLang="en-US" sz="2000" dirty="0">
                <a:sym typeface="Symbol" panose="05050102010706020507" pitchFamily="18" charset="2"/>
              </a:rPr>
              <a:t> in i</a:t>
            </a:r>
            <a:r>
              <a:rPr lang="en-US" altLang="en-US" sz="2000" i="1" dirty="0">
                <a:sym typeface="Symbol" panose="05050102010706020507" pitchFamily="18" charset="2"/>
              </a:rPr>
              <a:t>nstructor</a:t>
            </a:r>
            <a:r>
              <a:rPr lang="en-US" altLang="en-US" sz="2000" dirty="0">
                <a:sym typeface="Symbol" panose="05050102010706020507" pitchFamily="18" charset="2"/>
              </a:rPr>
              <a:t>  is a foreign key from </a:t>
            </a:r>
            <a:r>
              <a:rPr lang="en-US" altLang="en-US" sz="2000" i="1" dirty="0">
                <a:sym typeface="Symbol" panose="05050102010706020507" pitchFamily="18" charset="2"/>
              </a:rPr>
              <a:t>instructor</a:t>
            </a:r>
            <a:r>
              <a:rPr lang="en-US" altLang="en-US" sz="2000" dirty="0">
                <a:sym typeface="Symbol" panose="05050102010706020507" pitchFamily="18" charset="2"/>
              </a:rPr>
              <a:t> referencing </a:t>
            </a:r>
            <a:r>
              <a:rPr lang="en-US" altLang="en-US" sz="2000" i="1" dirty="0">
                <a:sym typeface="Symbol" panose="05050102010706020507" pitchFamily="18" charset="2"/>
              </a:rPr>
              <a:t>department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050" name="Rectangle 2"/>
          <p:cNvSpPr>
            <a:spLocks noGrp="1" noChangeArrowheads="1"/>
          </p:cNvSpPr>
          <p:nvPr>
            <p:ph type="title"/>
          </p:nvPr>
        </p:nvSpPr>
        <p:spPr>
          <a:xfrm>
            <a:off x="1024441" y="117475"/>
            <a:ext cx="10769330" cy="609600"/>
          </a:xfrm>
        </p:spPr>
        <p:txBody>
          <a:bodyPr/>
          <a:lstStyle/>
          <a:p>
            <a:r>
              <a:rPr lang="en-US" altLang="en-US" sz="3733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Schema Diagram for University Database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xmlns="" id="{D6B8FF63-5393-4696-8B56-06CDA84E94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674652" y="1383738"/>
            <a:ext cx="10842390" cy="487195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074" name="Rectangle 2"/>
          <p:cNvSpPr>
            <a:spLocks noGrp="1" noChangeArrowheads="1"/>
          </p:cNvSpPr>
          <p:nvPr>
            <p:ph type="title"/>
          </p:nvPr>
        </p:nvSpPr>
        <p:spPr>
          <a:xfrm>
            <a:off x="1024441" y="117475"/>
            <a:ext cx="10769330" cy="609600"/>
          </a:xfrm>
        </p:spPr>
        <p:txBody>
          <a:bodyPr/>
          <a:lstStyle/>
          <a:p>
            <a:r>
              <a:rPr lang="en-US" altLang="en-US" sz="3733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Relational Query Languages</a:t>
            </a:r>
          </a:p>
        </p:txBody>
      </p:sp>
      <p:sp>
        <p:nvSpPr>
          <p:cNvPr id="1126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24439" y="1084263"/>
            <a:ext cx="10255835" cy="4570949"/>
          </a:xfrm>
        </p:spPr>
        <p:txBody>
          <a:bodyPr/>
          <a:lstStyle/>
          <a:p>
            <a:r>
              <a:rPr lang="en-US" altLang="en-US" sz="2000" dirty="0"/>
              <a:t>Procedural versus non-procedural, or declarative</a:t>
            </a:r>
          </a:p>
          <a:p>
            <a:r>
              <a:rPr lang="en-US" altLang="en-US" sz="2000" dirty="0"/>
              <a:t>“Pure” languages:</a:t>
            </a:r>
          </a:p>
          <a:p>
            <a:pPr lvl="1"/>
            <a:r>
              <a:rPr lang="en-US" altLang="en-US" sz="2000" dirty="0"/>
              <a:t>Relational algebra </a:t>
            </a:r>
            <a:r>
              <a:rPr lang="zh-CN" altLang="en-US" sz="2000" dirty="0">
                <a:latin typeface="华文宋体" pitchFamily="2" charset="-122"/>
                <a:ea typeface="华文宋体" pitchFamily="2" charset="-122"/>
              </a:rPr>
              <a:t>关系代数</a:t>
            </a:r>
            <a:endParaRPr lang="en-US" altLang="en-US" sz="2000" dirty="0">
              <a:latin typeface="华文宋体" pitchFamily="2" charset="-122"/>
              <a:ea typeface="华文宋体" pitchFamily="2" charset="-122"/>
            </a:endParaRPr>
          </a:p>
          <a:p>
            <a:pPr lvl="1"/>
            <a:r>
              <a:rPr lang="en-US" altLang="en-US" sz="2000" dirty="0"/>
              <a:t>Tuple relational calculus </a:t>
            </a:r>
            <a:r>
              <a:rPr lang="zh-CN" altLang="en-US" sz="2000" dirty="0">
                <a:latin typeface="华文宋体" pitchFamily="2" charset="-122"/>
                <a:ea typeface="华文宋体" pitchFamily="2" charset="-122"/>
              </a:rPr>
              <a:t>元组关系演算</a:t>
            </a:r>
            <a:endParaRPr lang="en-US" altLang="en-US" sz="2000" dirty="0">
              <a:latin typeface="华文宋体" pitchFamily="2" charset="-122"/>
              <a:ea typeface="华文宋体" pitchFamily="2" charset="-122"/>
            </a:endParaRPr>
          </a:p>
          <a:p>
            <a:pPr lvl="1"/>
            <a:r>
              <a:rPr lang="en-US" altLang="en-US" sz="2000" dirty="0"/>
              <a:t>Domain relational calculus </a:t>
            </a:r>
            <a:r>
              <a:rPr lang="zh-CN" altLang="en-US" sz="2000" dirty="0">
                <a:latin typeface="华文宋体" pitchFamily="2" charset="-122"/>
                <a:ea typeface="华文宋体" pitchFamily="2" charset="-122"/>
              </a:rPr>
              <a:t>域关系演算</a:t>
            </a:r>
            <a:endParaRPr lang="en-US" altLang="en-US" sz="2000" dirty="0">
              <a:latin typeface="华文宋体" pitchFamily="2" charset="-122"/>
              <a:ea typeface="华文宋体" pitchFamily="2" charset="-122"/>
            </a:endParaRPr>
          </a:p>
          <a:p>
            <a:r>
              <a:rPr lang="en-US" altLang="en-US" sz="2000" dirty="0">
                <a:solidFill>
                  <a:srgbClr val="FF0000"/>
                </a:solidFill>
              </a:rPr>
              <a:t>The above 3 pure languages are equivalent in computing power</a:t>
            </a:r>
          </a:p>
          <a:p>
            <a:r>
              <a:rPr lang="en-US" altLang="en-US" sz="2000" dirty="0"/>
              <a:t>We will concentrate in this chapter on relational algebra</a:t>
            </a:r>
          </a:p>
          <a:p>
            <a:pPr lvl="1"/>
            <a:r>
              <a:rPr lang="en-US" altLang="en-US" sz="2000" dirty="0"/>
              <a:t>Not Turing-machine equivalent</a:t>
            </a:r>
          </a:p>
          <a:p>
            <a:pPr lvl="1"/>
            <a:r>
              <a:rPr lang="en-US" altLang="en-US" sz="2000" dirty="0"/>
              <a:t>Consists of 6 basic operations</a:t>
            </a:r>
          </a:p>
          <a:p>
            <a:pPr lvl="1"/>
            <a:endParaRPr lang="en-US" altLang="en-US" sz="2000" dirty="0"/>
          </a:p>
          <a:p>
            <a:endParaRPr lang="en-US" alt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882" name="Rectangle 2"/>
          <p:cNvSpPr>
            <a:spLocks noGrp="1" noChangeArrowheads="1"/>
          </p:cNvSpPr>
          <p:nvPr>
            <p:ph type="title"/>
          </p:nvPr>
        </p:nvSpPr>
        <p:spPr>
          <a:xfrm>
            <a:off x="1024441" y="117475"/>
            <a:ext cx="10769330" cy="609600"/>
          </a:xfrm>
        </p:spPr>
        <p:txBody>
          <a:bodyPr/>
          <a:lstStyle/>
          <a:p>
            <a:r>
              <a:rPr lang="en-US" altLang="en-US" sz="3733" dirty="0"/>
              <a:t>Relational Algebra</a:t>
            </a:r>
          </a:p>
        </p:txBody>
      </p:sp>
      <p:sp>
        <p:nvSpPr>
          <p:cNvPr id="717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24441" y="1077913"/>
            <a:ext cx="10078285" cy="4876800"/>
          </a:xfrm>
        </p:spPr>
        <p:txBody>
          <a:bodyPr/>
          <a:lstStyle/>
          <a:p>
            <a:r>
              <a:rPr lang="en-US" altLang="en-US" sz="2000" dirty="0"/>
              <a:t>A  procedural language consisting  of a set of operations that take one or two relations as input and produce a new relation as their result. </a:t>
            </a:r>
          </a:p>
          <a:p>
            <a:r>
              <a:rPr lang="en-US" altLang="en-US" sz="2000" dirty="0"/>
              <a:t>Six basic operators</a:t>
            </a:r>
          </a:p>
          <a:p>
            <a:pPr lvl="1"/>
            <a:r>
              <a:rPr lang="en-US" altLang="en-US" sz="2000" dirty="0"/>
              <a:t>select: </a:t>
            </a:r>
            <a:r>
              <a:rPr kumimoji="0" lang="en-US" altLang="en-US" sz="2000" dirty="0">
                <a:sym typeface="Symbol" panose="05050102010706020507" pitchFamily="18" charset="2"/>
              </a:rPr>
              <a:t></a:t>
            </a:r>
            <a:r>
              <a:rPr lang="zh-CN" altLang="en-US" sz="2000" dirty="0">
                <a:latin typeface="华文宋体" pitchFamily="2" charset="-122"/>
                <a:ea typeface="华文宋体" pitchFamily="2" charset="-122"/>
                <a:sym typeface="Symbol" panose="05050102010706020507" pitchFamily="18" charset="2"/>
              </a:rPr>
              <a:t>                 选择</a:t>
            </a:r>
            <a:endParaRPr lang="en-US" altLang="en-US" sz="2000" dirty="0"/>
          </a:p>
          <a:p>
            <a:pPr lvl="1"/>
            <a:r>
              <a:rPr lang="en-US" altLang="en-US" sz="2000" dirty="0"/>
              <a:t>project: </a:t>
            </a:r>
            <a:r>
              <a:rPr lang="en-US" altLang="en-US" sz="2000" dirty="0">
                <a:sym typeface="Symbol" panose="05050102010706020507" pitchFamily="18" charset="2"/>
              </a:rPr>
              <a:t>             </a:t>
            </a:r>
            <a:r>
              <a:rPr lang="zh-CN" altLang="en-US" sz="2000" dirty="0">
                <a:latin typeface="华文宋体" pitchFamily="2" charset="-122"/>
                <a:ea typeface="华文宋体" pitchFamily="2" charset="-122"/>
                <a:sym typeface="Symbol" panose="05050102010706020507" pitchFamily="18" charset="2"/>
              </a:rPr>
              <a:t>投影</a:t>
            </a:r>
            <a:endParaRPr lang="en-US" altLang="en-US" sz="2000" dirty="0">
              <a:latin typeface="华文宋体" pitchFamily="2" charset="-122"/>
              <a:ea typeface="华文宋体" pitchFamily="2" charset="-122"/>
              <a:sym typeface="Symbol" panose="05050102010706020507" pitchFamily="18" charset="2"/>
            </a:endParaRPr>
          </a:p>
          <a:p>
            <a:pPr lvl="1"/>
            <a:r>
              <a:rPr lang="en-US" altLang="en-US" sz="2000" dirty="0"/>
              <a:t>union: </a:t>
            </a:r>
            <a:r>
              <a:rPr lang="en-US" altLang="en-US" sz="2000" dirty="0">
                <a:sym typeface="Symbol" panose="05050102010706020507" pitchFamily="18" charset="2"/>
              </a:rPr>
              <a:t>               </a:t>
            </a:r>
            <a:r>
              <a:rPr lang="zh-CN" altLang="en-US" sz="2000" dirty="0">
                <a:latin typeface="华文宋体" pitchFamily="2" charset="-122"/>
                <a:ea typeface="华文宋体" pitchFamily="2" charset="-122"/>
                <a:sym typeface="Symbol" panose="05050102010706020507" pitchFamily="18" charset="2"/>
              </a:rPr>
              <a:t>并</a:t>
            </a:r>
            <a:endParaRPr lang="en-US" altLang="en-US" sz="2000" dirty="0">
              <a:latin typeface="华文宋体" pitchFamily="2" charset="-122"/>
              <a:ea typeface="华文宋体" pitchFamily="2" charset="-122"/>
              <a:sym typeface="Symbol" panose="05050102010706020507" pitchFamily="18" charset="2"/>
            </a:endParaRPr>
          </a:p>
          <a:p>
            <a:pPr lvl="1"/>
            <a:r>
              <a:rPr lang="en-US" altLang="en-US" sz="2000" dirty="0"/>
              <a:t>set difference: </a:t>
            </a:r>
            <a:r>
              <a:rPr lang="en-US" altLang="en-US" sz="2000" i="1" dirty="0"/>
              <a:t>–</a:t>
            </a:r>
            <a:r>
              <a:rPr lang="en-US" altLang="en-US" sz="2000" dirty="0"/>
              <a:t>   </a:t>
            </a:r>
            <a:r>
              <a:rPr lang="zh-CN" altLang="en-US" sz="2000" dirty="0">
                <a:latin typeface="华文宋体" pitchFamily="2" charset="-122"/>
                <a:ea typeface="华文宋体" pitchFamily="2" charset="-122"/>
                <a:sym typeface="Symbol" panose="05050102010706020507" pitchFamily="18" charset="2"/>
              </a:rPr>
              <a:t>差</a:t>
            </a:r>
            <a:endParaRPr lang="en-US" altLang="en-US" sz="2000" dirty="0">
              <a:latin typeface="华文宋体" pitchFamily="2" charset="-122"/>
              <a:ea typeface="华文宋体" pitchFamily="2" charset="-122"/>
              <a:sym typeface="Symbol" panose="05050102010706020507" pitchFamily="18" charset="2"/>
            </a:endParaRPr>
          </a:p>
          <a:p>
            <a:pPr lvl="1"/>
            <a:r>
              <a:rPr lang="en-US" altLang="en-US" sz="2000" dirty="0"/>
              <a:t>Cartesian product: x    </a:t>
            </a:r>
            <a:r>
              <a:rPr lang="zh-CN" altLang="en-US" sz="2000" dirty="0">
                <a:latin typeface="华文宋体" pitchFamily="2" charset="-122"/>
                <a:ea typeface="华文宋体" pitchFamily="2" charset="-122"/>
                <a:sym typeface="Symbol" panose="05050102010706020507" pitchFamily="18" charset="2"/>
              </a:rPr>
              <a:t>笛卡尔积</a:t>
            </a:r>
            <a:endParaRPr lang="en-US" altLang="en-US" sz="2000" dirty="0">
              <a:latin typeface="华文宋体" pitchFamily="2" charset="-122"/>
              <a:ea typeface="华文宋体" pitchFamily="2" charset="-122"/>
              <a:sym typeface="Symbol" panose="05050102010706020507" pitchFamily="18" charset="2"/>
            </a:endParaRPr>
          </a:p>
          <a:p>
            <a:pPr lvl="1"/>
            <a:r>
              <a:rPr lang="en-US" altLang="en-US" sz="2000" dirty="0"/>
              <a:t>rename: </a:t>
            </a:r>
            <a:r>
              <a:rPr lang="en-US" altLang="en-US" sz="2000" i="1" dirty="0">
                <a:sym typeface="Symbol" panose="05050102010706020507" pitchFamily="18" charset="2"/>
              </a:rPr>
              <a:t>             </a:t>
            </a:r>
            <a:r>
              <a:rPr lang="zh-CN" altLang="en-US" sz="2000" dirty="0">
                <a:latin typeface="华文宋体" pitchFamily="2" charset="-122"/>
                <a:ea typeface="华文宋体" pitchFamily="2" charset="-122"/>
                <a:sym typeface="Symbol" panose="05050102010706020507" pitchFamily="18" charset="2"/>
              </a:rPr>
              <a:t>更名</a:t>
            </a:r>
            <a:endParaRPr lang="en-US" altLang="en-US" sz="2000" dirty="0">
              <a:latin typeface="华文宋体" pitchFamily="2" charset="-122"/>
              <a:ea typeface="华文宋体" pitchFamily="2" charset="-122"/>
              <a:sym typeface="Symbol" panose="05050102010706020507" pitchFamily="18" charset="2"/>
            </a:endParaRPr>
          </a:p>
          <a:p>
            <a:pPr lvl="1"/>
            <a:endParaRPr lang="en-US" altLang="en-US" sz="2000" i="1" dirty="0"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058" name="Rectangle 2"/>
          <p:cNvSpPr>
            <a:spLocks noGrp="1" noChangeArrowheads="1"/>
          </p:cNvSpPr>
          <p:nvPr>
            <p:ph type="title"/>
          </p:nvPr>
        </p:nvSpPr>
        <p:spPr>
          <a:xfrm>
            <a:off x="1024441" y="117475"/>
            <a:ext cx="10769330" cy="609600"/>
          </a:xfrm>
        </p:spPr>
        <p:txBody>
          <a:bodyPr/>
          <a:lstStyle/>
          <a:p>
            <a:r>
              <a:rPr lang="en-US" altLang="en-US" sz="3733" dirty="0"/>
              <a:t>Select Operation</a:t>
            </a:r>
          </a:p>
        </p:txBody>
      </p:sp>
      <p:sp>
        <p:nvSpPr>
          <p:cNvPr id="819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24441" y="1173574"/>
            <a:ext cx="10149306" cy="3350300"/>
          </a:xfrm>
        </p:spPr>
        <p:txBody>
          <a:bodyPr/>
          <a:lstStyle/>
          <a:p>
            <a:pPr>
              <a:lnSpc>
                <a:spcPct val="90000"/>
              </a:lnSpc>
              <a:tabLst>
                <a:tab pos="1658938" algn="l"/>
                <a:tab pos="3149600" algn="ctr"/>
                <a:tab pos="3425825" algn="l"/>
              </a:tabLst>
            </a:pPr>
            <a:r>
              <a:rPr lang="en-US" altLang="en-US" sz="2266" dirty="0"/>
              <a:t>The  </a:t>
            </a:r>
            <a:r>
              <a:rPr lang="en-US" altLang="en-US" sz="2266" b="1" dirty="0"/>
              <a:t>selec</a:t>
            </a:r>
            <a:r>
              <a:rPr lang="en-US" altLang="en-US" sz="2266" dirty="0"/>
              <a:t>t operation selects tuples that satisfy a given predicate.</a:t>
            </a:r>
          </a:p>
          <a:p>
            <a:pPr>
              <a:lnSpc>
                <a:spcPct val="90000"/>
              </a:lnSpc>
              <a:tabLst>
                <a:tab pos="1658938" algn="l"/>
                <a:tab pos="3149600" algn="ctr"/>
                <a:tab pos="3425825" algn="l"/>
              </a:tabLst>
            </a:pPr>
            <a:r>
              <a:rPr lang="en-US" altLang="en-US" sz="2266" dirty="0"/>
              <a:t>Notation:  </a:t>
            </a:r>
            <a:r>
              <a:rPr lang="en-US" altLang="en-US" i="1" dirty="0">
                <a:sym typeface="Symbol" panose="05050102010706020507" pitchFamily="18" charset="2"/>
              </a:rPr>
              <a:t></a:t>
            </a:r>
            <a:r>
              <a:rPr lang="en-US" altLang="en-US" dirty="0">
                <a:sym typeface="Symbol" panose="05050102010706020507" pitchFamily="18" charset="2"/>
              </a:rPr>
              <a:t> </a:t>
            </a:r>
            <a:r>
              <a:rPr lang="en-US" altLang="en-US" i="1" baseline="-25000" dirty="0">
                <a:sym typeface="Symbol" panose="05050102010706020507" pitchFamily="18" charset="2"/>
              </a:rPr>
              <a:t>p </a:t>
            </a:r>
            <a:r>
              <a:rPr lang="en-US" altLang="en-US" sz="2266" dirty="0">
                <a:sym typeface="Symbol" panose="05050102010706020507" pitchFamily="18" charset="2"/>
              </a:rPr>
              <a:t>(</a:t>
            </a:r>
            <a:r>
              <a:rPr lang="en-US" altLang="en-US" sz="2266" i="1" dirty="0">
                <a:sym typeface="Symbol" panose="05050102010706020507" pitchFamily="18" charset="2"/>
              </a:rPr>
              <a:t>r</a:t>
            </a:r>
            <a:r>
              <a:rPr lang="en-US" altLang="en-US" sz="2266" dirty="0">
                <a:sym typeface="Symbol" panose="05050102010706020507" pitchFamily="18" charset="2"/>
              </a:rPr>
              <a:t>)</a:t>
            </a:r>
          </a:p>
          <a:p>
            <a:pPr>
              <a:lnSpc>
                <a:spcPct val="90000"/>
              </a:lnSpc>
              <a:tabLst>
                <a:tab pos="1658938" algn="l"/>
                <a:tab pos="3149600" algn="ctr"/>
                <a:tab pos="3425825" algn="l"/>
              </a:tabLst>
            </a:pPr>
            <a:r>
              <a:rPr lang="en-US" altLang="en-US" sz="2266" i="1" dirty="0">
                <a:sym typeface="Symbol" panose="05050102010706020507" pitchFamily="18" charset="2"/>
              </a:rPr>
              <a:t>p</a:t>
            </a:r>
            <a:r>
              <a:rPr lang="en-US" altLang="en-US" sz="2266" dirty="0">
                <a:sym typeface="Symbol" panose="05050102010706020507" pitchFamily="18" charset="2"/>
              </a:rPr>
              <a:t> is called the </a:t>
            </a:r>
            <a:r>
              <a:rPr lang="en-US" altLang="en-US" sz="2266" b="1" dirty="0">
                <a:solidFill>
                  <a:srgbClr val="002060"/>
                </a:solidFill>
                <a:sym typeface="Symbol" panose="05050102010706020507" pitchFamily="18" charset="2"/>
              </a:rPr>
              <a:t>selection predicate</a:t>
            </a:r>
          </a:p>
          <a:p>
            <a:pPr>
              <a:lnSpc>
                <a:spcPct val="90000"/>
              </a:lnSpc>
              <a:tabLst>
                <a:tab pos="1658938" algn="l"/>
                <a:tab pos="3149600" algn="ctr"/>
                <a:tab pos="3425825" algn="l"/>
              </a:tabLst>
            </a:pPr>
            <a:r>
              <a:rPr lang="en-US" altLang="en-US" sz="2266" dirty="0">
                <a:sym typeface="Symbol" panose="05050102010706020507" pitchFamily="18" charset="2"/>
              </a:rPr>
              <a:t>Example: select those tuples of the </a:t>
            </a:r>
            <a:r>
              <a:rPr lang="en-US" altLang="en-US" sz="2266" i="1" dirty="0">
                <a:sym typeface="Symbol" panose="05050102010706020507" pitchFamily="18" charset="2"/>
              </a:rPr>
              <a:t>instructor</a:t>
            </a:r>
            <a:r>
              <a:rPr lang="en-US" altLang="en-US" sz="2266" dirty="0">
                <a:sym typeface="Symbol" panose="05050102010706020507" pitchFamily="18" charset="2"/>
              </a:rPr>
              <a:t>  relation where the instructor is in the “Physics” department.</a:t>
            </a:r>
          </a:p>
          <a:p>
            <a:pPr lvl="1">
              <a:lnSpc>
                <a:spcPct val="90000"/>
              </a:lnSpc>
              <a:tabLst>
                <a:tab pos="1658938" algn="l"/>
                <a:tab pos="3149600" algn="ctr"/>
                <a:tab pos="3425825" algn="l"/>
              </a:tabLst>
            </a:pPr>
            <a:r>
              <a:rPr lang="en-US" altLang="en-US" sz="2266" dirty="0">
                <a:sym typeface="Symbol" panose="05050102010706020507" pitchFamily="18" charset="2"/>
              </a:rPr>
              <a:t>Query</a:t>
            </a:r>
          </a:p>
          <a:p>
            <a:pPr marL="457200" lvl="1" indent="0">
              <a:lnSpc>
                <a:spcPct val="90000"/>
              </a:lnSpc>
              <a:buNone/>
              <a:tabLst>
                <a:tab pos="1658938" algn="l"/>
                <a:tab pos="3149600" algn="ctr"/>
                <a:tab pos="3425825" algn="l"/>
              </a:tabLst>
            </a:pPr>
            <a:r>
              <a:rPr lang="en-US" altLang="en-US" sz="1066" dirty="0">
                <a:sym typeface="Symbol" panose="05050102010706020507" pitchFamily="18" charset="2"/>
              </a:rPr>
              <a:t> </a:t>
            </a:r>
            <a:r>
              <a:rPr lang="en-US" altLang="en-US" sz="1700" dirty="0">
                <a:sym typeface="Symbol" panose="05050102010706020507" pitchFamily="18" charset="2"/>
              </a:rPr>
              <a:t/>
            </a:r>
            <a:br>
              <a:rPr lang="en-US" altLang="en-US" sz="1700" dirty="0">
                <a:sym typeface="Symbol" panose="05050102010706020507" pitchFamily="18" charset="2"/>
              </a:rPr>
            </a:br>
            <a:r>
              <a:rPr lang="en-US" altLang="en-US" sz="2266" dirty="0">
                <a:sym typeface="Symbol" panose="05050102010706020507" pitchFamily="18" charset="2"/>
              </a:rPr>
              <a:t>  	</a:t>
            </a:r>
            <a:r>
              <a:rPr lang="en-US" altLang="en-US" sz="2533" i="1" dirty="0">
                <a:sym typeface="Symbol" panose="05050102010706020507" pitchFamily="18" charset="2"/>
              </a:rPr>
              <a:t></a:t>
            </a:r>
            <a:r>
              <a:rPr lang="en-US" altLang="en-US" sz="2533" dirty="0">
                <a:sym typeface="Symbol" panose="05050102010706020507" pitchFamily="18" charset="2"/>
              </a:rPr>
              <a:t> </a:t>
            </a:r>
            <a:r>
              <a:rPr lang="en-US" altLang="en-US" sz="2533" i="1" baseline="-25000" dirty="0">
                <a:sym typeface="Symbol" panose="05050102010706020507" pitchFamily="18" charset="2"/>
              </a:rPr>
              <a:t>dept_name=</a:t>
            </a:r>
            <a:r>
              <a:rPr lang="ja-JP" altLang="en-US" sz="2533" i="1" baseline="-25000" dirty="0">
                <a:sym typeface="Symbol" panose="05050102010706020507" pitchFamily="18" charset="2"/>
              </a:rPr>
              <a:t>“</a:t>
            </a:r>
            <a:r>
              <a:rPr lang="en-US" altLang="ja-JP" sz="2533" i="1" baseline="-25000" dirty="0">
                <a:sym typeface="Symbol" panose="05050102010706020507" pitchFamily="18" charset="2"/>
              </a:rPr>
              <a:t>Physics” </a:t>
            </a:r>
            <a:r>
              <a:rPr lang="en-US" altLang="ja-JP" sz="2266" dirty="0">
                <a:sym typeface="Symbol" panose="05050102010706020507" pitchFamily="18" charset="2"/>
              </a:rPr>
              <a:t>(</a:t>
            </a:r>
            <a:r>
              <a:rPr lang="en-US" altLang="ja-JP" sz="2266" i="1" dirty="0">
                <a:sym typeface="Symbol" panose="05050102010706020507" pitchFamily="18" charset="2"/>
              </a:rPr>
              <a:t>instructor</a:t>
            </a:r>
            <a:r>
              <a:rPr lang="en-US" altLang="ja-JP" sz="2266" dirty="0">
                <a:sym typeface="Symbol" panose="05050102010706020507" pitchFamily="18" charset="2"/>
              </a:rPr>
              <a:t>)</a:t>
            </a:r>
          </a:p>
          <a:p>
            <a:pPr lvl="1">
              <a:lnSpc>
                <a:spcPct val="90000"/>
              </a:lnSpc>
              <a:buNone/>
              <a:tabLst>
                <a:tab pos="1658938" algn="l"/>
                <a:tab pos="3149600" algn="ctr"/>
                <a:tab pos="3425825" algn="l"/>
              </a:tabLst>
            </a:pPr>
            <a:r>
              <a:rPr lang="en-US" altLang="en-US" sz="1066" dirty="0">
                <a:sym typeface="Symbol" panose="05050102010706020507" pitchFamily="18" charset="2"/>
              </a:rPr>
              <a:t> </a:t>
            </a:r>
          </a:p>
          <a:p>
            <a:pPr lvl="1">
              <a:lnSpc>
                <a:spcPct val="90000"/>
              </a:lnSpc>
              <a:tabLst>
                <a:tab pos="1658938" algn="l"/>
                <a:tab pos="3149600" algn="ctr"/>
                <a:tab pos="3425825" algn="l"/>
              </a:tabLst>
            </a:pPr>
            <a:r>
              <a:rPr lang="en-US" altLang="en-US" sz="2266" dirty="0">
                <a:sym typeface="Symbol" panose="05050102010706020507" pitchFamily="18" charset="2"/>
              </a:rPr>
              <a:t>Result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xmlns="" id="{D0EA259D-031F-4208-A7F2-A15AE51650D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rcRect b="31858"/>
          <a:stretch/>
        </p:blipFill>
        <p:spPr>
          <a:xfrm>
            <a:off x="2314206" y="4125699"/>
            <a:ext cx="6576020" cy="122313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058" name="Rectangle 2"/>
          <p:cNvSpPr>
            <a:spLocks noGrp="1" noChangeArrowheads="1"/>
          </p:cNvSpPr>
          <p:nvPr>
            <p:ph type="title"/>
          </p:nvPr>
        </p:nvSpPr>
        <p:spPr>
          <a:xfrm>
            <a:off x="1024441" y="117475"/>
            <a:ext cx="10769330" cy="609600"/>
          </a:xfrm>
        </p:spPr>
        <p:txBody>
          <a:bodyPr/>
          <a:lstStyle/>
          <a:p>
            <a:r>
              <a:rPr lang="en-US" altLang="en-US" sz="3733" dirty="0"/>
              <a:t>Select Operation (Cont.)</a:t>
            </a:r>
          </a:p>
        </p:txBody>
      </p:sp>
      <p:sp>
        <p:nvSpPr>
          <p:cNvPr id="819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24441" y="815927"/>
            <a:ext cx="10208490" cy="5133770"/>
          </a:xfrm>
        </p:spPr>
        <p:txBody>
          <a:bodyPr/>
          <a:lstStyle/>
          <a:p>
            <a:pPr>
              <a:lnSpc>
                <a:spcPct val="90000"/>
              </a:lnSpc>
              <a:tabLst>
                <a:tab pos="1658938" algn="l"/>
                <a:tab pos="3149600" algn="ctr"/>
                <a:tab pos="3425825" algn="l"/>
              </a:tabLst>
            </a:pPr>
            <a:r>
              <a:rPr lang="en-US" altLang="en-US" sz="2266" dirty="0">
                <a:sym typeface="Symbol" panose="05050102010706020507" pitchFamily="18" charset="2"/>
              </a:rPr>
              <a:t>We allow comparisons using </a:t>
            </a:r>
          </a:p>
          <a:p>
            <a:pPr>
              <a:lnSpc>
                <a:spcPct val="90000"/>
              </a:lnSpc>
              <a:buNone/>
              <a:tabLst>
                <a:tab pos="1658938" algn="l"/>
                <a:tab pos="3149600" algn="ctr"/>
                <a:tab pos="3425825" algn="l"/>
              </a:tabLst>
            </a:pPr>
            <a:r>
              <a:rPr lang="en-US" altLang="en-US" sz="2266" dirty="0">
                <a:sym typeface="Symbol" panose="05050102010706020507" pitchFamily="18" charset="2"/>
              </a:rPr>
              <a:t>                     =, , &gt;, . &lt;. </a:t>
            </a:r>
          </a:p>
          <a:p>
            <a:pPr>
              <a:lnSpc>
                <a:spcPct val="90000"/>
              </a:lnSpc>
              <a:buNone/>
              <a:tabLst>
                <a:tab pos="1658938" algn="l"/>
                <a:tab pos="3149600" algn="ctr"/>
                <a:tab pos="3425825" algn="l"/>
              </a:tabLst>
            </a:pPr>
            <a:r>
              <a:rPr lang="en-US" altLang="en-US" sz="2266" dirty="0">
                <a:sym typeface="Symbol" panose="05050102010706020507" pitchFamily="18" charset="2"/>
              </a:rPr>
              <a:t>       in the selection predicate. </a:t>
            </a:r>
          </a:p>
          <a:p>
            <a:pPr>
              <a:lnSpc>
                <a:spcPct val="90000"/>
              </a:lnSpc>
              <a:tabLst>
                <a:tab pos="1658938" algn="l"/>
                <a:tab pos="3149600" algn="ctr"/>
                <a:tab pos="3425825" algn="l"/>
              </a:tabLst>
            </a:pPr>
            <a:r>
              <a:rPr lang="en-US" altLang="en-US" sz="2266" dirty="0">
                <a:sym typeface="Symbol" panose="05050102010706020507" pitchFamily="18" charset="2"/>
              </a:rPr>
              <a:t>We can combine several predicates into a larger predicate by using the connectives:</a:t>
            </a:r>
          </a:p>
          <a:p>
            <a:pPr>
              <a:lnSpc>
                <a:spcPct val="90000"/>
              </a:lnSpc>
              <a:buNone/>
              <a:tabLst>
                <a:tab pos="1658938" algn="l"/>
                <a:tab pos="3149600" algn="ctr"/>
                <a:tab pos="3425825" algn="l"/>
              </a:tabLst>
            </a:pPr>
            <a:r>
              <a:rPr lang="en-US" altLang="en-US" sz="2266" dirty="0">
                <a:sym typeface="Symbol" panose="05050102010706020507" pitchFamily="18" charset="2"/>
              </a:rPr>
              <a:t>                    (</a:t>
            </a:r>
            <a:r>
              <a:rPr lang="en-US" altLang="en-US" sz="2266" b="1" dirty="0">
                <a:sym typeface="Symbol" panose="05050102010706020507" pitchFamily="18" charset="2"/>
              </a:rPr>
              <a:t>and</a:t>
            </a:r>
            <a:r>
              <a:rPr lang="en-US" altLang="en-US" sz="2266" dirty="0">
                <a:sym typeface="Symbol" panose="05050102010706020507" pitchFamily="18" charset="2"/>
              </a:rPr>
              <a:t>),  (</a:t>
            </a:r>
            <a:r>
              <a:rPr lang="en-US" altLang="en-US" sz="2266" b="1" dirty="0">
                <a:sym typeface="Symbol" panose="05050102010706020507" pitchFamily="18" charset="2"/>
              </a:rPr>
              <a:t>or</a:t>
            </a:r>
            <a:r>
              <a:rPr lang="en-US" altLang="en-US" sz="2266" dirty="0">
                <a:sym typeface="Symbol" panose="05050102010706020507" pitchFamily="18" charset="2"/>
              </a:rPr>
              <a:t>),  (</a:t>
            </a:r>
            <a:r>
              <a:rPr lang="en-US" altLang="en-US" sz="2266" b="1" dirty="0">
                <a:sym typeface="Symbol" panose="05050102010706020507" pitchFamily="18" charset="2"/>
              </a:rPr>
              <a:t>not</a:t>
            </a:r>
            <a:r>
              <a:rPr lang="en-US" altLang="en-US" sz="2266" dirty="0">
                <a:sym typeface="Symbol" panose="05050102010706020507" pitchFamily="18" charset="2"/>
              </a:rPr>
              <a:t>)</a:t>
            </a:r>
          </a:p>
          <a:p>
            <a:pPr>
              <a:lnSpc>
                <a:spcPct val="90000"/>
              </a:lnSpc>
              <a:tabLst>
                <a:tab pos="1658938" algn="l"/>
                <a:tab pos="3149600" algn="ctr"/>
                <a:tab pos="3425825" algn="l"/>
              </a:tabLst>
            </a:pPr>
            <a:r>
              <a:rPr lang="en-US" altLang="en-US" sz="2266" dirty="0">
                <a:sym typeface="Symbol" panose="05050102010706020507" pitchFamily="18" charset="2"/>
              </a:rPr>
              <a:t>Example: Find the instructors in Physics with a salary greater $90,000, we write</a:t>
            </a:r>
            <a:r>
              <a:rPr lang="en-US" altLang="en-US" sz="2266" dirty="0" smtClean="0">
                <a:sym typeface="Symbol" panose="05050102010706020507" pitchFamily="18" charset="2"/>
              </a:rPr>
              <a:t>:</a:t>
            </a:r>
            <a:r>
              <a:rPr lang="en-US" altLang="en-US" sz="1066" dirty="0" smtClean="0">
                <a:sym typeface="Symbol" panose="05050102010706020507" pitchFamily="18" charset="2"/>
              </a:rPr>
              <a:t> </a:t>
            </a:r>
            <a:r>
              <a:rPr lang="en-US" altLang="en-US" sz="1700" dirty="0">
                <a:sym typeface="Symbol" panose="05050102010706020507" pitchFamily="18" charset="2"/>
              </a:rPr>
              <a:t/>
            </a:r>
            <a:br>
              <a:rPr lang="en-US" altLang="en-US" sz="1700" dirty="0">
                <a:sym typeface="Symbol" panose="05050102010706020507" pitchFamily="18" charset="2"/>
              </a:rPr>
            </a:br>
            <a:r>
              <a:rPr lang="en-US" altLang="en-US" sz="2266" dirty="0">
                <a:sym typeface="Symbol" panose="05050102010706020507" pitchFamily="18" charset="2"/>
              </a:rPr>
              <a:t>          </a:t>
            </a:r>
            <a:r>
              <a:rPr lang="en-US" altLang="en-US" i="1" dirty="0">
                <a:sym typeface="Symbol" panose="05050102010706020507" pitchFamily="18" charset="2"/>
              </a:rPr>
              <a:t></a:t>
            </a:r>
            <a:r>
              <a:rPr lang="en-US" altLang="en-US" dirty="0">
                <a:sym typeface="Symbol" panose="05050102010706020507" pitchFamily="18" charset="2"/>
              </a:rPr>
              <a:t> </a:t>
            </a:r>
            <a:r>
              <a:rPr lang="en-US" altLang="en-US" i="1" baseline="-25000" dirty="0">
                <a:sym typeface="Symbol" panose="05050102010706020507" pitchFamily="18" charset="2"/>
              </a:rPr>
              <a:t>dept_name=</a:t>
            </a:r>
            <a:r>
              <a:rPr lang="ja-JP" altLang="en-US" i="1" baseline="-25000" dirty="0">
                <a:sym typeface="Symbol" panose="05050102010706020507" pitchFamily="18" charset="2"/>
              </a:rPr>
              <a:t>“</a:t>
            </a:r>
            <a:r>
              <a:rPr lang="en-US" altLang="ja-JP" i="1" baseline="-25000" dirty="0">
                <a:sym typeface="Symbol" panose="05050102010706020507" pitchFamily="18" charset="2"/>
              </a:rPr>
              <a:t>Physics</a:t>
            </a:r>
            <a:r>
              <a:rPr lang="ja-JP" altLang="en-US" i="1" baseline="-25000" dirty="0">
                <a:sym typeface="Symbol" panose="05050102010706020507" pitchFamily="18" charset="2"/>
              </a:rPr>
              <a:t>” </a:t>
            </a:r>
            <a:r>
              <a:rPr lang="en-US" altLang="en-US" dirty="0">
                <a:sym typeface="Symbol" panose="05050102010706020507" pitchFamily="18" charset="2"/>
              </a:rPr>
              <a:t></a:t>
            </a:r>
            <a:r>
              <a:rPr lang="ja-JP" altLang="en-US" i="1" baseline="-25000" dirty="0">
                <a:sym typeface="Symbol" panose="05050102010706020507" pitchFamily="18" charset="2"/>
              </a:rPr>
              <a:t> </a:t>
            </a:r>
            <a:r>
              <a:rPr lang="en-US" altLang="ja-JP" i="1" baseline="-25000" dirty="0">
                <a:sym typeface="Symbol" panose="05050102010706020507" pitchFamily="18" charset="2"/>
              </a:rPr>
              <a:t>salary </a:t>
            </a:r>
            <a:r>
              <a:rPr lang="en-US" altLang="ja-JP" sz="2266" i="1" baseline="-25000" dirty="0">
                <a:sym typeface="Symbol" panose="05050102010706020507" pitchFamily="18" charset="2"/>
              </a:rPr>
              <a:t>&gt;</a:t>
            </a:r>
            <a:r>
              <a:rPr lang="en-US" altLang="ja-JP" sz="2266" i="1" dirty="0">
                <a:sym typeface="Symbol" panose="05050102010706020507" pitchFamily="18" charset="2"/>
              </a:rPr>
              <a:t> </a:t>
            </a:r>
            <a:r>
              <a:rPr lang="en-US" altLang="ja-JP" sz="2266" i="1" baseline="-25000" dirty="0">
                <a:sym typeface="Symbol" panose="05050102010706020507" pitchFamily="18" charset="2"/>
              </a:rPr>
              <a:t>90,000</a:t>
            </a:r>
            <a:r>
              <a:rPr lang="en-US" altLang="ja-JP" sz="2266" i="1" dirty="0">
                <a:sym typeface="Symbol" panose="05050102010706020507" pitchFamily="18" charset="2"/>
              </a:rPr>
              <a:t> </a:t>
            </a:r>
            <a:r>
              <a:rPr lang="en-US" altLang="ja-JP" sz="2266" dirty="0">
                <a:sym typeface="Symbol" panose="05050102010706020507" pitchFamily="18" charset="2"/>
              </a:rPr>
              <a:t>(</a:t>
            </a:r>
            <a:r>
              <a:rPr lang="en-US" altLang="ja-JP" sz="2266" i="1" dirty="0">
                <a:sym typeface="Symbol" panose="05050102010706020507" pitchFamily="18" charset="2"/>
              </a:rPr>
              <a:t>instructor</a:t>
            </a:r>
            <a:r>
              <a:rPr lang="en-US" altLang="ja-JP" sz="2266" dirty="0">
                <a:sym typeface="Symbol" panose="05050102010706020507" pitchFamily="18" charset="2"/>
              </a:rPr>
              <a:t>)</a:t>
            </a:r>
          </a:p>
          <a:p>
            <a:pPr marL="0" indent="0">
              <a:lnSpc>
                <a:spcPct val="90000"/>
              </a:lnSpc>
              <a:buNone/>
              <a:tabLst>
                <a:tab pos="1658938" algn="l"/>
                <a:tab pos="3149600" algn="ctr"/>
                <a:tab pos="3425825" algn="l"/>
              </a:tabLst>
            </a:pPr>
            <a:r>
              <a:rPr lang="en-US" altLang="ja-JP" sz="1066" i="1" dirty="0">
                <a:sym typeface="Symbol" panose="05050102010706020507" pitchFamily="18" charset="2"/>
              </a:rPr>
              <a:t> </a:t>
            </a:r>
          </a:p>
          <a:p>
            <a:pPr>
              <a:lnSpc>
                <a:spcPct val="90000"/>
              </a:lnSpc>
              <a:tabLst>
                <a:tab pos="1658938" algn="l"/>
                <a:tab pos="3149600" algn="ctr"/>
                <a:tab pos="3425825" algn="l"/>
              </a:tabLst>
            </a:pPr>
            <a:r>
              <a:rPr lang="en-US" altLang="en-US" sz="2266" dirty="0">
                <a:sym typeface="Symbol" panose="05050102010706020507" pitchFamily="18" charset="2"/>
              </a:rPr>
              <a:t>The select predicate may  include comparisons between two attributes. </a:t>
            </a:r>
          </a:p>
          <a:p>
            <a:pPr lvl="1">
              <a:lnSpc>
                <a:spcPct val="90000"/>
              </a:lnSpc>
              <a:tabLst>
                <a:tab pos="1658938" algn="l"/>
                <a:tab pos="3149600" algn="ctr"/>
                <a:tab pos="3425825" algn="l"/>
              </a:tabLst>
            </a:pPr>
            <a:r>
              <a:rPr lang="en-US" altLang="en-US" sz="2266" dirty="0">
                <a:sym typeface="Symbol" panose="05050102010706020507" pitchFamily="18" charset="2"/>
              </a:rPr>
              <a:t>Example, find all departments whose name is the same as their building name</a:t>
            </a:r>
            <a:r>
              <a:rPr lang="en-US" altLang="en-US" sz="2266" dirty="0" smtClean="0">
                <a:sym typeface="Symbol" panose="05050102010706020507" pitchFamily="18" charset="2"/>
              </a:rPr>
              <a:t>:</a:t>
            </a:r>
            <a:r>
              <a:rPr lang="en-US" altLang="en-US" sz="2266" i="1" dirty="0" smtClean="0">
                <a:sym typeface="Symbol" panose="05050102010706020507" pitchFamily="18" charset="2"/>
              </a:rPr>
              <a:t> </a:t>
            </a:r>
            <a:r>
              <a:rPr lang="en-US" altLang="en-US" sz="2533" i="1" dirty="0">
                <a:sym typeface="Symbol" panose="05050102010706020507" pitchFamily="18" charset="2"/>
              </a:rPr>
              <a:t></a:t>
            </a:r>
            <a:r>
              <a:rPr lang="en-US" altLang="en-US" sz="2533" dirty="0">
                <a:sym typeface="Symbol" panose="05050102010706020507" pitchFamily="18" charset="2"/>
              </a:rPr>
              <a:t> </a:t>
            </a:r>
            <a:r>
              <a:rPr lang="en-US" altLang="en-US" sz="2533" i="1" baseline="-25000" dirty="0">
                <a:sym typeface="Symbol" panose="05050102010706020507" pitchFamily="18" charset="2"/>
              </a:rPr>
              <a:t>dept_name=</a:t>
            </a:r>
            <a:r>
              <a:rPr lang="en-US" altLang="ja-JP" sz="2533" i="1" baseline="-25000" dirty="0">
                <a:sym typeface="Symbol" panose="05050102010706020507" pitchFamily="18" charset="2"/>
              </a:rPr>
              <a:t>building</a:t>
            </a:r>
            <a:r>
              <a:rPr lang="en-US" altLang="ja-JP" sz="2533" i="1" dirty="0">
                <a:sym typeface="Symbol" panose="05050102010706020507" pitchFamily="18" charset="2"/>
              </a:rPr>
              <a:t> </a:t>
            </a:r>
            <a:r>
              <a:rPr lang="ja-JP" altLang="en-US" sz="2533" i="1" baseline="-25000" dirty="0">
                <a:sym typeface="Symbol" panose="05050102010706020507" pitchFamily="18" charset="2"/>
              </a:rPr>
              <a:t> </a:t>
            </a:r>
            <a:r>
              <a:rPr lang="en-US" altLang="ja-JP" sz="2266" dirty="0">
                <a:sym typeface="Symbol" panose="05050102010706020507" pitchFamily="18" charset="2"/>
              </a:rPr>
              <a:t>(</a:t>
            </a:r>
            <a:r>
              <a:rPr lang="en-US" altLang="ja-JP" sz="2266" i="1" dirty="0">
                <a:sym typeface="Symbol" panose="05050102010706020507" pitchFamily="18" charset="2"/>
              </a:rPr>
              <a:t>department</a:t>
            </a:r>
            <a:r>
              <a:rPr lang="en-US" altLang="ja-JP" sz="2266" dirty="0">
                <a:sym typeface="Symbol" panose="05050102010706020507" pitchFamily="18" charset="2"/>
              </a:rPr>
              <a:t>)</a:t>
            </a:r>
            <a:endParaRPr lang="en-US" altLang="en-US" sz="1700" dirty="0">
              <a:sym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1508315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106" name="Rectangle 2"/>
          <p:cNvSpPr>
            <a:spLocks noGrp="1" noChangeArrowheads="1"/>
          </p:cNvSpPr>
          <p:nvPr>
            <p:ph type="title"/>
          </p:nvPr>
        </p:nvSpPr>
        <p:spPr>
          <a:xfrm>
            <a:off x="1024441" y="117475"/>
            <a:ext cx="10769330" cy="609600"/>
          </a:xfrm>
        </p:spPr>
        <p:txBody>
          <a:bodyPr/>
          <a:lstStyle/>
          <a:p>
            <a:r>
              <a:rPr lang="en-US" altLang="en-US" sz="3733" dirty="0"/>
              <a:t>Project Operation</a:t>
            </a:r>
          </a:p>
        </p:txBody>
      </p:sp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24441" y="1077913"/>
            <a:ext cx="10243999" cy="4876800"/>
          </a:xfrm>
        </p:spPr>
        <p:txBody>
          <a:bodyPr/>
          <a:lstStyle/>
          <a:p>
            <a:pPr>
              <a:lnSpc>
                <a:spcPct val="120000"/>
              </a:lnSpc>
              <a:tabLst>
                <a:tab pos="3257550" algn="ctr"/>
              </a:tabLst>
            </a:pPr>
            <a:r>
              <a:rPr lang="en-US" altLang="en-US" sz="2266" dirty="0"/>
              <a:t>A unary operation that returns its argument relation, with certain attributes left out.  </a:t>
            </a:r>
          </a:p>
          <a:p>
            <a:pPr>
              <a:lnSpc>
                <a:spcPct val="120000"/>
              </a:lnSpc>
              <a:tabLst>
                <a:tab pos="3257550" algn="ctr"/>
              </a:tabLst>
            </a:pPr>
            <a:r>
              <a:rPr lang="en-US" altLang="en-US" sz="2266" dirty="0"/>
              <a:t>Notation:</a:t>
            </a:r>
          </a:p>
          <a:p>
            <a:pPr>
              <a:lnSpc>
                <a:spcPct val="120000"/>
              </a:lnSpc>
              <a:buNone/>
              <a:tabLst>
                <a:tab pos="3257550" algn="ctr"/>
              </a:tabLst>
            </a:pPr>
            <a:r>
              <a:rPr lang="en-US" altLang="en-US" dirty="0">
                <a:sym typeface="Symbol" panose="05050102010706020507" pitchFamily="18" charset="2"/>
              </a:rPr>
              <a:t>                   </a:t>
            </a:r>
            <a:r>
              <a:rPr lang="en-US" altLang="en-US" i="1" baseline="-25000" dirty="0">
                <a:sym typeface="Symbol" panose="05050102010706020507" pitchFamily="18" charset="2"/>
              </a:rPr>
              <a:t>A</a:t>
            </a:r>
            <a:r>
              <a:rPr lang="en-US" altLang="en-US" i="1" baseline="-50000" dirty="0">
                <a:sym typeface="Symbol" panose="05050102010706020507" pitchFamily="18" charset="2"/>
              </a:rPr>
              <a:t>1</a:t>
            </a:r>
            <a:r>
              <a:rPr lang="en-US" altLang="en-US" i="1" baseline="-25000" dirty="0">
                <a:sym typeface="Symbol" panose="05050102010706020507" pitchFamily="18" charset="2"/>
              </a:rPr>
              <a:t>,A</a:t>
            </a:r>
            <a:r>
              <a:rPr lang="en-US" altLang="en-US" i="1" baseline="-50000" dirty="0">
                <a:sym typeface="Symbol" panose="05050102010706020507" pitchFamily="18" charset="2"/>
              </a:rPr>
              <a:t>2</a:t>
            </a:r>
            <a:r>
              <a:rPr lang="en-US" altLang="en-US" i="1" baseline="-25000" dirty="0">
                <a:sym typeface="Symbol" panose="05050102010706020507" pitchFamily="18" charset="2"/>
              </a:rPr>
              <a:t>,A</a:t>
            </a:r>
            <a:r>
              <a:rPr lang="en-US" altLang="en-US" i="1" baseline="-50000" dirty="0">
                <a:sym typeface="Symbol" panose="05050102010706020507" pitchFamily="18" charset="2"/>
              </a:rPr>
              <a:t>3</a:t>
            </a:r>
            <a:r>
              <a:rPr lang="en-US" altLang="en-US" i="1" baseline="-25000" dirty="0">
                <a:sym typeface="Symbol" panose="05050102010706020507" pitchFamily="18" charset="2"/>
              </a:rPr>
              <a:t> ….</a:t>
            </a:r>
            <a:r>
              <a:rPr lang="en-US" altLang="en-US" i="1" baseline="-25000" dirty="0" err="1">
                <a:sym typeface="Symbol" panose="05050102010706020507" pitchFamily="18" charset="2"/>
              </a:rPr>
              <a:t>A</a:t>
            </a:r>
            <a:r>
              <a:rPr lang="en-US" altLang="en-US" i="1" baseline="-50000" dirty="0" err="1">
                <a:sym typeface="Symbol" panose="05050102010706020507" pitchFamily="18" charset="2"/>
              </a:rPr>
              <a:t>k</a:t>
            </a:r>
            <a:r>
              <a:rPr lang="en-US" altLang="en-US" i="1" baseline="-25000" dirty="0">
                <a:sym typeface="Symbol" panose="05050102010706020507" pitchFamily="18" charset="2"/>
              </a:rPr>
              <a:t> </a:t>
            </a:r>
            <a:r>
              <a:rPr lang="en-US" altLang="en-US" baseline="-25000" dirty="0"/>
              <a:t> </a:t>
            </a:r>
            <a:r>
              <a:rPr lang="en-US" altLang="en-US" sz="2266" dirty="0"/>
              <a:t>(</a:t>
            </a:r>
            <a:r>
              <a:rPr lang="en-US" altLang="en-US" sz="2266" i="1" dirty="0"/>
              <a:t>r</a:t>
            </a:r>
            <a:r>
              <a:rPr lang="en-US" altLang="ja-JP" sz="2266" dirty="0">
                <a:sym typeface="Symbol" panose="05050102010706020507" pitchFamily="18" charset="2"/>
              </a:rPr>
              <a:t>)</a:t>
            </a:r>
            <a:r>
              <a:rPr lang="en-US" altLang="en-US" sz="2266" dirty="0">
                <a:solidFill>
                  <a:schemeClr val="bg1">
                    <a:lumMod val="50000"/>
                  </a:schemeClr>
                </a:solidFill>
              </a:rPr>
              <a:t>	</a:t>
            </a:r>
          </a:p>
          <a:p>
            <a:pPr>
              <a:lnSpc>
                <a:spcPct val="120000"/>
              </a:lnSpc>
              <a:buFont typeface="Monotype Sorts" charset="2"/>
              <a:buNone/>
              <a:tabLst>
                <a:tab pos="3257550" algn="ctr"/>
              </a:tabLst>
            </a:pPr>
            <a:r>
              <a:rPr lang="en-US" altLang="en-US" sz="2266" dirty="0"/>
              <a:t>	where </a:t>
            </a:r>
            <a:r>
              <a:rPr lang="en-US" altLang="en-US" sz="2266" i="1" dirty="0"/>
              <a:t>A</a:t>
            </a:r>
            <a:r>
              <a:rPr lang="en-US" altLang="en-US" sz="2266" i="1" baseline="-25000" dirty="0"/>
              <a:t>1</a:t>
            </a:r>
            <a:r>
              <a:rPr lang="en-US" altLang="en-US" sz="2266" i="1" dirty="0"/>
              <a:t>, A</a:t>
            </a:r>
            <a:r>
              <a:rPr lang="en-US" altLang="en-US" sz="2266" i="1" baseline="-25000" dirty="0"/>
              <a:t>2</a:t>
            </a:r>
            <a:r>
              <a:rPr lang="en-US" altLang="en-US" sz="2266" dirty="0"/>
              <a:t>,  …, </a:t>
            </a:r>
            <a:r>
              <a:rPr lang="en-US" altLang="en-US" i="1" dirty="0" err="1"/>
              <a:t>A</a:t>
            </a:r>
            <a:r>
              <a:rPr lang="en-US" altLang="en-US" i="1" baseline="-25000" dirty="0" err="1"/>
              <a:t>k</a:t>
            </a:r>
            <a:r>
              <a:rPr lang="en-US" altLang="en-US" sz="2266" dirty="0"/>
              <a:t>  are attribute names and </a:t>
            </a:r>
            <a:r>
              <a:rPr lang="en-US" altLang="en-US" sz="2266" i="1" dirty="0"/>
              <a:t>r</a:t>
            </a:r>
            <a:r>
              <a:rPr lang="en-US" altLang="en-US" sz="2266" dirty="0"/>
              <a:t> is a relation name.</a:t>
            </a:r>
          </a:p>
          <a:p>
            <a:pPr>
              <a:tabLst>
                <a:tab pos="3257550" algn="ctr"/>
              </a:tabLst>
            </a:pPr>
            <a:r>
              <a:rPr lang="en-US" altLang="en-US" sz="2266" dirty="0"/>
              <a:t>The result is defined as the relation of </a:t>
            </a:r>
            <a:r>
              <a:rPr lang="en-US" altLang="en-US" sz="2266" i="1" dirty="0"/>
              <a:t>k</a:t>
            </a:r>
            <a:r>
              <a:rPr lang="en-US" altLang="en-US" sz="2266" dirty="0"/>
              <a:t> columns obtained by erasing the columns that are not listed</a:t>
            </a:r>
          </a:p>
          <a:p>
            <a:pPr>
              <a:tabLst>
                <a:tab pos="3257550" algn="ctr"/>
              </a:tabLst>
            </a:pPr>
            <a:r>
              <a:rPr lang="en-US" altLang="en-US" sz="2266" dirty="0"/>
              <a:t>Duplicate rows removed from result, since relations are sets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106" name="Rectangle 2"/>
          <p:cNvSpPr>
            <a:spLocks noGrp="1" noChangeArrowheads="1"/>
          </p:cNvSpPr>
          <p:nvPr>
            <p:ph type="title"/>
          </p:nvPr>
        </p:nvSpPr>
        <p:spPr>
          <a:xfrm>
            <a:off x="1024441" y="117475"/>
            <a:ext cx="10769330" cy="609600"/>
          </a:xfrm>
        </p:spPr>
        <p:txBody>
          <a:bodyPr/>
          <a:lstStyle/>
          <a:p>
            <a:r>
              <a:rPr lang="en-US" altLang="en-US" sz="3733" dirty="0"/>
              <a:t>Project Operation Example</a:t>
            </a:r>
          </a:p>
        </p:txBody>
      </p:sp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24441" y="1077913"/>
            <a:ext cx="10549540" cy="1567751"/>
          </a:xfrm>
        </p:spPr>
        <p:txBody>
          <a:bodyPr/>
          <a:lstStyle/>
          <a:p>
            <a:pPr>
              <a:tabLst>
                <a:tab pos="3257550" algn="ctr"/>
              </a:tabLst>
            </a:pPr>
            <a:r>
              <a:rPr lang="en-US" altLang="en-US" sz="2266" dirty="0"/>
              <a:t>Example: eliminate the </a:t>
            </a:r>
            <a:r>
              <a:rPr lang="en-US" altLang="en-US" sz="2266" i="1" dirty="0"/>
              <a:t>dept_name</a:t>
            </a:r>
            <a:r>
              <a:rPr lang="en-US" altLang="en-US" sz="2266" dirty="0"/>
              <a:t> attribute of </a:t>
            </a:r>
            <a:r>
              <a:rPr lang="en-US" altLang="en-US" sz="2266" i="1" dirty="0"/>
              <a:t>instructor</a:t>
            </a:r>
          </a:p>
          <a:p>
            <a:pPr>
              <a:tabLst>
                <a:tab pos="3257550" algn="ctr"/>
              </a:tabLst>
            </a:pPr>
            <a:r>
              <a:rPr lang="en-US" altLang="en-US" sz="2266" dirty="0"/>
              <a:t>Query</a:t>
            </a:r>
            <a:r>
              <a:rPr lang="en-US" altLang="en-US" sz="2266" i="1" dirty="0"/>
              <a:t>:</a:t>
            </a:r>
            <a:r>
              <a:rPr lang="en-US" altLang="en-US" sz="1700" dirty="0"/>
              <a:t/>
            </a:r>
            <a:br>
              <a:rPr lang="en-US" altLang="en-US" sz="1700" dirty="0"/>
            </a:br>
            <a:r>
              <a:rPr lang="en-US" altLang="en-US" sz="1066" dirty="0"/>
              <a:t> </a:t>
            </a:r>
            <a:r>
              <a:rPr lang="en-US" altLang="en-US" sz="1700" dirty="0"/>
              <a:t/>
            </a:r>
            <a:br>
              <a:rPr lang="en-US" altLang="en-US" sz="1700" dirty="0"/>
            </a:br>
            <a:r>
              <a:rPr lang="en-US" altLang="en-US" sz="2266" dirty="0"/>
              <a:t>         	 </a:t>
            </a:r>
            <a:r>
              <a:rPr lang="en-US" altLang="en-US" dirty="0">
                <a:sym typeface="Symbol" panose="05050102010706020507" pitchFamily="18" charset="2"/>
              </a:rPr>
              <a:t></a:t>
            </a:r>
            <a:r>
              <a:rPr lang="en-US" altLang="en-US" i="1" baseline="-25000" dirty="0"/>
              <a:t>ID, name, salary</a:t>
            </a:r>
            <a:r>
              <a:rPr lang="en-US" altLang="en-US" dirty="0"/>
              <a:t> </a:t>
            </a:r>
            <a:r>
              <a:rPr lang="en-US" altLang="en-US" sz="2266" dirty="0"/>
              <a:t>(</a:t>
            </a:r>
            <a:r>
              <a:rPr lang="en-US" altLang="en-US" sz="2266" i="1" dirty="0"/>
              <a:t>instructor</a:t>
            </a:r>
            <a:r>
              <a:rPr lang="en-US" altLang="en-US" sz="2266" dirty="0"/>
              <a:t>) </a:t>
            </a:r>
          </a:p>
          <a:p>
            <a:pPr>
              <a:tabLst>
                <a:tab pos="3257550" algn="ctr"/>
              </a:tabLst>
            </a:pPr>
            <a:r>
              <a:rPr lang="en-US" altLang="en-US" sz="2266" dirty="0"/>
              <a:t>Result:</a:t>
            </a:r>
            <a:r>
              <a:rPr lang="en-US" altLang="en-US" sz="1700" dirty="0"/>
              <a:t/>
            </a:r>
            <a:br>
              <a:rPr lang="en-US" altLang="en-US" sz="1700" dirty="0"/>
            </a:br>
            <a:endParaRPr lang="en-US" altLang="en-US" sz="1700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xmlns="" id="{78A827ED-B175-4A55-B05F-235A354E778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rcRect b="9823"/>
          <a:stretch/>
        </p:blipFill>
        <p:spPr>
          <a:xfrm>
            <a:off x="3181828" y="2422578"/>
            <a:ext cx="5622084" cy="3749887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882" name="Rectangle 2"/>
          <p:cNvSpPr>
            <a:spLocks noGrp="1" noChangeArrowheads="1"/>
          </p:cNvSpPr>
          <p:nvPr>
            <p:ph type="title"/>
          </p:nvPr>
        </p:nvSpPr>
        <p:spPr>
          <a:xfrm>
            <a:off x="1024441" y="117475"/>
            <a:ext cx="10769330" cy="609600"/>
          </a:xfrm>
        </p:spPr>
        <p:txBody>
          <a:bodyPr/>
          <a:lstStyle/>
          <a:p>
            <a:r>
              <a:rPr lang="en-US" altLang="en-US" sz="3733" dirty="0"/>
              <a:t>Composition of Relational Operations</a:t>
            </a:r>
          </a:p>
        </p:txBody>
      </p:sp>
      <p:sp>
        <p:nvSpPr>
          <p:cNvPr id="717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24442" y="1242035"/>
            <a:ext cx="10078129" cy="3720109"/>
          </a:xfrm>
        </p:spPr>
        <p:txBody>
          <a:bodyPr/>
          <a:lstStyle/>
          <a:p>
            <a:r>
              <a:rPr lang="en-US" altLang="en-US" sz="2266" dirty="0"/>
              <a:t>The result of a relational-algebra operation is relation  and therefore of relational-algebra operations can be composed together into a </a:t>
            </a:r>
            <a:r>
              <a:rPr lang="en-US" altLang="en-US" sz="2266" b="1" dirty="0">
                <a:solidFill>
                  <a:srgbClr val="FF0000"/>
                </a:solidFill>
              </a:rPr>
              <a:t>relational-algebra expression</a:t>
            </a:r>
            <a:r>
              <a:rPr lang="en-US" altLang="en-US" sz="2266" dirty="0"/>
              <a:t>.  </a:t>
            </a:r>
            <a:r>
              <a:rPr lang="zh-CN" altLang="en-US" sz="2266" dirty="0">
                <a:latin typeface="华文宋体" pitchFamily="2" charset="-122"/>
                <a:ea typeface="华文宋体" pitchFamily="2" charset="-122"/>
              </a:rPr>
              <a:t>关系代数表达式</a:t>
            </a:r>
            <a:endParaRPr lang="en-US" altLang="en-US" sz="1700" dirty="0">
              <a:latin typeface="华文宋体" pitchFamily="2" charset="-122"/>
              <a:ea typeface="华文宋体" pitchFamily="2" charset="-122"/>
            </a:endParaRPr>
          </a:p>
          <a:p>
            <a:r>
              <a:rPr lang="en-US" altLang="en-US" sz="2266" dirty="0"/>
              <a:t>Consider  the query -- Find the names of all instructors in the Physics department.</a:t>
            </a:r>
          </a:p>
          <a:p>
            <a:pPr>
              <a:buNone/>
            </a:pPr>
            <a:r>
              <a:rPr lang="en-US" altLang="ja-JP" sz="1066" dirty="0">
                <a:sym typeface="Symbol" panose="05050102010706020507" pitchFamily="18" charset="2"/>
              </a:rPr>
              <a:t> </a:t>
            </a:r>
          </a:p>
          <a:p>
            <a:pPr>
              <a:buNone/>
            </a:pPr>
            <a:r>
              <a:rPr lang="en-US" altLang="en-US" sz="2266" dirty="0">
                <a:sym typeface="Symbol" panose="05050102010706020507" pitchFamily="18" charset="2"/>
              </a:rPr>
              <a:t>             </a:t>
            </a:r>
            <a:r>
              <a:rPr lang="en-US" altLang="en-US" dirty="0">
                <a:sym typeface="Symbol" panose="05050102010706020507" pitchFamily="18" charset="2"/>
              </a:rPr>
              <a:t></a:t>
            </a:r>
            <a:r>
              <a:rPr lang="en-US" altLang="en-US" i="1" baseline="-25000" dirty="0">
                <a:sym typeface="Symbol" panose="05050102010706020507" pitchFamily="18" charset="2"/>
              </a:rPr>
              <a:t>name</a:t>
            </a:r>
            <a:r>
              <a:rPr lang="en-US" altLang="en-US" dirty="0"/>
              <a:t>(</a:t>
            </a:r>
            <a:r>
              <a:rPr lang="en-US" altLang="en-US" i="1" dirty="0">
                <a:sym typeface="Symbol" panose="05050102010706020507" pitchFamily="18" charset="2"/>
              </a:rPr>
              <a:t></a:t>
            </a:r>
            <a:r>
              <a:rPr lang="en-US" altLang="en-US" dirty="0">
                <a:sym typeface="Symbol" panose="05050102010706020507" pitchFamily="18" charset="2"/>
              </a:rPr>
              <a:t> </a:t>
            </a:r>
            <a:r>
              <a:rPr lang="en-US" altLang="en-US" i="1" baseline="-25000" dirty="0">
                <a:sym typeface="Symbol" panose="05050102010706020507" pitchFamily="18" charset="2"/>
              </a:rPr>
              <a:t>dept_name</a:t>
            </a:r>
            <a:r>
              <a:rPr lang="en-US" altLang="en-US" i="1" dirty="0">
                <a:sym typeface="Symbol" panose="05050102010706020507" pitchFamily="18" charset="2"/>
              </a:rPr>
              <a:t> </a:t>
            </a:r>
            <a:r>
              <a:rPr lang="en-US" altLang="en-US" i="1" baseline="-25000" dirty="0">
                <a:sym typeface="Symbol" panose="05050102010706020507" pitchFamily="18" charset="2"/>
              </a:rPr>
              <a:t>=</a:t>
            </a:r>
            <a:r>
              <a:rPr lang="ja-JP" altLang="en-US" i="1" baseline="-25000" dirty="0">
                <a:sym typeface="Symbol" panose="05050102010706020507" pitchFamily="18" charset="2"/>
              </a:rPr>
              <a:t>“</a:t>
            </a:r>
            <a:r>
              <a:rPr lang="en-US" altLang="ja-JP" i="1" baseline="-25000" dirty="0">
                <a:sym typeface="Symbol" panose="05050102010706020507" pitchFamily="18" charset="2"/>
              </a:rPr>
              <a:t>Physics</a:t>
            </a:r>
            <a:r>
              <a:rPr lang="ja-JP" altLang="en-US" i="1" baseline="-25000" dirty="0">
                <a:sym typeface="Symbol" panose="05050102010706020507" pitchFamily="18" charset="2"/>
              </a:rPr>
              <a:t>”</a:t>
            </a:r>
            <a:r>
              <a:rPr lang="en-US" altLang="ja-JP" i="1" baseline="-25000" dirty="0">
                <a:sym typeface="Symbol" panose="05050102010706020507" pitchFamily="18" charset="2"/>
              </a:rPr>
              <a:t> </a:t>
            </a:r>
            <a:r>
              <a:rPr lang="en-US" altLang="ja-JP" i="1" dirty="0">
                <a:sym typeface="Symbol" panose="05050102010706020507" pitchFamily="18" charset="2"/>
              </a:rPr>
              <a:t> </a:t>
            </a:r>
            <a:r>
              <a:rPr lang="en-US" altLang="ja-JP" sz="2266" dirty="0">
                <a:sym typeface="Symbol" panose="05050102010706020507" pitchFamily="18" charset="2"/>
              </a:rPr>
              <a:t>(</a:t>
            </a:r>
            <a:r>
              <a:rPr lang="en-US" altLang="ja-JP" sz="2266" i="1" dirty="0">
                <a:sym typeface="Symbol" panose="05050102010706020507" pitchFamily="18" charset="2"/>
              </a:rPr>
              <a:t>instructor</a:t>
            </a:r>
            <a:r>
              <a:rPr lang="en-US" altLang="ja-JP" sz="2266" dirty="0">
                <a:sym typeface="Symbol" panose="05050102010706020507" pitchFamily="18" charset="2"/>
              </a:rPr>
              <a:t>))</a:t>
            </a:r>
          </a:p>
          <a:p>
            <a:pPr>
              <a:buNone/>
            </a:pPr>
            <a:r>
              <a:rPr lang="en-US" altLang="ja-JP" sz="1066" dirty="0">
                <a:sym typeface="Symbol" panose="05050102010706020507" pitchFamily="18" charset="2"/>
              </a:rPr>
              <a:t> </a:t>
            </a:r>
          </a:p>
          <a:p>
            <a:pPr>
              <a:lnSpc>
                <a:spcPct val="90000"/>
              </a:lnSpc>
              <a:tabLst>
                <a:tab pos="1658938" algn="l"/>
                <a:tab pos="3149600" algn="ctr"/>
                <a:tab pos="3425825" algn="l"/>
              </a:tabLst>
            </a:pPr>
            <a:r>
              <a:rPr lang="en-US" altLang="en-US" sz="2266" dirty="0">
                <a:sym typeface="Symbol" panose="05050102010706020507" pitchFamily="18" charset="2"/>
              </a:rPr>
              <a:t>Instead of giving the name of a relation as the argument of the projection operation, we give an expression that evaluates to a relation.</a:t>
            </a:r>
          </a:p>
          <a:p>
            <a:pPr>
              <a:lnSpc>
                <a:spcPct val="90000"/>
              </a:lnSpc>
              <a:tabLst>
                <a:tab pos="1658938" algn="l"/>
                <a:tab pos="3149600" algn="ctr"/>
                <a:tab pos="3425825" algn="l"/>
              </a:tabLst>
            </a:pPr>
            <a:endParaRPr lang="en-US" altLang="en-US" dirty="0"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  <a:tabLst>
                <a:tab pos="1658938" algn="l"/>
                <a:tab pos="3149600" algn="ctr"/>
                <a:tab pos="3425825" algn="l"/>
              </a:tabLst>
            </a:pPr>
            <a:endParaRPr lang="en-US" altLang="en-US" dirty="0"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362" name="Rectangle 2"/>
          <p:cNvSpPr>
            <a:spLocks noGrp="1" noChangeArrowheads="1"/>
          </p:cNvSpPr>
          <p:nvPr>
            <p:ph type="title"/>
          </p:nvPr>
        </p:nvSpPr>
        <p:spPr>
          <a:xfrm>
            <a:off x="1024441" y="117475"/>
            <a:ext cx="10769330" cy="609600"/>
          </a:xfrm>
        </p:spPr>
        <p:txBody>
          <a:bodyPr/>
          <a:lstStyle/>
          <a:p>
            <a:r>
              <a:rPr lang="en-US" altLang="en-US" sz="3733" dirty="0"/>
              <a:t>Cartesian-Product Operation</a:t>
            </a:r>
          </a:p>
        </p:txBody>
      </p:sp>
      <p:sp>
        <p:nvSpPr>
          <p:cNvPr id="1229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24441" y="1065721"/>
            <a:ext cx="10279509" cy="4876800"/>
          </a:xfrm>
        </p:spPr>
        <p:txBody>
          <a:bodyPr/>
          <a:lstStyle/>
          <a:p>
            <a:pPr>
              <a:tabLst>
                <a:tab pos="3149600" algn="ctr"/>
              </a:tabLst>
            </a:pPr>
            <a:r>
              <a:rPr lang="en-US" altLang="en-US" sz="2266" dirty="0"/>
              <a:t>The Cartesian-product operation (denoted by X)  allows us to combine information from any two relations.  </a:t>
            </a:r>
          </a:p>
          <a:p>
            <a:pPr>
              <a:tabLst>
                <a:tab pos="3149600" algn="ctr"/>
              </a:tabLst>
            </a:pPr>
            <a:r>
              <a:rPr lang="en-US" altLang="en-US" sz="2266" dirty="0"/>
              <a:t>Example: the Cartesian product of the relations </a:t>
            </a:r>
            <a:r>
              <a:rPr lang="en-US" altLang="en-US" sz="2266" i="1" dirty="0"/>
              <a:t>instructor</a:t>
            </a:r>
            <a:r>
              <a:rPr lang="en-US" altLang="en-US" sz="2266" dirty="0"/>
              <a:t> and t</a:t>
            </a:r>
            <a:r>
              <a:rPr lang="en-US" altLang="en-US" sz="2266" i="1" dirty="0"/>
              <a:t>eaches</a:t>
            </a:r>
            <a:r>
              <a:rPr lang="en-US" altLang="en-US" sz="2266" dirty="0"/>
              <a:t> is written  as:</a:t>
            </a:r>
          </a:p>
          <a:p>
            <a:pPr>
              <a:buNone/>
              <a:tabLst>
                <a:tab pos="3149600" algn="ctr"/>
              </a:tabLst>
            </a:pPr>
            <a:r>
              <a:rPr lang="en-US" altLang="en-US" sz="2266" i="1" dirty="0"/>
              <a:t>                instructor</a:t>
            </a:r>
            <a:r>
              <a:rPr lang="en-US" altLang="en-US" sz="2266" dirty="0"/>
              <a:t>  X  </a:t>
            </a:r>
            <a:r>
              <a:rPr lang="en-US" altLang="en-US" sz="2266" i="1" dirty="0"/>
              <a:t>teaches</a:t>
            </a:r>
          </a:p>
          <a:p>
            <a:pPr>
              <a:tabLst>
                <a:tab pos="3149600" algn="ctr"/>
              </a:tabLst>
            </a:pPr>
            <a:r>
              <a:rPr lang="en-US" altLang="en-US" sz="2266" dirty="0"/>
              <a:t>We construct a tuple of the result out of each possible pair of tuples: one from the </a:t>
            </a:r>
            <a:r>
              <a:rPr lang="en-US" altLang="en-US" sz="2266" i="1" dirty="0"/>
              <a:t>instructor</a:t>
            </a:r>
            <a:r>
              <a:rPr lang="en-US" altLang="en-US" sz="2266" dirty="0"/>
              <a:t> relation and one from the </a:t>
            </a:r>
            <a:r>
              <a:rPr lang="en-US" altLang="en-US" sz="2266" i="1" dirty="0"/>
              <a:t>teaches</a:t>
            </a:r>
            <a:r>
              <a:rPr lang="en-US" altLang="en-US" sz="2266" dirty="0"/>
              <a:t> relation (see next slide)</a:t>
            </a:r>
          </a:p>
          <a:p>
            <a:pPr>
              <a:tabLst>
                <a:tab pos="3149600" algn="ctr"/>
              </a:tabLst>
            </a:pPr>
            <a:r>
              <a:rPr lang="en-US" altLang="en-US" sz="2266" dirty="0"/>
              <a:t>Since the instructor</a:t>
            </a:r>
            <a:r>
              <a:rPr lang="en-US" altLang="en-US" sz="2266" i="1" dirty="0"/>
              <a:t> ID </a:t>
            </a:r>
            <a:r>
              <a:rPr lang="en-US" altLang="en-US" sz="2266" dirty="0"/>
              <a:t>appears in both relations we distinguish between these attribute by attaching to the attribute the name of the relation from which the attribute originally came.</a:t>
            </a:r>
          </a:p>
          <a:p>
            <a:pPr lvl="1">
              <a:tabLst>
                <a:tab pos="3149600" algn="ctr"/>
              </a:tabLst>
            </a:pPr>
            <a:r>
              <a:rPr lang="en-US" altLang="en-US" sz="2266" i="1" dirty="0"/>
              <a:t>instructor.ID</a:t>
            </a:r>
          </a:p>
          <a:p>
            <a:pPr lvl="1">
              <a:tabLst>
                <a:tab pos="3149600" algn="ctr"/>
              </a:tabLst>
            </a:pPr>
            <a:r>
              <a:rPr lang="en-US" altLang="en-US" sz="2266" i="1" dirty="0"/>
              <a:t>teaches.ID</a:t>
            </a:r>
          </a:p>
          <a:p>
            <a:pPr lvl="1">
              <a:tabLst>
                <a:tab pos="3149600" algn="ctr"/>
              </a:tabLst>
            </a:pPr>
            <a:endParaRPr lang="en-US" altLang="en-US" dirty="0"/>
          </a:p>
          <a:p>
            <a:pPr>
              <a:buNone/>
              <a:tabLst>
                <a:tab pos="3149600" algn="ctr"/>
              </a:tabLst>
            </a:pPr>
            <a:endParaRPr lang="en-US" altLang="en-US" dirty="0"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362" name="Rectangle 2"/>
          <p:cNvSpPr>
            <a:spLocks noGrp="1" noChangeArrowheads="1"/>
          </p:cNvSpPr>
          <p:nvPr>
            <p:ph type="title"/>
          </p:nvPr>
        </p:nvSpPr>
        <p:spPr>
          <a:xfrm>
            <a:off x="1024441" y="117475"/>
            <a:ext cx="10769330" cy="609600"/>
          </a:xfrm>
        </p:spPr>
        <p:txBody>
          <a:bodyPr/>
          <a:lstStyle/>
          <a:p>
            <a:r>
              <a:rPr lang="en-US" altLang="en-US" sz="3733" dirty="0"/>
              <a:t>The</a:t>
            </a:r>
            <a:r>
              <a:rPr lang="en-US" altLang="en-US" sz="3733" i="1" dirty="0"/>
              <a:t>  instructor</a:t>
            </a:r>
            <a:r>
              <a:rPr lang="en-US" altLang="en-US" sz="3733" dirty="0"/>
              <a:t>  </a:t>
            </a:r>
            <a:r>
              <a:rPr lang="en-US" altLang="en-US" sz="3199" dirty="0"/>
              <a:t>X</a:t>
            </a:r>
            <a:r>
              <a:rPr lang="en-US" altLang="en-US" sz="3733" dirty="0"/>
              <a:t>  </a:t>
            </a:r>
            <a:r>
              <a:rPr lang="en-US" altLang="en-US" sz="3733" i="1" dirty="0"/>
              <a:t>teaches  table</a:t>
            </a:r>
            <a:endParaRPr lang="en-US" altLang="en-US" sz="2800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xmlns="" id="{E425A146-DF78-4629-A7BE-AFD77542715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rcRect t="-2" b="6551"/>
          <a:stretch/>
        </p:blipFill>
        <p:spPr>
          <a:xfrm>
            <a:off x="2226065" y="727075"/>
            <a:ext cx="7279140" cy="5964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371139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882" name="Rectangle 2"/>
          <p:cNvSpPr>
            <a:spLocks noGrp="1" noChangeArrowheads="1"/>
          </p:cNvSpPr>
          <p:nvPr>
            <p:ph type="title"/>
          </p:nvPr>
        </p:nvSpPr>
        <p:spPr>
          <a:xfrm>
            <a:off x="1024441" y="117475"/>
            <a:ext cx="10769330" cy="609600"/>
          </a:xfrm>
        </p:spPr>
        <p:txBody>
          <a:bodyPr/>
          <a:lstStyle/>
          <a:p>
            <a:r>
              <a:rPr lang="en-US" altLang="en-US" sz="3733" dirty="0"/>
              <a:t>Join Operation</a:t>
            </a:r>
          </a:p>
        </p:txBody>
      </p:sp>
      <p:sp>
        <p:nvSpPr>
          <p:cNvPr id="717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24442" y="1126681"/>
            <a:ext cx="10175662" cy="4664519"/>
          </a:xfrm>
        </p:spPr>
        <p:txBody>
          <a:bodyPr/>
          <a:lstStyle/>
          <a:p>
            <a:pPr>
              <a:tabLst>
                <a:tab pos="3149600" algn="ctr"/>
              </a:tabLst>
            </a:pPr>
            <a:r>
              <a:rPr lang="en-US" altLang="en-US" sz="2266" dirty="0"/>
              <a:t>The Cartesian-Product </a:t>
            </a:r>
          </a:p>
          <a:p>
            <a:pPr>
              <a:buNone/>
              <a:tabLst>
                <a:tab pos="3149600" algn="ctr"/>
              </a:tabLst>
            </a:pPr>
            <a:r>
              <a:rPr lang="en-US" altLang="en-US" sz="2266" i="1" dirty="0"/>
              <a:t>                    instructor</a:t>
            </a:r>
            <a:r>
              <a:rPr lang="en-US" altLang="en-US" sz="2266" dirty="0"/>
              <a:t>  X  </a:t>
            </a:r>
            <a:r>
              <a:rPr lang="en-US" altLang="en-US" sz="2266" i="1" dirty="0"/>
              <a:t>teaches</a:t>
            </a:r>
            <a:endParaRPr lang="en-US" altLang="en-US" sz="1700" dirty="0"/>
          </a:p>
          <a:p>
            <a:pPr>
              <a:buNone/>
              <a:tabLst>
                <a:tab pos="3149600" algn="ctr"/>
              </a:tabLst>
            </a:pPr>
            <a:r>
              <a:rPr lang="en-US" altLang="en-US" sz="2266" dirty="0"/>
              <a:t>      associates every  tuple of  instructor with every tuple of teaches.</a:t>
            </a:r>
          </a:p>
          <a:p>
            <a:pPr lvl="1"/>
            <a:r>
              <a:rPr lang="en-US" altLang="en-US" sz="2266" dirty="0"/>
              <a:t>Most of the resulting rows have information about instructors who did NOT teach a particular course. </a:t>
            </a:r>
          </a:p>
          <a:p>
            <a:r>
              <a:rPr lang="en-US" altLang="en-US" sz="2266" dirty="0"/>
              <a:t>To get only those tuples of  “</a:t>
            </a:r>
            <a:r>
              <a:rPr lang="en-US" altLang="en-US" sz="2266" i="1" dirty="0"/>
              <a:t>instructor</a:t>
            </a:r>
            <a:r>
              <a:rPr lang="en-US" altLang="en-US" sz="2266" dirty="0"/>
              <a:t>  X  </a:t>
            </a:r>
            <a:r>
              <a:rPr lang="en-US" altLang="en-US" sz="2266" i="1" dirty="0"/>
              <a:t>teaches</a:t>
            </a:r>
            <a:r>
              <a:rPr lang="en-US" altLang="en-US" sz="2266" dirty="0"/>
              <a:t> “ that pertain to instructors and the courses that they taught, we write:</a:t>
            </a:r>
          </a:p>
          <a:p>
            <a:pPr>
              <a:buNone/>
            </a:pPr>
            <a:r>
              <a:rPr lang="en-US" altLang="en-US" sz="2266" dirty="0">
                <a:solidFill>
                  <a:schemeClr val="bg1">
                    <a:lumMod val="50000"/>
                  </a:schemeClr>
                </a:solidFill>
                <a:sym typeface="Symbol" panose="05050102010706020507" pitchFamily="18" charset="2"/>
              </a:rPr>
              <a:t>            </a:t>
            </a:r>
            <a:r>
              <a:rPr lang="en-US" altLang="en-US" i="1" dirty="0">
                <a:sym typeface="Symbol" panose="05050102010706020507" pitchFamily="18" charset="2"/>
              </a:rPr>
              <a:t></a:t>
            </a:r>
            <a:r>
              <a:rPr lang="en-US" altLang="en-US" dirty="0">
                <a:sym typeface="Symbol" panose="05050102010706020507" pitchFamily="18" charset="2"/>
              </a:rPr>
              <a:t> </a:t>
            </a:r>
            <a:r>
              <a:rPr lang="en-US" altLang="en-US" i="1" baseline="-25000" dirty="0">
                <a:sym typeface="Symbol" panose="05050102010706020507" pitchFamily="18" charset="2"/>
              </a:rPr>
              <a:t>instructor.id =  teaches.id</a:t>
            </a:r>
            <a:r>
              <a:rPr lang="en-US" altLang="ja-JP" i="1" baseline="-25000" dirty="0">
                <a:sym typeface="Symbol" panose="05050102010706020507" pitchFamily="18" charset="2"/>
              </a:rPr>
              <a:t> </a:t>
            </a:r>
            <a:r>
              <a:rPr lang="en-US" altLang="ja-JP" i="1" dirty="0">
                <a:sym typeface="Symbol" panose="05050102010706020507" pitchFamily="18" charset="2"/>
              </a:rPr>
              <a:t> </a:t>
            </a:r>
            <a:r>
              <a:rPr lang="en-US" altLang="ja-JP" sz="2266" dirty="0">
                <a:sym typeface="Symbol" panose="05050102010706020507" pitchFamily="18" charset="2"/>
              </a:rPr>
              <a:t>(</a:t>
            </a:r>
            <a:r>
              <a:rPr lang="en-US" altLang="ja-JP" sz="2266" i="1" dirty="0">
                <a:sym typeface="Symbol" panose="05050102010706020507" pitchFamily="18" charset="2"/>
              </a:rPr>
              <a:t>instructor  </a:t>
            </a:r>
            <a:r>
              <a:rPr lang="en-US" altLang="ja-JP" sz="2266" dirty="0">
                <a:sym typeface="Symbol" panose="05050102010706020507" pitchFamily="18" charset="2"/>
              </a:rPr>
              <a:t>x</a:t>
            </a:r>
            <a:r>
              <a:rPr lang="en-US" altLang="ja-JP" sz="2266" i="1" dirty="0">
                <a:sym typeface="Symbol" panose="05050102010706020507" pitchFamily="18" charset="2"/>
              </a:rPr>
              <a:t> teaches </a:t>
            </a:r>
            <a:r>
              <a:rPr lang="en-US" altLang="ja-JP" sz="2266" dirty="0">
                <a:sym typeface="Symbol" panose="05050102010706020507" pitchFamily="18" charset="2"/>
              </a:rPr>
              <a:t>))</a:t>
            </a:r>
          </a:p>
          <a:p>
            <a:pPr>
              <a:buNone/>
            </a:pPr>
            <a:r>
              <a:rPr lang="en-US" altLang="ja-JP" sz="1066" dirty="0">
                <a:sym typeface="Symbol" panose="05050102010706020507" pitchFamily="18" charset="2"/>
              </a:rPr>
              <a:t> </a:t>
            </a:r>
          </a:p>
          <a:p>
            <a:pPr lvl="1"/>
            <a:r>
              <a:rPr lang="en-US" altLang="ja-JP" sz="2266" dirty="0">
                <a:sym typeface="Symbol" panose="05050102010706020507" pitchFamily="18" charset="2"/>
              </a:rPr>
              <a:t>We get only those tuples of “</a:t>
            </a:r>
            <a:r>
              <a:rPr lang="en-US" altLang="en-US" sz="2266" i="1" dirty="0"/>
              <a:t>instructor</a:t>
            </a:r>
            <a:r>
              <a:rPr lang="en-US" altLang="en-US" sz="2266" dirty="0"/>
              <a:t>  X  </a:t>
            </a:r>
            <a:r>
              <a:rPr lang="en-US" altLang="en-US" sz="2266" i="1" dirty="0"/>
              <a:t>teaches” </a:t>
            </a:r>
            <a:r>
              <a:rPr lang="en-US" altLang="ja-JP" sz="2266" dirty="0">
                <a:sym typeface="Symbol" panose="05050102010706020507" pitchFamily="18" charset="2"/>
              </a:rPr>
              <a:t>that pertain to instructors and the courses that they taught.</a:t>
            </a:r>
          </a:p>
          <a:p>
            <a:r>
              <a:rPr lang="en-US" altLang="ja-JP" sz="2266" dirty="0">
                <a:sym typeface="Symbol" panose="05050102010706020507" pitchFamily="18" charset="2"/>
              </a:rPr>
              <a:t>The result of this expression, shown in the next slide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882" name="Rectangle 2"/>
          <p:cNvSpPr>
            <a:spLocks noGrp="1" noChangeArrowheads="1"/>
          </p:cNvSpPr>
          <p:nvPr>
            <p:ph type="title"/>
          </p:nvPr>
        </p:nvSpPr>
        <p:spPr>
          <a:xfrm>
            <a:off x="1024441" y="117475"/>
            <a:ext cx="10769330" cy="609600"/>
          </a:xfrm>
        </p:spPr>
        <p:txBody>
          <a:bodyPr/>
          <a:lstStyle/>
          <a:p>
            <a:r>
              <a:rPr lang="en-US" altLang="en-US" sz="3733" dirty="0"/>
              <a:t>Join Operation (Cont.)</a:t>
            </a:r>
          </a:p>
        </p:txBody>
      </p:sp>
      <p:sp>
        <p:nvSpPr>
          <p:cNvPr id="717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24442" y="1077913"/>
            <a:ext cx="9915573" cy="848423"/>
          </a:xfrm>
        </p:spPr>
        <p:txBody>
          <a:bodyPr/>
          <a:lstStyle/>
          <a:p>
            <a:r>
              <a:rPr lang="en-US" altLang="en-US" sz="2266" dirty="0"/>
              <a:t>The</a:t>
            </a:r>
            <a:r>
              <a:rPr lang="en-US" altLang="en-US" sz="2266" dirty="0">
                <a:sym typeface="Symbol" panose="05050102010706020507" pitchFamily="18" charset="2"/>
              </a:rPr>
              <a:t>  table corresponding to:</a:t>
            </a:r>
          </a:p>
          <a:p>
            <a:pPr>
              <a:buNone/>
            </a:pPr>
            <a:r>
              <a:rPr lang="en-US" altLang="en-US" sz="2266" i="1" dirty="0">
                <a:solidFill>
                  <a:schemeClr val="bg1">
                    <a:lumMod val="50000"/>
                  </a:schemeClr>
                </a:solidFill>
                <a:sym typeface="Symbol" panose="05050102010706020507" pitchFamily="18" charset="2"/>
              </a:rPr>
              <a:t>            </a:t>
            </a:r>
            <a:r>
              <a:rPr lang="en-US" altLang="en-US" i="1" dirty="0">
                <a:sym typeface="Symbol" panose="05050102010706020507" pitchFamily="18" charset="2"/>
              </a:rPr>
              <a:t></a:t>
            </a:r>
            <a:r>
              <a:rPr lang="en-US" altLang="en-US" dirty="0">
                <a:sym typeface="Symbol" panose="05050102010706020507" pitchFamily="18" charset="2"/>
              </a:rPr>
              <a:t> </a:t>
            </a:r>
            <a:r>
              <a:rPr lang="en-US" altLang="en-US" i="1" baseline="-25000" dirty="0">
                <a:sym typeface="Symbol" panose="05050102010706020507" pitchFamily="18" charset="2"/>
              </a:rPr>
              <a:t>instructor.id =  teaches.id</a:t>
            </a:r>
            <a:r>
              <a:rPr lang="en-US" altLang="ja-JP" i="1" baseline="-25000" dirty="0">
                <a:sym typeface="Symbol" panose="05050102010706020507" pitchFamily="18" charset="2"/>
              </a:rPr>
              <a:t> </a:t>
            </a:r>
            <a:r>
              <a:rPr lang="en-US" altLang="ja-JP" sz="2266" dirty="0">
                <a:sym typeface="Symbol" panose="05050102010706020507" pitchFamily="18" charset="2"/>
              </a:rPr>
              <a:t>(</a:t>
            </a:r>
            <a:r>
              <a:rPr lang="en-US" altLang="ja-JP" sz="2266" i="1" dirty="0">
                <a:sym typeface="Symbol" panose="05050102010706020507" pitchFamily="18" charset="2"/>
              </a:rPr>
              <a:t>instructor  </a:t>
            </a:r>
            <a:r>
              <a:rPr lang="en-US" altLang="ja-JP" sz="2266" dirty="0">
                <a:sym typeface="Symbol" panose="05050102010706020507" pitchFamily="18" charset="2"/>
              </a:rPr>
              <a:t>x</a:t>
            </a:r>
            <a:r>
              <a:rPr lang="en-US" altLang="ja-JP" sz="2266" i="1" dirty="0">
                <a:sym typeface="Symbol" panose="05050102010706020507" pitchFamily="18" charset="2"/>
              </a:rPr>
              <a:t> teaches</a:t>
            </a:r>
            <a:r>
              <a:rPr lang="en-US" altLang="ja-JP" sz="2266" dirty="0">
                <a:sym typeface="Symbol" panose="05050102010706020507" pitchFamily="18" charset="2"/>
              </a:rPr>
              <a:t>))</a:t>
            </a:r>
            <a:r>
              <a:rPr lang="en-US" altLang="en-US" sz="2266" dirty="0"/>
              <a:t> </a:t>
            </a:r>
          </a:p>
          <a:p>
            <a:pPr>
              <a:buNone/>
            </a:pPr>
            <a:endParaRPr lang="en-US" alt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xmlns="" id="{54514E8B-ADB7-4B47-B765-99E7784E865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rcRect t="-1" b="12878"/>
          <a:stretch/>
        </p:blipFill>
        <p:spPr>
          <a:xfrm>
            <a:off x="1251679" y="1926336"/>
            <a:ext cx="9888166" cy="4134599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882" name="Rectangle 2"/>
          <p:cNvSpPr>
            <a:spLocks noGrp="1" noChangeArrowheads="1"/>
          </p:cNvSpPr>
          <p:nvPr>
            <p:ph type="title"/>
          </p:nvPr>
        </p:nvSpPr>
        <p:spPr>
          <a:xfrm>
            <a:off x="1024441" y="117475"/>
            <a:ext cx="10769330" cy="609600"/>
          </a:xfrm>
        </p:spPr>
        <p:txBody>
          <a:bodyPr/>
          <a:lstStyle/>
          <a:p>
            <a:r>
              <a:rPr lang="en-US" altLang="en-US" sz="3733" dirty="0"/>
              <a:t>Join Operation (Cont.)</a:t>
            </a:r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7170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768350" y="1138873"/>
                <a:ext cx="7644131" cy="4823015"/>
              </a:xfrm>
            </p:spPr>
            <p:txBody>
              <a:bodyPr/>
              <a:lstStyle/>
              <a:p>
                <a:pPr>
                  <a:tabLst>
                    <a:tab pos="3149600" algn="ctr"/>
                  </a:tabLst>
                </a:pPr>
                <a:r>
                  <a:rPr lang="en-US" altLang="en-US" sz="1700" dirty="0"/>
                  <a:t>The </a:t>
                </a:r>
                <a:r>
                  <a:rPr lang="en-US" altLang="en-US" sz="1700" b="1" dirty="0"/>
                  <a:t>join </a:t>
                </a:r>
                <a:r>
                  <a:rPr lang="en-US" altLang="en-US" sz="1700" dirty="0"/>
                  <a:t>operation allows us to combine  a select operation and a  Cartesian-Product  operation into a single operation.</a:t>
                </a:r>
              </a:p>
              <a:p>
                <a:pPr>
                  <a:tabLst>
                    <a:tab pos="3149600" algn="ctr"/>
                  </a:tabLst>
                </a:pPr>
                <a:r>
                  <a:rPr lang="en-US" altLang="en-US" sz="1700" dirty="0"/>
                  <a:t>Consider relations </a:t>
                </a:r>
                <a:r>
                  <a:rPr lang="en-US" altLang="en-US" sz="1700" i="1" dirty="0"/>
                  <a:t>r </a:t>
                </a:r>
                <a:r>
                  <a:rPr lang="en-US" altLang="en-US" sz="1700" dirty="0"/>
                  <a:t>(</a:t>
                </a:r>
                <a:r>
                  <a:rPr lang="en-US" altLang="en-US" sz="1700" i="1" dirty="0"/>
                  <a:t>R</a:t>
                </a:r>
                <a:r>
                  <a:rPr lang="en-US" altLang="en-US" sz="1700" dirty="0"/>
                  <a:t>) and </a:t>
                </a:r>
                <a:r>
                  <a:rPr lang="en-US" altLang="en-US" sz="1700" i="1" dirty="0"/>
                  <a:t>s </a:t>
                </a:r>
                <a:r>
                  <a:rPr lang="en-US" altLang="en-US" sz="1700" dirty="0"/>
                  <a:t>(</a:t>
                </a:r>
                <a:r>
                  <a:rPr lang="en-US" altLang="en-US" sz="1700" i="1" dirty="0"/>
                  <a:t>S</a:t>
                </a:r>
                <a:r>
                  <a:rPr lang="en-US" altLang="en-US" sz="1700" dirty="0"/>
                  <a:t>)</a:t>
                </a:r>
              </a:p>
              <a:p>
                <a:r>
                  <a:rPr lang="en-US" altLang="en-US" sz="1700" dirty="0"/>
                  <a:t>Let  “theta” be a predicate on attributes in the schema R “union” S. The join operation  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7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700" i="1">
                            <a:latin typeface="Cambria Math" panose="02040503050406030204" pitchFamily="18" charset="0"/>
                          </a:rPr>
                          <m:t>⋈</m:t>
                        </m:r>
                      </m:e>
                      <m:sub>
                        <m:r>
                          <a:rPr lang="en-US" sz="1700" i="1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</m:oMath>
                </a14:m>
                <a:r>
                  <a:rPr lang="en-US" altLang="en-US" sz="1700" dirty="0"/>
                  <a:t> s is defined as follows: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𝑟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⋈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 ×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ja-JP" dirty="0">
                  <a:sym typeface="Symbol" panose="05050102010706020507" pitchFamily="18" charset="2"/>
                </a:endParaRPr>
              </a:p>
              <a:p>
                <a:pPr>
                  <a:buNone/>
                </a:pPr>
                <a:endParaRPr lang="en-US" altLang="ja-JP" dirty="0">
                  <a:sym typeface="Symbol" panose="05050102010706020507" pitchFamily="18" charset="2"/>
                </a:endParaRPr>
              </a:p>
              <a:p>
                <a:r>
                  <a:rPr lang="en-US" altLang="ja-JP" sz="1700" dirty="0">
                    <a:sym typeface="Symbol" panose="05050102010706020507" pitchFamily="18" charset="2"/>
                  </a:rPr>
                  <a:t>Thus</a:t>
                </a:r>
              </a:p>
              <a:p>
                <a:pPr marL="0" indent="0">
                  <a:buNone/>
                </a:pPr>
                <a:r>
                  <a:rPr lang="en-US" altLang="en-US" i="1" dirty="0">
                    <a:sym typeface="Symbol" panose="05050102010706020507" pitchFamily="18" charset="2"/>
                  </a:rPr>
                  <a:t></a:t>
                </a:r>
                <a:r>
                  <a:rPr lang="en-US" altLang="en-US" i="1" baseline="-25000" dirty="0">
                    <a:sym typeface="Symbol" panose="05050102010706020507" pitchFamily="18" charset="2"/>
                  </a:rPr>
                  <a:t>instructor.id =  teaches.id</a:t>
                </a:r>
                <a:r>
                  <a:rPr lang="en-US" altLang="ja-JP" sz="1700" dirty="0">
                    <a:sym typeface="Symbol" panose="05050102010706020507" pitchFamily="18" charset="2"/>
                  </a:rPr>
                  <a:t>(</a:t>
                </a:r>
                <a:r>
                  <a:rPr lang="en-US" altLang="ja-JP" sz="1700" i="1" dirty="0">
                    <a:sym typeface="Symbol" panose="05050102010706020507" pitchFamily="18" charset="2"/>
                  </a:rPr>
                  <a:t>instructor  </a:t>
                </a:r>
                <a:r>
                  <a:rPr lang="en-US" altLang="ja-JP" sz="1700" dirty="0">
                    <a:sym typeface="Symbol" panose="05050102010706020507" pitchFamily="18" charset="2"/>
                  </a:rPr>
                  <a:t>x</a:t>
                </a:r>
                <a:r>
                  <a:rPr lang="en-US" altLang="ja-JP" sz="1700" i="1" dirty="0">
                    <a:sym typeface="Symbol" panose="05050102010706020507" pitchFamily="18" charset="2"/>
                  </a:rPr>
                  <a:t> teaches </a:t>
                </a:r>
                <a:r>
                  <a:rPr lang="en-US" altLang="ja-JP" sz="1700" dirty="0">
                    <a:sym typeface="Symbol" panose="05050102010706020507" pitchFamily="18" charset="2"/>
                  </a:rPr>
                  <a:t>))</a:t>
                </a:r>
              </a:p>
              <a:p>
                <a:pPr marL="0" indent="0">
                  <a:buNone/>
                </a:pPr>
                <a:endParaRPr lang="en-US" altLang="ja-JP" sz="1700" dirty="0">
                  <a:sym typeface="Symbol" panose="05050102010706020507" pitchFamily="18" charset="2"/>
                </a:endParaRPr>
              </a:p>
              <a:p>
                <a:r>
                  <a:rPr lang="en-US" altLang="ja-JP" sz="1700" dirty="0">
                    <a:sym typeface="Symbol" panose="05050102010706020507" pitchFamily="18" charset="2"/>
                  </a:rPr>
                  <a:t>Can equivalently be written as </a:t>
                </a:r>
              </a:p>
              <a:p>
                <a:pPr>
                  <a:buNone/>
                </a:pPr>
                <a:r>
                  <a:rPr lang="en-US" altLang="en-US" sz="1700" i="1" dirty="0">
                    <a:sym typeface="Symbol" panose="05050102010706020507" pitchFamily="18" charset="2"/>
                  </a:rPr>
                  <a:t>                 instructor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⋈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</m:oMath>
                </a14:m>
                <a:r>
                  <a:rPr lang="en-US" i="1" baseline="-25000" dirty="0"/>
                  <a:t>Instructor.id = teaches.id</a:t>
                </a:r>
                <a:r>
                  <a:rPr lang="en-US" sz="1700" i="1" dirty="0"/>
                  <a:t>teaches</a:t>
                </a:r>
                <a:r>
                  <a:rPr lang="en-US" sz="1700" dirty="0"/>
                  <a:t>.</a:t>
                </a:r>
              </a:p>
              <a:p>
                <a:pPr>
                  <a:buNone/>
                </a:pPr>
                <a:endParaRPr lang="en-US" altLang="ja-JP" dirty="0">
                  <a:sym typeface="Symbol" panose="05050102010706020507" pitchFamily="18" charset="2"/>
                </a:endParaRPr>
              </a:p>
            </p:txBody>
          </p:sp>
        </mc:Choice>
        <mc:Fallback>
          <p:sp>
            <p:nvSpPr>
              <p:cNvPr id="7170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768350" y="1138873"/>
                <a:ext cx="7644131" cy="4823015"/>
              </a:xfrm>
              <a:blipFill>
                <a:blip r:embed="rId3"/>
                <a:stretch>
                  <a:fillRect l="-558" t="-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202" name="Rectangle 2"/>
          <p:cNvSpPr>
            <a:spLocks noGrp="1" noChangeArrowheads="1"/>
          </p:cNvSpPr>
          <p:nvPr>
            <p:ph type="title"/>
          </p:nvPr>
        </p:nvSpPr>
        <p:spPr>
          <a:xfrm>
            <a:off x="1024441" y="117475"/>
            <a:ext cx="10769330" cy="609600"/>
          </a:xfrm>
        </p:spPr>
        <p:txBody>
          <a:bodyPr/>
          <a:lstStyle/>
          <a:p>
            <a:r>
              <a:rPr lang="en-US" altLang="en-US" sz="3733" dirty="0"/>
              <a:t>Union Operation</a:t>
            </a:r>
          </a:p>
        </p:txBody>
      </p:sp>
      <p:sp>
        <p:nvSpPr>
          <p:cNvPr id="921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24441" y="1114489"/>
            <a:ext cx="10243998" cy="4688903"/>
          </a:xfrm>
        </p:spPr>
        <p:txBody>
          <a:bodyPr/>
          <a:lstStyle/>
          <a:p>
            <a:pPr>
              <a:tabLst>
                <a:tab pos="2965450" algn="ctr"/>
              </a:tabLst>
            </a:pPr>
            <a:r>
              <a:rPr lang="en-US" altLang="en-US" sz="2266" dirty="0"/>
              <a:t>The union operation </a:t>
            </a:r>
            <a:r>
              <a:rPr lang="en-US" altLang="en-US" sz="2266" dirty="0">
                <a:sym typeface="Symbol" panose="05050102010706020507" pitchFamily="18" charset="2"/>
              </a:rPr>
              <a:t>allows us to combine two relations </a:t>
            </a:r>
            <a:endParaRPr lang="en-US" altLang="en-US" sz="1700" dirty="0"/>
          </a:p>
          <a:p>
            <a:pPr>
              <a:tabLst>
                <a:tab pos="2965450" algn="ctr"/>
              </a:tabLst>
            </a:pPr>
            <a:r>
              <a:rPr lang="en-US" altLang="en-US" sz="2266" dirty="0"/>
              <a:t>Notation:  </a:t>
            </a:r>
            <a:r>
              <a:rPr lang="en-US" altLang="en-US" sz="2266" i="1" dirty="0"/>
              <a:t>r </a:t>
            </a:r>
            <a:r>
              <a:rPr lang="en-US" altLang="en-US" sz="2266" dirty="0"/>
              <a:t> </a:t>
            </a:r>
            <a:r>
              <a:rPr lang="en-US" altLang="en-US" sz="2266" dirty="0">
                <a:sym typeface="Symbol" panose="05050102010706020507" pitchFamily="18" charset="2"/>
              </a:rPr>
              <a:t> </a:t>
            </a:r>
            <a:r>
              <a:rPr lang="en-US" altLang="en-US" sz="2266" i="1" dirty="0">
                <a:sym typeface="Symbol" panose="05050102010706020507" pitchFamily="18" charset="2"/>
              </a:rPr>
              <a:t>s</a:t>
            </a:r>
            <a:endParaRPr lang="en-US" altLang="en-US" sz="1700" dirty="0">
              <a:sym typeface="Symbol" panose="05050102010706020507" pitchFamily="18" charset="2"/>
            </a:endParaRPr>
          </a:p>
          <a:p>
            <a:pPr>
              <a:tabLst>
                <a:tab pos="2965450" algn="ctr"/>
              </a:tabLst>
            </a:pPr>
            <a:r>
              <a:rPr lang="en-US" altLang="en-US" sz="2266" dirty="0">
                <a:sym typeface="Symbol" panose="05050102010706020507" pitchFamily="18" charset="2"/>
              </a:rPr>
              <a:t>For </a:t>
            </a:r>
            <a:r>
              <a:rPr lang="en-US" altLang="en-US" sz="2266" i="1" dirty="0"/>
              <a:t>r</a:t>
            </a:r>
            <a:r>
              <a:rPr lang="en-US" altLang="en-US" sz="2266" dirty="0"/>
              <a:t>  </a:t>
            </a:r>
            <a:r>
              <a:rPr lang="en-US" altLang="en-US" sz="2266" dirty="0">
                <a:sym typeface="Symbol" panose="05050102010706020507" pitchFamily="18" charset="2"/>
              </a:rPr>
              <a:t> </a:t>
            </a:r>
            <a:r>
              <a:rPr lang="en-US" altLang="en-US" sz="2266" i="1" dirty="0">
                <a:sym typeface="Symbol" panose="05050102010706020507" pitchFamily="18" charset="2"/>
              </a:rPr>
              <a:t>s</a:t>
            </a:r>
            <a:r>
              <a:rPr lang="en-US" altLang="en-US" sz="2266" dirty="0">
                <a:sym typeface="Symbol" panose="05050102010706020507" pitchFamily="18" charset="2"/>
              </a:rPr>
              <a:t> to be valid.</a:t>
            </a:r>
          </a:p>
          <a:p>
            <a:pPr>
              <a:buFont typeface="Monotype Sorts" charset="2"/>
              <a:buNone/>
              <a:tabLst>
                <a:tab pos="2965450" algn="ctr"/>
              </a:tabLst>
            </a:pPr>
            <a:r>
              <a:rPr lang="en-US" altLang="en-US" sz="2266" i="1" dirty="0">
                <a:sym typeface="Symbol" panose="05050102010706020507" pitchFamily="18" charset="2"/>
              </a:rPr>
              <a:t>	</a:t>
            </a:r>
            <a:r>
              <a:rPr lang="en-US" altLang="en-US" sz="2266" dirty="0">
                <a:sym typeface="Symbol" panose="05050102010706020507" pitchFamily="18" charset="2"/>
              </a:rPr>
              <a:t>1.   </a:t>
            </a:r>
            <a:r>
              <a:rPr lang="en-US" altLang="en-US" sz="2266" i="1" dirty="0">
                <a:sym typeface="Symbol" panose="05050102010706020507" pitchFamily="18" charset="2"/>
              </a:rPr>
              <a:t>r,</a:t>
            </a:r>
            <a:r>
              <a:rPr lang="en-US" altLang="en-US" sz="2266" dirty="0">
                <a:sym typeface="Symbol" panose="05050102010706020507" pitchFamily="18" charset="2"/>
              </a:rPr>
              <a:t> </a:t>
            </a:r>
            <a:r>
              <a:rPr lang="en-US" altLang="en-US" sz="2266" i="1" dirty="0">
                <a:sym typeface="Symbol" panose="05050102010706020507" pitchFamily="18" charset="2"/>
              </a:rPr>
              <a:t>s</a:t>
            </a:r>
            <a:r>
              <a:rPr lang="en-US" altLang="en-US" sz="2266" dirty="0">
                <a:sym typeface="Symbol" panose="05050102010706020507" pitchFamily="18" charset="2"/>
              </a:rPr>
              <a:t> must have the </a:t>
            </a:r>
            <a:r>
              <a:rPr lang="en-US" altLang="en-US" sz="2266" i="1" dirty="0">
                <a:sym typeface="Symbol" panose="05050102010706020507" pitchFamily="18" charset="2"/>
              </a:rPr>
              <a:t>same </a:t>
            </a:r>
            <a:r>
              <a:rPr lang="en-US" altLang="en-US" sz="2266" b="1" dirty="0">
                <a:solidFill>
                  <a:srgbClr val="FF0000"/>
                </a:solidFill>
                <a:sym typeface="Symbol" panose="05050102010706020507" pitchFamily="18" charset="2"/>
              </a:rPr>
              <a:t>arity</a:t>
            </a:r>
            <a:r>
              <a:rPr lang="en-US" altLang="en-US" sz="2266" dirty="0">
                <a:sym typeface="Symbol" panose="05050102010706020507" pitchFamily="18" charset="2"/>
              </a:rPr>
              <a:t> (same number of attributes)</a:t>
            </a:r>
          </a:p>
          <a:p>
            <a:pPr>
              <a:spcBef>
                <a:spcPts val="0"/>
              </a:spcBef>
              <a:buNone/>
              <a:tabLst>
                <a:tab pos="2965450" algn="ctr"/>
              </a:tabLst>
            </a:pPr>
            <a:r>
              <a:rPr lang="en-US" altLang="en-US" sz="2266" dirty="0">
                <a:sym typeface="Symbol" panose="05050102010706020507" pitchFamily="18" charset="2"/>
              </a:rPr>
              <a:t>	2.   The attribute domains must be </a:t>
            </a:r>
            <a:r>
              <a:rPr lang="en-US" altLang="en-US" sz="2266" b="1" dirty="0">
                <a:solidFill>
                  <a:srgbClr val="FF0000"/>
                </a:solidFill>
                <a:sym typeface="Symbol" panose="05050102010706020507" pitchFamily="18" charset="2"/>
              </a:rPr>
              <a:t>compatible</a:t>
            </a:r>
            <a:r>
              <a:rPr lang="en-US" altLang="en-US" sz="2266" dirty="0">
                <a:sym typeface="Symbol" panose="05050102010706020507" pitchFamily="18" charset="2"/>
              </a:rPr>
              <a:t> (example: 2</a:t>
            </a:r>
            <a:r>
              <a:rPr lang="en-US" altLang="en-US" sz="2266" baseline="30000" dirty="0">
                <a:sym typeface="Symbol" panose="05050102010706020507" pitchFamily="18" charset="2"/>
              </a:rPr>
              <a:t>nd</a:t>
            </a:r>
            <a:r>
              <a:rPr lang="en-US" altLang="en-US" sz="2266" dirty="0">
                <a:sym typeface="Symbol" panose="05050102010706020507" pitchFamily="18" charset="2"/>
              </a:rPr>
              <a:t> </a:t>
            </a:r>
          </a:p>
          <a:p>
            <a:pPr lvl="1">
              <a:spcBef>
                <a:spcPts val="0"/>
              </a:spcBef>
              <a:buNone/>
              <a:tabLst>
                <a:tab pos="2965450" algn="ctr"/>
              </a:tabLst>
            </a:pPr>
            <a:r>
              <a:rPr lang="en-US" altLang="en-US" sz="2133" dirty="0">
                <a:sym typeface="Symbol" panose="05050102010706020507" pitchFamily="18" charset="2"/>
              </a:rPr>
              <a:t>     </a:t>
            </a:r>
            <a:r>
              <a:rPr lang="en-US" altLang="en-US" dirty="0">
                <a:sym typeface="Symbol" panose="05050102010706020507" pitchFamily="18" charset="2"/>
              </a:rPr>
              <a:t>column of </a:t>
            </a:r>
            <a:r>
              <a:rPr lang="en-US" altLang="en-US" i="1" dirty="0">
                <a:sym typeface="Symbol" panose="05050102010706020507" pitchFamily="18" charset="2"/>
              </a:rPr>
              <a:t>r</a:t>
            </a:r>
            <a:r>
              <a:rPr lang="en-US" altLang="en-US" dirty="0">
                <a:sym typeface="Symbol" panose="05050102010706020507" pitchFamily="18" charset="2"/>
              </a:rPr>
              <a:t> deals with the same type of values as does the </a:t>
            </a:r>
          </a:p>
          <a:p>
            <a:pPr lvl="1">
              <a:spcBef>
                <a:spcPts val="0"/>
              </a:spcBef>
              <a:buNone/>
              <a:tabLst>
                <a:tab pos="2965450" algn="ctr"/>
              </a:tabLst>
            </a:pPr>
            <a:r>
              <a:rPr lang="en-US" altLang="en-US" dirty="0">
                <a:sym typeface="Symbol" panose="05050102010706020507" pitchFamily="18" charset="2"/>
              </a:rPr>
              <a:t>     2</a:t>
            </a:r>
            <a:r>
              <a:rPr lang="en-US" altLang="en-US" baseline="30000" dirty="0">
                <a:sym typeface="Symbol" panose="05050102010706020507" pitchFamily="18" charset="2"/>
              </a:rPr>
              <a:t>nd </a:t>
            </a:r>
            <a:r>
              <a:rPr lang="en-US" altLang="en-US" dirty="0">
                <a:sym typeface="Symbol" panose="05050102010706020507" pitchFamily="18" charset="2"/>
              </a:rPr>
              <a:t>column of </a:t>
            </a:r>
            <a:r>
              <a:rPr lang="en-US" altLang="en-US" i="1" dirty="0">
                <a:sym typeface="Symbol" panose="05050102010706020507" pitchFamily="18" charset="2"/>
              </a:rPr>
              <a:t>s</a:t>
            </a:r>
            <a:r>
              <a:rPr lang="en-US" altLang="en-US" dirty="0">
                <a:sym typeface="Symbol" panose="05050102010706020507" pitchFamily="18" charset="2"/>
              </a:rPr>
              <a:t>)</a:t>
            </a:r>
          </a:p>
          <a:p>
            <a:pPr>
              <a:lnSpc>
                <a:spcPct val="140000"/>
              </a:lnSpc>
              <a:tabLst>
                <a:tab pos="2965450" algn="ctr"/>
              </a:tabLst>
            </a:pPr>
            <a:r>
              <a:rPr lang="en-US" altLang="en-US" sz="2266" dirty="0"/>
              <a:t>Example: to find all courses taught in the Fall 2017 semester, or in the Spring 2018 semester, or in both</a:t>
            </a:r>
            <a:r>
              <a:rPr lang="en-US" altLang="en-US" sz="1700" dirty="0"/>
              <a:t/>
            </a:r>
            <a:br>
              <a:rPr lang="en-US" altLang="en-US" sz="1700" dirty="0"/>
            </a:br>
            <a:r>
              <a:rPr lang="en-US" altLang="en-US" dirty="0"/>
              <a:t>   </a:t>
            </a:r>
            <a:r>
              <a:rPr lang="en-US" altLang="en-US" dirty="0">
                <a:sym typeface="Symbol" panose="05050102010706020507" pitchFamily="18" charset="2"/>
              </a:rPr>
              <a:t></a:t>
            </a:r>
            <a:r>
              <a:rPr lang="en-US" altLang="en-US" i="1" baseline="-25000" dirty="0" err="1"/>
              <a:t>course_id</a:t>
            </a:r>
            <a:r>
              <a:rPr lang="en-US" altLang="en-US" dirty="0"/>
              <a:t> (</a:t>
            </a:r>
            <a:r>
              <a:rPr lang="en-US" altLang="en-US" i="1" dirty="0">
                <a:sym typeface="Symbol" panose="05050102010706020507" pitchFamily="18" charset="2"/>
              </a:rPr>
              <a:t></a:t>
            </a:r>
            <a:r>
              <a:rPr lang="en-US" altLang="en-US" dirty="0">
                <a:sym typeface="Symbol" panose="05050102010706020507" pitchFamily="18" charset="2"/>
              </a:rPr>
              <a:t> </a:t>
            </a:r>
            <a:r>
              <a:rPr lang="en-US" altLang="en-US" i="1" baseline="-25000" dirty="0">
                <a:sym typeface="Symbol" panose="05050102010706020507" pitchFamily="18" charset="2"/>
              </a:rPr>
              <a:t>semester=</a:t>
            </a:r>
            <a:r>
              <a:rPr lang="ja-JP" altLang="en-US" i="1" baseline="-25000" dirty="0">
                <a:sym typeface="Symbol" panose="05050102010706020507" pitchFamily="18" charset="2"/>
              </a:rPr>
              <a:t>“</a:t>
            </a:r>
            <a:r>
              <a:rPr lang="en-US" altLang="ja-JP" i="1" baseline="-25000" dirty="0">
                <a:sym typeface="Symbol" panose="05050102010706020507" pitchFamily="18" charset="2"/>
              </a:rPr>
              <a:t>Fall</a:t>
            </a:r>
            <a:r>
              <a:rPr lang="ja-JP" altLang="en-US" i="1" baseline="-25000" dirty="0">
                <a:sym typeface="Symbol" panose="05050102010706020507" pitchFamily="18" charset="2"/>
              </a:rPr>
              <a:t>”</a:t>
            </a:r>
            <a:r>
              <a:rPr lang="en-US" altLang="ja-JP" i="1" baseline="-25000" dirty="0">
                <a:sym typeface="Symbol" panose="05050102010706020507" pitchFamily="18" charset="2"/>
              </a:rPr>
              <a:t>  </a:t>
            </a:r>
            <a:r>
              <a:rPr lang="el-GR" altLang="ja-JP" i="1" baseline="-25000" dirty="0">
                <a:sym typeface="Symbol" panose="05050102010706020507" pitchFamily="18" charset="2"/>
              </a:rPr>
              <a:t>Λ</a:t>
            </a:r>
            <a:r>
              <a:rPr lang="en-US" altLang="ja-JP" i="1" baseline="-25000" dirty="0">
                <a:sym typeface="Symbol" panose="05050102010706020507" pitchFamily="18" charset="2"/>
              </a:rPr>
              <a:t> year=2017 </a:t>
            </a:r>
            <a:r>
              <a:rPr lang="en-US" altLang="ja-JP" sz="2266" dirty="0">
                <a:sym typeface="Symbol" panose="05050102010706020507" pitchFamily="18" charset="2"/>
              </a:rPr>
              <a:t>(</a:t>
            </a:r>
            <a:r>
              <a:rPr lang="en-US" altLang="ja-JP" sz="2266" i="1" dirty="0">
                <a:sym typeface="Symbol" panose="05050102010706020507" pitchFamily="18" charset="2"/>
              </a:rPr>
              <a:t>section</a:t>
            </a:r>
            <a:r>
              <a:rPr lang="en-US" altLang="ja-JP" sz="2266" dirty="0">
                <a:sym typeface="Symbol" panose="05050102010706020507" pitchFamily="18" charset="2"/>
              </a:rPr>
              <a:t>))    </a:t>
            </a:r>
            <a:r>
              <a:rPr lang="en-US" altLang="ja-JP" sz="1700" dirty="0">
                <a:sym typeface="Symbol" panose="05050102010706020507" pitchFamily="18" charset="2"/>
              </a:rPr>
              <a:t/>
            </a:r>
            <a:br>
              <a:rPr lang="en-US" altLang="ja-JP" sz="1700" dirty="0">
                <a:sym typeface="Symbol" panose="05050102010706020507" pitchFamily="18" charset="2"/>
              </a:rPr>
            </a:br>
            <a:r>
              <a:rPr lang="en-US" altLang="ja-JP" sz="2266" dirty="0">
                <a:sym typeface="Symbol" panose="05050102010706020507" pitchFamily="18" charset="2"/>
              </a:rPr>
              <a:t>   </a:t>
            </a:r>
            <a:r>
              <a:rPr lang="en-US" altLang="ja-JP" dirty="0">
                <a:sym typeface="Symbol" panose="05050102010706020507" pitchFamily="18" charset="2"/>
              </a:rPr>
              <a:t></a:t>
            </a:r>
            <a:r>
              <a:rPr lang="en-US" altLang="ja-JP" i="1" baseline="-25000" dirty="0" err="1"/>
              <a:t>course_id</a:t>
            </a:r>
            <a:r>
              <a:rPr lang="en-US" altLang="ja-JP" dirty="0"/>
              <a:t> (</a:t>
            </a:r>
            <a:r>
              <a:rPr lang="en-US" altLang="ja-JP" i="1" dirty="0">
                <a:sym typeface="Symbol" panose="05050102010706020507" pitchFamily="18" charset="2"/>
              </a:rPr>
              <a:t></a:t>
            </a:r>
            <a:r>
              <a:rPr lang="en-US" altLang="ja-JP" dirty="0">
                <a:sym typeface="Symbol" panose="05050102010706020507" pitchFamily="18" charset="2"/>
              </a:rPr>
              <a:t> </a:t>
            </a:r>
            <a:r>
              <a:rPr lang="en-US" altLang="ja-JP" i="1" baseline="-25000" dirty="0">
                <a:sym typeface="Symbol" panose="05050102010706020507" pitchFamily="18" charset="2"/>
              </a:rPr>
              <a:t>semester=</a:t>
            </a:r>
            <a:r>
              <a:rPr lang="ja-JP" altLang="en-US" i="1" baseline="-25000" dirty="0">
                <a:sym typeface="Symbol" panose="05050102010706020507" pitchFamily="18" charset="2"/>
              </a:rPr>
              <a:t>“</a:t>
            </a:r>
            <a:r>
              <a:rPr lang="en-US" altLang="ja-JP" i="1" baseline="-25000" dirty="0">
                <a:sym typeface="Symbol" panose="05050102010706020507" pitchFamily="18" charset="2"/>
              </a:rPr>
              <a:t>Spring</a:t>
            </a:r>
            <a:r>
              <a:rPr lang="ja-JP" altLang="en-US" i="1" baseline="-25000" dirty="0">
                <a:sym typeface="Symbol" panose="05050102010706020507" pitchFamily="18" charset="2"/>
              </a:rPr>
              <a:t>”</a:t>
            </a:r>
            <a:r>
              <a:rPr lang="en-US" altLang="ja-JP" i="1" baseline="-25000" dirty="0">
                <a:sym typeface="Symbol" panose="05050102010706020507" pitchFamily="18" charset="2"/>
              </a:rPr>
              <a:t>  </a:t>
            </a:r>
            <a:r>
              <a:rPr lang="el-GR" altLang="ja-JP" i="1" baseline="-25000" dirty="0">
                <a:sym typeface="Symbol" panose="05050102010706020507" pitchFamily="18" charset="2"/>
              </a:rPr>
              <a:t>Λ</a:t>
            </a:r>
            <a:r>
              <a:rPr lang="en-US" altLang="ja-JP" i="1" baseline="-25000" dirty="0">
                <a:sym typeface="Symbol" panose="05050102010706020507" pitchFamily="18" charset="2"/>
              </a:rPr>
              <a:t> year=2018 </a:t>
            </a:r>
            <a:r>
              <a:rPr lang="en-US" altLang="ja-JP" sz="2266" dirty="0">
                <a:sym typeface="Symbol" panose="05050102010706020507" pitchFamily="18" charset="2"/>
              </a:rPr>
              <a:t>(</a:t>
            </a:r>
            <a:r>
              <a:rPr lang="en-US" altLang="ja-JP" sz="2266" i="1" dirty="0">
                <a:sym typeface="Symbol" panose="05050102010706020507" pitchFamily="18" charset="2"/>
              </a:rPr>
              <a:t>section</a:t>
            </a:r>
            <a:r>
              <a:rPr lang="en-US" altLang="ja-JP" sz="2266" dirty="0">
                <a:sym typeface="Symbol" panose="05050102010706020507" pitchFamily="18" charset="2"/>
              </a:rPr>
              <a:t>))</a:t>
            </a:r>
          </a:p>
          <a:p>
            <a:pPr>
              <a:lnSpc>
                <a:spcPct val="140000"/>
              </a:lnSpc>
              <a:tabLst>
                <a:tab pos="2965450" algn="ctr"/>
              </a:tabLst>
            </a:pPr>
            <a:endParaRPr lang="en-US" altLang="en-US" sz="1700" dirty="0"/>
          </a:p>
          <a:p>
            <a:pPr>
              <a:lnSpc>
                <a:spcPct val="140000"/>
              </a:lnSpc>
              <a:buFont typeface="Monotype Sorts" charset="2"/>
              <a:buNone/>
              <a:tabLst>
                <a:tab pos="2965450" algn="ctr"/>
              </a:tabLst>
            </a:pPr>
            <a:endParaRPr lang="en-US" altLang="en-US" i="1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202" name="Rectangle 2"/>
          <p:cNvSpPr>
            <a:spLocks noGrp="1" noChangeArrowheads="1"/>
          </p:cNvSpPr>
          <p:nvPr>
            <p:ph type="title"/>
          </p:nvPr>
        </p:nvSpPr>
        <p:spPr>
          <a:xfrm>
            <a:off x="1024441" y="117475"/>
            <a:ext cx="10769330" cy="609600"/>
          </a:xfrm>
        </p:spPr>
        <p:txBody>
          <a:bodyPr/>
          <a:lstStyle/>
          <a:p>
            <a:r>
              <a:rPr lang="en-US" altLang="en-US" sz="3733" dirty="0"/>
              <a:t>Union Operation (Cont.)</a:t>
            </a:r>
          </a:p>
        </p:txBody>
      </p:sp>
      <p:sp>
        <p:nvSpPr>
          <p:cNvPr id="921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24441" y="1041338"/>
            <a:ext cx="10240685" cy="1372678"/>
          </a:xfrm>
        </p:spPr>
        <p:txBody>
          <a:bodyPr/>
          <a:lstStyle/>
          <a:p>
            <a:pPr>
              <a:lnSpc>
                <a:spcPct val="140000"/>
              </a:lnSpc>
              <a:tabLst>
                <a:tab pos="2965450" algn="ctr"/>
              </a:tabLst>
            </a:pPr>
            <a:r>
              <a:rPr lang="en-US" altLang="en-US" sz="2266" dirty="0"/>
              <a:t>Result of: </a:t>
            </a:r>
            <a:r>
              <a:rPr lang="en-US" altLang="en-US" sz="1700" dirty="0"/>
              <a:t/>
            </a:r>
            <a:br>
              <a:rPr lang="en-US" altLang="en-US" sz="1700" dirty="0"/>
            </a:br>
            <a:r>
              <a:rPr lang="en-US" altLang="en-US" sz="2266" dirty="0"/>
              <a:t>   </a:t>
            </a:r>
            <a:r>
              <a:rPr lang="en-US" altLang="en-US" dirty="0">
                <a:sym typeface="Symbol" panose="05050102010706020507" pitchFamily="18" charset="2"/>
              </a:rPr>
              <a:t></a:t>
            </a:r>
            <a:r>
              <a:rPr lang="en-US" altLang="en-US" i="1" baseline="-25000" dirty="0" err="1"/>
              <a:t>course_id</a:t>
            </a:r>
            <a:r>
              <a:rPr lang="en-US" altLang="en-US" dirty="0"/>
              <a:t> (</a:t>
            </a:r>
            <a:r>
              <a:rPr lang="en-US" altLang="en-US" i="1" dirty="0">
                <a:sym typeface="Symbol" panose="05050102010706020507" pitchFamily="18" charset="2"/>
              </a:rPr>
              <a:t></a:t>
            </a:r>
            <a:r>
              <a:rPr lang="en-US" altLang="en-US" dirty="0">
                <a:sym typeface="Symbol" panose="05050102010706020507" pitchFamily="18" charset="2"/>
              </a:rPr>
              <a:t> </a:t>
            </a:r>
            <a:r>
              <a:rPr lang="en-US" altLang="en-US" i="1" baseline="-25000" dirty="0">
                <a:sym typeface="Symbol" panose="05050102010706020507" pitchFamily="18" charset="2"/>
              </a:rPr>
              <a:t>semester=</a:t>
            </a:r>
            <a:r>
              <a:rPr lang="ja-JP" altLang="en-US" i="1" baseline="-25000" dirty="0">
                <a:sym typeface="Symbol" panose="05050102010706020507" pitchFamily="18" charset="2"/>
              </a:rPr>
              <a:t>“</a:t>
            </a:r>
            <a:r>
              <a:rPr lang="en-US" altLang="ja-JP" i="1" baseline="-25000" dirty="0">
                <a:sym typeface="Symbol" panose="05050102010706020507" pitchFamily="18" charset="2"/>
              </a:rPr>
              <a:t>Fall</a:t>
            </a:r>
            <a:r>
              <a:rPr lang="ja-JP" altLang="en-US" i="1" baseline="-25000" dirty="0">
                <a:sym typeface="Symbol" panose="05050102010706020507" pitchFamily="18" charset="2"/>
              </a:rPr>
              <a:t>”</a:t>
            </a:r>
            <a:r>
              <a:rPr lang="en-US" altLang="ja-JP" i="1" baseline="-25000" dirty="0">
                <a:sym typeface="Symbol" panose="05050102010706020507" pitchFamily="18" charset="2"/>
              </a:rPr>
              <a:t>  </a:t>
            </a:r>
            <a:r>
              <a:rPr lang="el-GR" altLang="ja-JP" i="1" baseline="-25000" dirty="0">
                <a:sym typeface="Symbol" panose="05050102010706020507" pitchFamily="18" charset="2"/>
              </a:rPr>
              <a:t>Λ</a:t>
            </a:r>
            <a:r>
              <a:rPr lang="en-US" altLang="ja-JP" i="1" baseline="-25000" dirty="0">
                <a:sym typeface="Symbol" panose="05050102010706020507" pitchFamily="18" charset="2"/>
              </a:rPr>
              <a:t> year=2017 </a:t>
            </a:r>
            <a:r>
              <a:rPr lang="en-US" altLang="ja-JP" sz="2266" dirty="0">
                <a:sym typeface="Symbol" panose="05050102010706020507" pitchFamily="18" charset="2"/>
              </a:rPr>
              <a:t>(</a:t>
            </a:r>
            <a:r>
              <a:rPr lang="en-US" altLang="ja-JP" sz="2266" i="1" dirty="0">
                <a:sym typeface="Symbol" panose="05050102010706020507" pitchFamily="18" charset="2"/>
              </a:rPr>
              <a:t>section</a:t>
            </a:r>
            <a:r>
              <a:rPr lang="en-US" altLang="ja-JP" sz="2266" dirty="0">
                <a:sym typeface="Symbol" panose="05050102010706020507" pitchFamily="18" charset="2"/>
              </a:rPr>
              <a:t>))    </a:t>
            </a:r>
            <a:r>
              <a:rPr lang="en-US" altLang="ja-JP" sz="1700" dirty="0">
                <a:sym typeface="Symbol" panose="05050102010706020507" pitchFamily="18" charset="2"/>
              </a:rPr>
              <a:t/>
            </a:r>
            <a:br>
              <a:rPr lang="en-US" altLang="ja-JP" sz="1700" dirty="0">
                <a:sym typeface="Symbol" panose="05050102010706020507" pitchFamily="18" charset="2"/>
              </a:rPr>
            </a:br>
            <a:r>
              <a:rPr lang="en-US" altLang="ja-JP" dirty="0">
                <a:sym typeface="Symbol" panose="05050102010706020507" pitchFamily="18" charset="2"/>
              </a:rPr>
              <a:t>   </a:t>
            </a:r>
            <a:r>
              <a:rPr lang="en-US" altLang="ja-JP" i="1" baseline="-25000" dirty="0" err="1"/>
              <a:t>course_id</a:t>
            </a:r>
            <a:r>
              <a:rPr lang="en-US" altLang="ja-JP" dirty="0"/>
              <a:t> (</a:t>
            </a:r>
            <a:r>
              <a:rPr lang="en-US" altLang="ja-JP" i="1" dirty="0">
                <a:sym typeface="Symbol" panose="05050102010706020507" pitchFamily="18" charset="2"/>
              </a:rPr>
              <a:t></a:t>
            </a:r>
            <a:r>
              <a:rPr lang="en-US" altLang="ja-JP" dirty="0">
                <a:sym typeface="Symbol" panose="05050102010706020507" pitchFamily="18" charset="2"/>
              </a:rPr>
              <a:t> </a:t>
            </a:r>
            <a:r>
              <a:rPr lang="en-US" altLang="ja-JP" i="1" baseline="-25000" dirty="0">
                <a:sym typeface="Symbol" panose="05050102010706020507" pitchFamily="18" charset="2"/>
              </a:rPr>
              <a:t>semester=</a:t>
            </a:r>
            <a:r>
              <a:rPr lang="ja-JP" altLang="en-US" i="1" baseline="-25000" dirty="0">
                <a:sym typeface="Symbol" panose="05050102010706020507" pitchFamily="18" charset="2"/>
              </a:rPr>
              <a:t>“</a:t>
            </a:r>
            <a:r>
              <a:rPr lang="en-US" altLang="ja-JP" i="1" baseline="-25000" dirty="0">
                <a:sym typeface="Symbol" panose="05050102010706020507" pitchFamily="18" charset="2"/>
              </a:rPr>
              <a:t>Spring</a:t>
            </a:r>
            <a:r>
              <a:rPr lang="ja-JP" altLang="en-US" i="1" baseline="-25000" dirty="0">
                <a:sym typeface="Symbol" panose="05050102010706020507" pitchFamily="18" charset="2"/>
              </a:rPr>
              <a:t>”</a:t>
            </a:r>
            <a:r>
              <a:rPr lang="en-US" altLang="ja-JP" i="1" baseline="-25000" dirty="0">
                <a:sym typeface="Symbol" panose="05050102010706020507" pitchFamily="18" charset="2"/>
              </a:rPr>
              <a:t>  </a:t>
            </a:r>
            <a:r>
              <a:rPr lang="el-GR" altLang="ja-JP" i="1" baseline="-25000" dirty="0">
                <a:sym typeface="Symbol" panose="05050102010706020507" pitchFamily="18" charset="2"/>
              </a:rPr>
              <a:t>Λ</a:t>
            </a:r>
            <a:r>
              <a:rPr lang="en-US" altLang="ja-JP" i="1" baseline="-25000" dirty="0">
                <a:sym typeface="Symbol" panose="05050102010706020507" pitchFamily="18" charset="2"/>
              </a:rPr>
              <a:t> year=2018 </a:t>
            </a:r>
            <a:r>
              <a:rPr lang="en-US" altLang="ja-JP" sz="2266" dirty="0">
                <a:sym typeface="Symbol" panose="05050102010706020507" pitchFamily="18" charset="2"/>
              </a:rPr>
              <a:t>(</a:t>
            </a:r>
            <a:r>
              <a:rPr lang="en-US" altLang="ja-JP" sz="2266" i="1" dirty="0">
                <a:sym typeface="Symbol" panose="05050102010706020507" pitchFamily="18" charset="2"/>
              </a:rPr>
              <a:t>section</a:t>
            </a:r>
            <a:r>
              <a:rPr lang="en-US" altLang="ja-JP" sz="2266" dirty="0">
                <a:sym typeface="Symbol" panose="05050102010706020507" pitchFamily="18" charset="2"/>
              </a:rPr>
              <a:t>))</a:t>
            </a:r>
          </a:p>
          <a:p>
            <a:pPr>
              <a:lnSpc>
                <a:spcPct val="140000"/>
              </a:lnSpc>
              <a:tabLst>
                <a:tab pos="2965450" algn="ctr"/>
              </a:tabLst>
            </a:pPr>
            <a:endParaRPr lang="en-US" altLang="en-US" dirty="0"/>
          </a:p>
          <a:p>
            <a:pPr>
              <a:lnSpc>
                <a:spcPct val="140000"/>
              </a:lnSpc>
              <a:buFont typeface="Monotype Sorts" charset="2"/>
              <a:buNone/>
              <a:tabLst>
                <a:tab pos="2965450" algn="ctr"/>
              </a:tabLst>
            </a:pPr>
            <a:endParaRPr lang="en-US" altLang="en-US" i="1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xmlns="" id="{E046BBCE-73BA-4F9A-A63C-4CE16E87A82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rcRect l="37449" r="37780" b="13863"/>
          <a:stretch/>
        </p:blipFill>
        <p:spPr>
          <a:xfrm>
            <a:off x="4641951" y="2414016"/>
            <a:ext cx="2424915" cy="287477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122" name="Rectangle 2"/>
          <p:cNvSpPr>
            <a:spLocks noGrp="1" noChangeArrowheads="1"/>
          </p:cNvSpPr>
          <p:nvPr>
            <p:ph type="title"/>
          </p:nvPr>
        </p:nvSpPr>
        <p:spPr>
          <a:xfrm>
            <a:off x="1024441" y="117475"/>
            <a:ext cx="10769330" cy="609600"/>
          </a:xfrm>
        </p:spPr>
        <p:txBody>
          <a:bodyPr/>
          <a:lstStyle/>
          <a:p>
            <a:r>
              <a:rPr lang="en-US" altLang="en-US" sz="3733" dirty="0"/>
              <a:t>Set-Intersection Operation</a:t>
            </a:r>
          </a:p>
        </p:txBody>
      </p:sp>
      <p:sp>
        <p:nvSpPr>
          <p:cNvPr id="1126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24441" y="1077913"/>
            <a:ext cx="10149304" cy="5252549"/>
          </a:xfrm>
        </p:spPr>
        <p:txBody>
          <a:bodyPr/>
          <a:lstStyle/>
          <a:p>
            <a:r>
              <a:rPr lang="en-US" altLang="en-US" sz="2266" dirty="0"/>
              <a:t>The  set-intersection  operation </a:t>
            </a:r>
            <a:r>
              <a:rPr lang="en-US" altLang="en-US" sz="2266" dirty="0">
                <a:sym typeface="Symbol" panose="05050102010706020507" pitchFamily="18" charset="2"/>
              </a:rPr>
              <a:t> allows us to find tuples that are in both the input relations.</a:t>
            </a:r>
            <a:endParaRPr lang="en-US" altLang="en-US" sz="1700" dirty="0"/>
          </a:p>
          <a:p>
            <a:r>
              <a:rPr lang="en-US" altLang="en-US" sz="2266" dirty="0"/>
              <a:t>Notation: </a:t>
            </a:r>
            <a:r>
              <a:rPr lang="en-US" altLang="en-US" sz="2266" i="1" dirty="0"/>
              <a:t>r</a:t>
            </a:r>
            <a:r>
              <a:rPr lang="en-US" altLang="en-US" sz="2266" dirty="0"/>
              <a:t> </a:t>
            </a:r>
            <a:r>
              <a:rPr lang="en-US" altLang="en-US" sz="2266" dirty="0">
                <a:sym typeface="Symbol" panose="05050102010706020507" pitchFamily="18" charset="2"/>
              </a:rPr>
              <a:t> </a:t>
            </a:r>
            <a:r>
              <a:rPr lang="en-US" altLang="en-US" sz="2266" i="1" dirty="0"/>
              <a:t>s</a:t>
            </a:r>
            <a:endParaRPr lang="en-US" altLang="en-US" sz="1700" dirty="0"/>
          </a:p>
          <a:p>
            <a:r>
              <a:rPr lang="en-US" altLang="en-US" sz="2266" dirty="0"/>
              <a:t>Assume: </a:t>
            </a:r>
          </a:p>
          <a:p>
            <a:pPr lvl="1"/>
            <a:r>
              <a:rPr lang="en-US" altLang="en-US" sz="2266" i="1" dirty="0"/>
              <a:t>r</a:t>
            </a:r>
            <a:r>
              <a:rPr lang="en-US" altLang="en-US" sz="2266" dirty="0"/>
              <a:t>, </a:t>
            </a:r>
            <a:r>
              <a:rPr lang="en-US" altLang="en-US" sz="2266" i="1" dirty="0"/>
              <a:t>s</a:t>
            </a:r>
            <a:r>
              <a:rPr lang="en-US" altLang="en-US" sz="2266" dirty="0"/>
              <a:t> have the </a:t>
            </a:r>
            <a:r>
              <a:rPr lang="en-US" altLang="en-US" sz="2266" i="1" dirty="0"/>
              <a:t>same </a:t>
            </a:r>
            <a:r>
              <a:rPr lang="en-US" altLang="en-US" sz="2266" i="1" dirty="0" err="1"/>
              <a:t>arity</a:t>
            </a:r>
            <a:r>
              <a:rPr lang="en-US" altLang="en-US" sz="2266" dirty="0"/>
              <a:t> </a:t>
            </a:r>
          </a:p>
          <a:p>
            <a:pPr lvl="1"/>
            <a:r>
              <a:rPr lang="en-US" altLang="en-US" sz="2266" dirty="0"/>
              <a:t>attributes of </a:t>
            </a:r>
            <a:r>
              <a:rPr lang="en-US" altLang="en-US" sz="2266" i="1" dirty="0"/>
              <a:t>r</a:t>
            </a:r>
            <a:r>
              <a:rPr lang="en-US" altLang="en-US" sz="2266" dirty="0"/>
              <a:t> and </a:t>
            </a:r>
            <a:r>
              <a:rPr lang="en-US" altLang="en-US" sz="2266" i="1" dirty="0"/>
              <a:t>s</a:t>
            </a:r>
            <a:r>
              <a:rPr lang="en-US" altLang="en-US" sz="2266" dirty="0"/>
              <a:t> are compatible</a:t>
            </a:r>
          </a:p>
          <a:p>
            <a:r>
              <a:rPr lang="en-US" altLang="en-US" sz="2266" dirty="0"/>
              <a:t>Example: Find the set of all courses taught in both the Fall 2017 and the Spring 2018 semesters.</a:t>
            </a:r>
          </a:p>
          <a:p>
            <a:pPr>
              <a:buNone/>
            </a:pPr>
            <a:r>
              <a:rPr lang="en-US" altLang="en-US" sz="2266" dirty="0">
                <a:sym typeface="Symbol" panose="05050102010706020507" pitchFamily="18" charset="2"/>
              </a:rPr>
              <a:t>           </a:t>
            </a:r>
            <a:r>
              <a:rPr lang="en-US" altLang="en-US" dirty="0">
                <a:sym typeface="Symbol" panose="05050102010706020507" pitchFamily="18" charset="2"/>
              </a:rPr>
              <a:t></a:t>
            </a:r>
            <a:r>
              <a:rPr lang="en-US" altLang="en-US" i="1" baseline="-25000" dirty="0" err="1"/>
              <a:t>course_id</a:t>
            </a:r>
            <a:r>
              <a:rPr lang="en-US" altLang="en-US" dirty="0"/>
              <a:t> (</a:t>
            </a:r>
            <a:r>
              <a:rPr lang="en-US" altLang="en-US" i="1" dirty="0">
                <a:sym typeface="Symbol" panose="05050102010706020507" pitchFamily="18" charset="2"/>
              </a:rPr>
              <a:t></a:t>
            </a:r>
            <a:r>
              <a:rPr lang="en-US" altLang="en-US" dirty="0">
                <a:sym typeface="Symbol" panose="05050102010706020507" pitchFamily="18" charset="2"/>
              </a:rPr>
              <a:t> </a:t>
            </a:r>
            <a:r>
              <a:rPr lang="en-US" altLang="en-US" i="1" baseline="-25000" dirty="0">
                <a:sym typeface="Symbol" panose="05050102010706020507" pitchFamily="18" charset="2"/>
              </a:rPr>
              <a:t>semester=</a:t>
            </a:r>
            <a:r>
              <a:rPr lang="ja-JP" altLang="en-US" i="1" baseline="-25000" dirty="0">
                <a:sym typeface="Symbol" panose="05050102010706020507" pitchFamily="18" charset="2"/>
              </a:rPr>
              <a:t>“</a:t>
            </a:r>
            <a:r>
              <a:rPr lang="en-US" altLang="ja-JP" i="1" baseline="-25000" dirty="0">
                <a:sym typeface="Symbol" panose="05050102010706020507" pitchFamily="18" charset="2"/>
              </a:rPr>
              <a:t>Fall</a:t>
            </a:r>
            <a:r>
              <a:rPr lang="ja-JP" altLang="en-US" i="1" baseline="-25000" dirty="0">
                <a:sym typeface="Symbol" panose="05050102010706020507" pitchFamily="18" charset="2"/>
              </a:rPr>
              <a:t>”</a:t>
            </a:r>
            <a:r>
              <a:rPr lang="en-US" altLang="ja-JP" i="1" baseline="-25000" dirty="0">
                <a:sym typeface="Symbol" panose="05050102010706020507" pitchFamily="18" charset="2"/>
              </a:rPr>
              <a:t>  </a:t>
            </a:r>
            <a:r>
              <a:rPr lang="el-GR" altLang="ja-JP" i="1" baseline="-25000" dirty="0">
                <a:sym typeface="Symbol" panose="05050102010706020507" pitchFamily="18" charset="2"/>
              </a:rPr>
              <a:t>Λ</a:t>
            </a:r>
            <a:r>
              <a:rPr lang="en-US" altLang="ja-JP" i="1" baseline="-25000" dirty="0">
                <a:sym typeface="Symbol" panose="05050102010706020507" pitchFamily="18" charset="2"/>
              </a:rPr>
              <a:t> year=2017 </a:t>
            </a:r>
            <a:r>
              <a:rPr lang="en-US" altLang="ja-JP" sz="2266" dirty="0">
                <a:sym typeface="Symbol" panose="05050102010706020507" pitchFamily="18" charset="2"/>
              </a:rPr>
              <a:t>(</a:t>
            </a:r>
            <a:r>
              <a:rPr lang="en-US" altLang="ja-JP" sz="2266" i="1" dirty="0">
                <a:sym typeface="Symbol" panose="05050102010706020507" pitchFamily="18" charset="2"/>
              </a:rPr>
              <a:t>section</a:t>
            </a:r>
            <a:r>
              <a:rPr lang="en-US" altLang="ja-JP" sz="2266" dirty="0">
                <a:sym typeface="Symbol" panose="05050102010706020507" pitchFamily="18" charset="2"/>
              </a:rPr>
              <a:t>)) </a:t>
            </a:r>
            <a:r>
              <a:rPr lang="en-US" altLang="en-US" sz="2266" dirty="0">
                <a:sym typeface="Symbol" panose="05050102010706020507" pitchFamily="18" charset="2"/>
              </a:rPr>
              <a:t> </a:t>
            </a:r>
            <a:r>
              <a:rPr lang="en-US" altLang="ja-JP" sz="1700" dirty="0">
                <a:sym typeface="Symbol" panose="05050102010706020507" pitchFamily="18" charset="2"/>
              </a:rPr>
              <a:t/>
            </a:r>
            <a:br>
              <a:rPr lang="en-US" altLang="ja-JP" sz="1700" dirty="0">
                <a:sym typeface="Symbol" panose="05050102010706020507" pitchFamily="18" charset="2"/>
              </a:rPr>
            </a:br>
            <a:r>
              <a:rPr lang="en-US" altLang="ja-JP" sz="2266" dirty="0">
                <a:sym typeface="Symbol" panose="05050102010706020507" pitchFamily="18" charset="2"/>
              </a:rPr>
              <a:t>     </a:t>
            </a:r>
            <a:r>
              <a:rPr lang="en-US" altLang="ja-JP" dirty="0">
                <a:sym typeface="Symbol" panose="05050102010706020507" pitchFamily="18" charset="2"/>
              </a:rPr>
              <a:t></a:t>
            </a:r>
            <a:r>
              <a:rPr lang="en-US" altLang="ja-JP" i="1" baseline="-25000" dirty="0" err="1"/>
              <a:t>course_id</a:t>
            </a:r>
            <a:r>
              <a:rPr lang="en-US" altLang="ja-JP" dirty="0"/>
              <a:t> (</a:t>
            </a:r>
            <a:r>
              <a:rPr lang="en-US" altLang="ja-JP" i="1" dirty="0">
                <a:sym typeface="Symbol" panose="05050102010706020507" pitchFamily="18" charset="2"/>
              </a:rPr>
              <a:t></a:t>
            </a:r>
            <a:r>
              <a:rPr lang="en-US" altLang="ja-JP" dirty="0">
                <a:sym typeface="Symbol" panose="05050102010706020507" pitchFamily="18" charset="2"/>
              </a:rPr>
              <a:t> </a:t>
            </a:r>
            <a:r>
              <a:rPr lang="en-US" altLang="ja-JP" i="1" baseline="-25000" dirty="0">
                <a:sym typeface="Symbol" panose="05050102010706020507" pitchFamily="18" charset="2"/>
              </a:rPr>
              <a:t>semester=</a:t>
            </a:r>
            <a:r>
              <a:rPr lang="ja-JP" altLang="en-US" i="1" baseline="-25000" dirty="0">
                <a:sym typeface="Symbol" panose="05050102010706020507" pitchFamily="18" charset="2"/>
              </a:rPr>
              <a:t>“</a:t>
            </a:r>
            <a:r>
              <a:rPr lang="en-US" altLang="ja-JP" i="1" baseline="-25000" dirty="0">
                <a:sym typeface="Symbol" panose="05050102010706020507" pitchFamily="18" charset="2"/>
              </a:rPr>
              <a:t>Spring</a:t>
            </a:r>
            <a:r>
              <a:rPr lang="ja-JP" altLang="en-US" i="1" baseline="-25000" dirty="0">
                <a:sym typeface="Symbol" panose="05050102010706020507" pitchFamily="18" charset="2"/>
              </a:rPr>
              <a:t>”</a:t>
            </a:r>
            <a:r>
              <a:rPr lang="en-US" altLang="ja-JP" i="1" baseline="-25000" dirty="0">
                <a:sym typeface="Symbol" panose="05050102010706020507" pitchFamily="18" charset="2"/>
              </a:rPr>
              <a:t>  </a:t>
            </a:r>
            <a:r>
              <a:rPr lang="el-GR" altLang="ja-JP" i="1" baseline="-25000" dirty="0">
                <a:sym typeface="Symbol" panose="05050102010706020507" pitchFamily="18" charset="2"/>
              </a:rPr>
              <a:t>Λ</a:t>
            </a:r>
            <a:r>
              <a:rPr lang="en-US" altLang="ja-JP" i="1" baseline="-25000" dirty="0">
                <a:sym typeface="Symbol" panose="05050102010706020507" pitchFamily="18" charset="2"/>
              </a:rPr>
              <a:t> year=2018 </a:t>
            </a:r>
            <a:r>
              <a:rPr lang="en-US" altLang="ja-JP" sz="2266" dirty="0">
                <a:sym typeface="Symbol" panose="05050102010706020507" pitchFamily="18" charset="2"/>
              </a:rPr>
              <a:t>(</a:t>
            </a:r>
            <a:r>
              <a:rPr lang="en-US" altLang="ja-JP" sz="2266" i="1" dirty="0">
                <a:sym typeface="Symbol" panose="05050102010706020507" pitchFamily="18" charset="2"/>
              </a:rPr>
              <a:t>section</a:t>
            </a:r>
            <a:r>
              <a:rPr lang="en-US" altLang="ja-JP" sz="2266" dirty="0">
                <a:sym typeface="Symbol" panose="05050102010706020507" pitchFamily="18" charset="2"/>
              </a:rPr>
              <a:t>))</a:t>
            </a:r>
          </a:p>
          <a:p>
            <a:pPr>
              <a:buNone/>
            </a:pPr>
            <a:r>
              <a:rPr lang="en-US" altLang="en-US" sz="1066" dirty="0">
                <a:sym typeface="Symbol" panose="05050102010706020507" pitchFamily="18" charset="2"/>
              </a:rPr>
              <a:t> </a:t>
            </a:r>
          </a:p>
          <a:p>
            <a:pPr lvl="1"/>
            <a:r>
              <a:rPr lang="en-US" altLang="en-US" sz="2266" dirty="0">
                <a:sym typeface="Symbol" panose="05050102010706020507" pitchFamily="18" charset="2"/>
              </a:rPr>
              <a:t>Result</a:t>
            </a:r>
            <a:endParaRPr lang="en-US" altLang="en-US" sz="1700" dirty="0"/>
          </a:p>
          <a:p>
            <a:pPr>
              <a:buNone/>
            </a:pPr>
            <a:endParaRPr lang="en-US" alt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xmlns="" id="{EFD242B5-7E15-4908-A992-5D9C0D3A8FA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rcRect l="38817" r="40862" b="33302"/>
          <a:stretch/>
        </p:blipFill>
        <p:spPr>
          <a:xfrm>
            <a:off x="2697558" y="5609779"/>
            <a:ext cx="1831770" cy="824317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250" name="Rectangle 2"/>
          <p:cNvSpPr>
            <a:spLocks noGrp="1" noChangeArrowheads="1"/>
          </p:cNvSpPr>
          <p:nvPr>
            <p:ph type="title"/>
          </p:nvPr>
        </p:nvSpPr>
        <p:spPr>
          <a:xfrm>
            <a:off x="1024441" y="111125"/>
            <a:ext cx="10769330" cy="609600"/>
          </a:xfrm>
        </p:spPr>
        <p:txBody>
          <a:bodyPr/>
          <a:lstStyle/>
          <a:p>
            <a:r>
              <a:rPr lang="en-US" altLang="en-US" sz="3733" dirty="0"/>
              <a:t>Set Difference Operation</a:t>
            </a:r>
          </a:p>
        </p:txBody>
      </p:sp>
      <p:sp>
        <p:nvSpPr>
          <p:cNvPr id="1024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24442" y="1077913"/>
            <a:ext cx="10338690" cy="3737927"/>
          </a:xfrm>
        </p:spPr>
        <p:txBody>
          <a:bodyPr/>
          <a:lstStyle/>
          <a:p>
            <a:pPr>
              <a:spcBef>
                <a:spcPct val="60000"/>
              </a:spcBef>
            </a:pPr>
            <a:r>
              <a:rPr lang="en-US" altLang="en-US" sz="2266" dirty="0"/>
              <a:t>The set-difference operation allows us to find tuples that are in one relation but are not in another. </a:t>
            </a:r>
          </a:p>
          <a:p>
            <a:pPr>
              <a:spcBef>
                <a:spcPct val="60000"/>
              </a:spcBef>
            </a:pPr>
            <a:r>
              <a:rPr lang="en-US" altLang="en-US" sz="2266" dirty="0"/>
              <a:t>Notation </a:t>
            </a:r>
            <a:r>
              <a:rPr lang="en-US" altLang="en-US" sz="2266" i="1" dirty="0"/>
              <a:t>r – s</a:t>
            </a:r>
          </a:p>
          <a:p>
            <a:r>
              <a:rPr lang="en-US" altLang="en-US" sz="2266" dirty="0"/>
              <a:t>Set differences must be taken between </a:t>
            </a:r>
            <a:r>
              <a:rPr lang="en-US" altLang="en-US" sz="2266" b="1" dirty="0">
                <a:solidFill>
                  <a:srgbClr val="002060"/>
                </a:solidFill>
              </a:rPr>
              <a:t>compatible</a:t>
            </a:r>
            <a:r>
              <a:rPr lang="en-US" altLang="en-US" sz="2266" dirty="0"/>
              <a:t> relations.</a:t>
            </a:r>
          </a:p>
          <a:p>
            <a:pPr lvl="1"/>
            <a:r>
              <a:rPr lang="en-US" altLang="en-US" sz="2266" i="1" dirty="0"/>
              <a:t>r</a:t>
            </a:r>
            <a:r>
              <a:rPr lang="en-US" altLang="en-US" sz="2266" dirty="0"/>
              <a:t> and </a:t>
            </a:r>
            <a:r>
              <a:rPr lang="en-US" altLang="en-US" sz="2266" i="1" dirty="0"/>
              <a:t>s</a:t>
            </a:r>
            <a:r>
              <a:rPr lang="en-US" altLang="en-US" sz="2266" dirty="0"/>
              <a:t> must have the </a:t>
            </a:r>
            <a:r>
              <a:rPr lang="en-US" altLang="en-US" sz="2266" dirty="0">
                <a:solidFill>
                  <a:srgbClr val="002060"/>
                </a:solidFill>
              </a:rPr>
              <a:t>same</a:t>
            </a:r>
            <a:r>
              <a:rPr lang="en-US" altLang="en-US" sz="2266" dirty="0"/>
              <a:t> </a:t>
            </a:r>
            <a:r>
              <a:rPr lang="en-US" altLang="en-US" sz="2266" dirty="0" err="1"/>
              <a:t>arity</a:t>
            </a:r>
            <a:endParaRPr lang="en-US" altLang="en-US" sz="1700" dirty="0"/>
          </a:p>
          <a:p>
            <a:pPr lvl="1"/>
            <a:r>
              <a:rPr lang="en-US" altLang="en-US" sz="2266" dirty="0"/>
              <a:t>attribute domains of </a:t>
            </a:r>
            <a:r>
              <a:rPr lang="en-US" altLang="en-US" sz="2266" i="1" dirty="0"/>
              <a:t>r </a:t>
            </a:r>
            <a:r>
              <a:rPr lang="en-US" altLang="en-US" sz="2266" dirty="0"/>
              <a:t>and </a:t>
            </a:r>
            <a:r>
              <a:rPr lang="en-US" altLang="en-US" sz="2266" i="1" dirty="0"/>
              <a:t>s </a:t>
            </a:r>
            <a:r>
              <a:rPr lang="en-US" altLang="en-US" sz="2266" dirty="0"/>
              <a:t>must be compatible</a:t>
            </a:r>
          </a:p>
          <a:p>
            <a:pPr>
              <a:lnSpc>
                <a:spcPct val="140000"/>
              </a:lnSpc>
            </a:pPr>
            <a:r>
              <a:rPr lang="en-US" altLang="en-US" sz="2266" dirty="0"/>
              <a:t>Example: to find all courses taught in the Fall 2017 semester, but not in the Spring 2018 semester</a:t>
            </a:r>
            <a:r>
              <a:rPr lang="en-US" altLang="en-US" sz="1700" dirty="0"/>
              <a:t/>
            </a:r>
            <a:br>
              <a:rPr lang="en-US" altLang="en-US" sz="1700" dirty="0"/>
            </a:br>
            <a:r>
              <a:rPr lang="en-US" altLang="en-US" sz="2266" dirty="0"/>
              <a:t>   </a:t>
            </a:r>
            <a:r>
              <a:rPr lang="en-US" altLang="en-US" sz="2266" dirty="0">
                <a:sym typeface="Symbol" panose="05050102010706020507" pitchFamily="18" charset="2"/>
              </a:rPr>
              <a:t></a:t>
            </a:r>
            <a:r>
              <a:rPr lang="en-US" altLang="en-US" sz="2266" i="1" baseline="-25000" dirty="0" err="1"/>
              <a:t>course_id</a:t>
            </a:r>
            <a:r>
              <a:rPr lang="en-US" altLang="en-US" sz="2266" dirty="0"/>
              <a:t> (</a:t>
            </a:r>
            <a:r>
              <a:rPr lang="en-US" altLang="en-US" sz="2266" i="1" dirty="0">
                <a:sym typeface="Symbol" panose="05050102010706020507" pitchFamily="18" charset="2"/>
              </a:rPr>
              <a:t></a:t>
            </a:r>
            <a:r>
              <a:rPr lang="en-US" altLang="en-US" sz="2266" dirty="0">
                <a:sym typeface="Symbol" panose="05050102010706020507" pitchFamily="18" charset="2"/>
              </a:rPr>
              <a:t> </a:t>
            </a:r>
            <a:r>
              <a:rPr lang="en-US" altLang="en-US" sz="2266" i="1" baseline="-25000" dirty="0">
                <a:sym typeface="Symbol" panose="05050102010706020507" pitchFamily="18" charset="2"/>
              </a:rPr>
              <a:t>semester=</a:t>
            </a:r>
            <a:r>
              <a:rPr lang="ja-JP" altLang="en-US" sz="2266" i="1" baseline="-25000" dirty="0">
                <a:sym typeface="Symbol" panose="05050102010706020507" pitchFamily="18" charset="2"/>
              </a:rPr>
              <a:t>“</a:t>
            </a:r>
            <a:r>
              <a:rPr lang="en-US" altLang="ja-JP" sz="2266" i="1" baseline="-25000" dirty="0">
                <a:sym typeface="Symbol" panose="05050102010706020507" pitchFamily="18" charset="2"/>
              </a:rPr>
              <a:t>Fall</a:t>
            </a:r>
            <a:r>
              <a:rPr lang="ja-JP" altLang="en-US" sz="2266" i="1" baseline="-25000" dirty="0">
                <a:sym typeface="Symbol" panose="05050102010706020507" pitchFamily="18" charset="2"/>
              </a:rPr>
              <a:t>”</a:t>
            </a:r>
            <a:r>
              <a:rPr lang="en-US" altLang="ja-JP" sz="2266" i="1" baseline="-25000" dirty="0">
                <a:sym typeface="Symbol" panose="05050102010706020507" pitchFamily="18" charset="2"/>
              </a:rPr>
              <a:t>  </a:t>
            </a:r>
            <a:r>
              <a:rPr lang="el-GR" altLang="ja-JP" sz="2266" i="1" baseline="-25000" dirty="0">
                <a:sym typeface="Symbol" panose="05050102010706020507" pitchFamily="18" charset="2"/>
              </a:rPr>
              <a:t>Λ</a:t>
            </a:r>
            <a:r>
              <a:rPr lang="en-US" altLang="ja-JP" sz="2266" i="1" baseline="-25000" dirty="0">
                <a:sym typeface="Symbol" panose="05050102010706020507" pitchFamily="18" charset="2"/>
              </a:rPr>
              <a:t> year=2017 </a:t>
            </a:r>
            <a:r>
              <a:rPr lang="en-US" altLang="ja-JP" sz="2266" dirty="0">
                <a:sym typeface="Symbol" panose="05050102010706020507" pitchFamily="18" charset="2"/>
              </a:rPr>
              <a:t>(</a:t>
            </a:r>
            <a:r>
              <a:rPr lang="en-US" altLang="ja-JP" sz="2266" i="1" dirty="0">
                <a:sym typeface="Symbol" panose="05050102010706020507" pitchFamily="18" charset="2"/>
              </a:rPr>
              <a:t>section</a:t>
            </a:r>
            <a:r>
              <a:rPr lang="en-US" altLang="ja-JP" sz="2266" dirty="0">
                <a:sym typeface="Symbol" panose="05050102010706020507" pitchFamily="18" charset="2"/>
              </a:rPr>
              <a:t>))  −  </a:t>
            </a:r>
            <a:r>
              <a:rPr lang="en-US" altLang="ja-JP" sz="1700" dirty="0">
                <a:sym typeface="Symbol" panose="05050102010706020507" pitchFamily="18" charset="2"/>
              </a:rPr>
              <a:t/>
            </a:r>
            <a:br>
              <a:rPr lang="en-US" altLang="ja-JP" sz="1700" dirty="0">
                <a:sym typeface="Symbol" panose="05050102010706020507" pitchFamily="18" charset="2"/>
              </a:rPr>
            </a:br>
            <a:r>
              <a:rPr lang="en-US" altLang="ja-JP" sz="2266" dirty="0">
                <a:sym typeface="Symbol" panose="05050102010706020507" pitchFamily="18" charset="2"/>
              </a:rPr>
              <a:t>   </a:t>
            </a:r>
            <a:r>
              <a:rPr lang="en-US" altLang="ja-JP" sz="2266" i="1" baseline="-25000" dirty="0" err="1"/>
              <a:t>course_id</a:t>
            </a:r>
            <a:r>
              <a:rPr lang="en-US" altLang="ja-JP" sz="2266" dirty="0"/>
              <a:t> (</a:t>
            </a:r>
            <a:r>
              <a:rPr lang="en-US" altLang="ja-JP" sz="2266" i="1" dirty="0">
                <a:sym typeface="Symbol" panose="05050102010706020507" pitchFamily="18" charset="2"/>
              </a:rPr>
              <a:t></a:t>
            </a:r>
            <a:r>
              <a:rPr lang="en-US" altLang="ja-JP" sz="2266" dirty="0">
                <a:sym typeface="Symbol" panose="05050102010706020507" pitchFamily="18" charset="2"/>
              </a:rPr>
              <a:t> </a:t>
            </a:r>
            <a:r>
              <a:rPr lang="en-US" altLang="ja-JP" sz="2266" i="1" baseline="-25000" dirty="0">
                <a:sym typeface="Symbol" panose="05050102010706020507" pitchFamily="18" charset="2"/>
              </a:rPr>
              <a:t>semester=</a:t>
            </a:r>
            <a:r>
              <a:rPr lang="ja-JP" altLang="en-US" sz="2266" i="1" baseline="-25000" dirty="0">
                <a:sym typeface="Symbol" panose="05050102010706020507" pitchFamily="18" charset="2"/>
              </a:rPr>
              <a:t>“</a:t>
            </a:r>
            <a:r>
              <a:rPr lang="en-US" altLang="ja-JP" sz="2266" i="1" baseline="-25000" dirty="0">
                <a:sym typeface="Symbol" panose="05050102010706020507" pitchFamily="18" charset="2"/>
              </a:rPr>
              <a:t>Spring</a:t>
            </a:r>
            <a:r>
              <a:rPr lang="ja-JP" altLang="en-US" sz="2266" i="1" baseline="-25000" dirty="0">
                <a:sym typeface="Symbol" panose="05050102010706020507" pitchFamily="18" charset="2"/>
              </a:rPr>
              <a:t>”</a:t>
            </a:r>
            <a:r>
              <a:rPr lang="en-US" altLang="ja-JP" sz="2266" i="1" baseline="-25000" dirty="0">
                <a:sym typeface="Symbol" panose="05050102010706020507" pitchFamily="18" charset="2"/>
              </a:rPr>
              <a:t>  </a:t>
            </a:r>
            <a:r>
              <a:rPr lang="el-GR" altLang="ja-JP" sz="2266" i="1" baseline="-25000" dirty="0">
                <a:sym typeface="Symbol" panose="05050102010706020507" pitchFamily="18" charset="2"/>
              </a:rPr>
              <a:t>Λ</a:t>
            </a:r>
            <a:r>
              <a:rPr lang="en-US" altLang="ja-JP" sz="2266" i="1" baseline="-25000" dirty="0">
                <a:sym typeface="Symbol" panose="05050102010706020507" pitchFamily="18" charset="2"/>
              </a:rPr>
              <a:t> year=2018 </a:t>
            </a:r>
            <a:r>
              <a:rPr lang="en-US" altLang="ja-JP" sz="2266" dirty="0">
                <a:sym typeface="Symbol" panose="05050102010706020507" pitchFamily="18" charset="2"/>
              </a:rPr>
              <a:t>(</a:t>
            </a:r>
            <a:r>
              <a:rPr lang="en-US" altLang="ja-JP" sz="2266" i="1" dirty="0">
                <a:sym typeface="Symbol" panose="05050102010706020507" pitchFamily="18" charset="2"/>
              </a:rPr>
              <a:t>section</a:t>
            </a:r>
            <a:r>
              <a:rPr lang="en-US" altLang="ja-JP" sz="2266" dirty="0">
                <a:sym typeface="Symbol" panose="05050102010706020507" pitchFamily="18" charset="2"/>
              </a:rPr>
              <a:t>))</a:t>
            </a:r>
          </a:p>
          <a:p>
            <a:endParaRPr lang="en-US" altLang="en-US" sz="1600" dirty="0">
              <a:sym typeface="Symbol" panose="05050102010706020507" pitchFamily="18" charset="2"/>
            </a:endParaRPr>
          </a:p>
          <a:p>
            <a:pPr>
              <a:buFont typeface="Monotype Sorts" charset="2"/>
              <a:buNone/>
            </a:pPr>
            <a:endParaRPr lang="en-US" altLang="en-US" sz="1600" dirty="0">
              <a:sym typeface="Symbol" panose="05050102010706020507" pitchFamily="18" charset="2"/>
            </a:endParaRPr>
          </a:p>
          <a:p>
            <a:pPr>
              <a:buFont typeface="Monotype Sorts" charset="2"/>
              <a:buNone/>
            </a:pPr>
            <a:endParaRPr lang="en-US" altLang="en-US" sz="1600" dirty="0">
              <a:sym typeface="Symbol" panose="05050102010706020507" pitchFamily="18" charset="2"/>
            </a:endParaRPr>
          </a:p>
          <a:p>
            <a:pPr>
              <a:buFont typeface="Monotype Sorts" charset="2"/>
              <a:buNone/>
            </a:pPr>
            <a:endParaRPr lang="en-US" altLang="en-US" sz="1600" dirty="0">
              <a:sym typeface="Symbol" panose="05050102010706020507" pitchFamily="18" charset="2"/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xmlns="" id="{2B4CEA55-B6FE-4CA5-8F34-E2CFAC349C5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rcRect l="40709" r="41294" b="41353"/>
          <a:stretch/>
        </p:blipFill>
        <p:spPr>
          <a:xfrm>
            <a:off x="7559517" y="4896141"/>
            <a:ext cx="1602455" cy="98335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882" name="Rectangle 2"/>
          <p:cNvSpPr>
            <a:spLocks noGrp="1" noChangeArrowheads="1"/>
          </p:cNvSpPr>
          <p:nvPr>
            <p:ph type="title"/>
          </p:nvPr>
        </p:nvSpPr>
        <p:spPr>
          <a:xfrm>
            <a:off x="1024441" y="117475"/>
            <a:ext cx="10769330" cy="609600"/>
          </a:xfrm>
        </p:spPr>
        <p:txBody>
          <a:bodyPr/>
          <a:lstStyle/>
          <a:p>
            <a:r>
              <a:rPr lang="en-US" altLang="en-US" sz="3733" dirty="0"/>
              <a:t>The Assignment  Operation </a:t>
            </a:r>
          </a:p>
        </p:txBody>
      </p:sp>
      <p:sp>
        <p:nvSpPr>
          <p:cNvPr id="717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24441" y="1071563"/>
            <a:ext cx="10208174" cy="4835207"/>
          </a:xfrm>
        </p:spPr>
        <p:txBody>
          <a:bodyPr/>
          <a:lstStyle/>
          <a:p>
            <a:r>
              <a:rPr lang="en-US" altLang="en-US" sz="2266" dirty="0"/>
              <a:t>It is convenient at times to write a relational-algebra expression by assigning parts of it to temporary relation variables.  </a:t>
            </a:r>
          </a:p>
          <a:p>
            <a:r>
              <a:rPr lang="en-US" altLang="en-US" sz="2266" dirty="0"/>
              <a:t>The assignment  operation is  denoted by </a:t>
            </a:r>
            <a:r>
              <a:rPr lang="en-US" altLang="en-US" sz="2266" dirty="0">
                <a:sym typeface="Symbol" panose="05050102010706020507" pitchFamily="18" charset="2"/>
              </a:rPr>
              <a:t></a:t>
            </a:r>
            <a:r>
              <a:rPr lang="en-US" altLang="en-US" sz="2266" dirty="0">
                <a:sym typeface="Wingdings" pitchFamily="2" charset="2"/>
              </a:rPr>
              <a:t> and </a:t>
            </a:r>
            <a:r>
              <a:rPr lang="en-US" altLang="en-US" sz="2266" dirty="0"/>
              <a:t>works like assignment in a programming language.</a:t>
            </a:r>
          </a:p>
          <a:p>
            <a:pPr>
              <a:lnSpc>
                <a:spcPct val="90000"/>
              </a:lnSpc>
              <a:tabLst>
                <a:tab pos="1658938" algn="l"/>
                <a:tab pos="3149600" algn="ctr"/>
                <a:tab pos="3425825" algn="l"/>
              </a:tabLst>
            </a:pPr>
            <a:r>
              <a:rPr lang="en-US" altLang="en-US" sz="2266" dirty="0"/>
              <a:t>Example: Find all </a:t>
            </a:r>
            <a:r>
              <a:rPr lang="en-US" altLang="en-US" sz="2266" dirty="0">
                <a:sym typeface="Symbol" panose="05050102010706020507" pitchFamily="18" charset="2"/>
              </a:rPr>
              <a:t>instructor in the “Physics” and Music department.</a:t>
            </a:r>
            <a:r>
              <a:rPr lang="en-US" altLang="en-US" sz="1700" dirty="0">
                <a:sym typeface="Symbol" panose="05050102010706020507" pitchFamily="18" charset="2"/>
              </a:rPr>
              <a:t/>
            </a:r>
            <a:br>
              <a:rPr lang="en-US" altLang="en-US" sz="1700" dirty="0">
                <a:sym typeface="Symbol" panose="05050102010706020507" pitchFamily="18" charset="2"/>
              </a:rPr>
            </a:br>
            <a:r>
              <a:rPr lang="en-US" altLang="en-US" sz="1700" dirty="0">
                <a:sym typeface="Symbol" panose="05050102010706020507" pitchFamily="18" charset="2"/>
              </a:rPr>
              <a:t/>
            </a:r>
            <a:br>
              <a:rPr lang="en-US" altLang="en-US" sz="1700" dirty="0">
                <a:sym typeface="Symbol" panose="05050102010706020507" pitchFamily="18" charset="2"/>
              </a:rPr>
            </a:br>
            <a:r>
              <a:rPr lang="en-US" altLang="en-US" sz="2266" dirty="0">
                <a:sym typeface="Symbol" panose="05050102010706020507" pitchFamily="18" charset="2"/>
              </a:rPr>
              <a:t>         </a:t>
            </a:r>
            <a:r>
              <a:rPr lang="en-US" altLang="en-US" sz="2266" i="1" dirty="0">
                <a:sym typeface="Symbol" panose="05050102010706020507" pitchFamily="18" charset="2"/>
              </a:rPr>
              <a:t>Physics</a:t>
            </a:r>
            <a:r>
              <a:rPr lang="en-US" altLang="en-US" sz="2266" dirty="0">
                <a:sym typeface="Symbol" panose="05050102010706020507" pitchFamily="18" charset="2"/>
              </a:rPr>
              <a:t> </a:t>
            </a:r>
            <a:r>
              <a:rPr lang="en-US" altLang="en-US" sz="2266" b="1" dirty="0">
                <a:sym typeface="Wingdings" pitchFamily="2" charset="2"/>
              </a:rPr>
              <a:t> </a:t>
            </a:r>
            <a:r>
              <a:rPr lang="en-US" altLang="en-US" sz="2399" i="1" dirty="0">
                <a:sym typeface="Symbol" panose="05050102010706020507" pitchFamily="18" charset="2"/>
              </a:rPr>
              <a:t></a:t>
            </a:r>
            <a:r>
              <a:rPr lang="en-US" altLang="en-US" sz="2399" dirty="0">
                <a:sym typeface="Symbol" panose="05050102010706020507" pitchFamily="18" charset="2"/>
              </a:rPr>
              <a:t> </a:t>
            </a:r>
            <a:r>
              <a:rPr lang="en-US" altLang="en-US" i="1" baseline="-25000" dirty="0">
                <a:sym typeface="Symbol" panose="05050102010706020507" pitchFamily="18" charset="2"/>
              </a:rPr>
              <a:t>dept_name=</a:t>
            </a:r>
            <a:r>
              <a:rPr lang="ja-JP" altLang="en-US" i="1" baseline="-25000" dirty="0">
                <a:sym typeface="Symbol" panose="05050102010706020507" pitchFamily="18" charset="2"/>
              </a:rPr>
              <a:t>“</a:t>
            </a:r>
            <a:r>
              <a:rPr lang="en-US" altLang="ja-JP" i="1" baseline="-25000" dirty="0">
                <a:sym typeface="Symbol" panose="05050102010706020507" pitchFamily="18" charset="2"/>
              </a:rPr>
              <a:t>Physics</a:t>
            </a:r>
            <a:r>
              <a:rPr lang="ja-JP" altLang="en-US" i="1" baseline="-25000" dirty="0">
                <a:sym typeface="Symbol" panose="05050102010706020507" pitchFamily="18" charset="2"/>
              </a:rPr>
              <a:t>” </a:t>
            </a:r>
            <a:r>
              <a:rPr lang="en-US" altLang="ja-JP" sz="2266" dirty="0">
                <a:sym typeface="Symbol" panose="05050102010706020507" pitchFamily="18" charset="2"/>
              </a:rPr>
              <a:t>(</a:t>
            </a:r>
            <a:r>
              <a:rPr lang="en-US" altLang="ja-JP" sz="2266" i="1" dirty="0">
                <a:sym typeface="Symbol" panose="05050102010706020507" pitchFamily="18" charset="2"/>
              </a:rPr>
              <a:t>instructor</a:t>
            </a:r>
            <a:r>
              <a:rPr lang="en-US" altLang="ja-JP" sz="2266" dirty="0">
                <a:sym typeface="Symbol" panose="05050102010706020507" pitchFamily="18" charset="2"/>
              </a:rPr>
              <a:t>)</a:t>
            </a:r>
          </a:p>
          <a:p>
            <a:pPr lvl="1">
              <a:lnSpc>
                <a:spcPct val="90000"/>
              </a:lnSpc>
              <a:buNone/>
              <a:tabLst>
                <a:tab pos="1658938" algn="l"/>
                <a:tab pos="3149600" algn="ctr"/>
                <a:tab pos="3425825" algn="l"/>
              </a:tabLst>
            </a:pPr>
            <a:r>
              <a:rPr lang="en-US" altLang="en-US" sz="2266" dirty="0">
                <a:sym typeface="Symbol" panose="05050102010706020507" pitchFamily="18" charset="2"/>
              </a:rPr>
              <a:t>       </a:t>
            </a:r>
            <a:r>
              <a:rPr lang="en-US" altLang="en-US" sz="2266" i="1" dirty="0">
                <a:sym typeface="Symbol" panose="05050102010706020507" pitchFamily="18" charset="2"/>
              </a:rPr>
              <a:t>Music</a:t>
            </a:r>
            <a:r>
              <a:rPr lang="en-US" altLang="en-US" sz="2266" dirty="0">
                <a:sym typeface="Symbol" panose="05050102010706020507" pitchFamily="18" charset="2"/>
              </a:rPr>
              <a:t> </a:t>
            </a:r>
            <a:r>
              <a:rPr lang="en-US" altLang="en-US" sz="2266" b="1" dirty="0">
                <a:sym typeface="Wingdings" pitchFamily="2" charset="2"/>
              </a:rPr>
              <a:t> </a:t>
            </a:r>
            <a:r>
              <a:rPr lang="en-US" altLang="en-US" sz="2533" i="1" dirty="0">
                <a:sym typeface="Symbol" panose="05050102010706020507" pitchFamily="18" charset="2"/>
              </a:rPr>
              <a:t></a:t>
            </a:r>
            <a:r>
              <a:rPr lang="en-US" altLang="en-US" sz="2533" dirty="0">
                <a:sym typeface="Symbol" panose="05050102010706020507" pitchFamily="18" charset="2"/>
              </a:rPr>
              <a:t> </a:t>
            </a:r>
            <a:r>
              <a:rPr lang="en-US" altLang="en-US" sz="2533" i="1" baseline="-25000" dirty="0">
                <a:sym typeface="Symbol" panose="05050102010706020507" pitchFamily="18" charset="2"/>
              </a:rPr>
              <a:t>dept_name=</a:t>
            </a:r>
            <a:r>
              <a:rPr lang="ja-JP" altLang="en-US" sz="2533" i="1" baseline="-25000" dirty="0">
                <a:sym typeface="Symbol" panose="05050102010706020507" pitchFamily="18" charset="2"/>
              </a:rPr>
              <a:t>“</a:t>
            </a:r>
            <a:r>
              <a:rPr lang="en-US" altLang="ja-JP" sz="2533" i="1" baseline="-25000" dirty="0">
                <a:sym typeface="Symbol" panose="05050102010706020507" pitchFamily="18" charset="2"/>
              </a:rPr>
              <a:t>Music” </a:t>
            </a:r>
            <a:r>
              <a:rPr lang="en-US" altLang="ja-JP" sz="2266" dirty="0">
                <a:sym typeface="Symbol" panose="05050102010706020507" pitchFamily="18" charset="2"/>
              </a:rPr>
              <a:t>(</a:t>
            </a:r>
            <a:r>
              <a:rPr lang="en-US" altLang="ja-JP" sz="2266" i="1" dirty="0">
                <a:sym typeface="Symbol" panose="05050102010706020507" pitchFamily="18" charset="2"/>
              </a:rPr>
              <a:t>instructor</a:t>
            </a:r>
            <a:r>
              <a:rPr lang="en-US" altLang="ja-JP" sz="2266" dirty="0">
                <a:sym typeface="Symbol" panose="05050102010706020507" pitchFamily="18" charset="2"/>
              </a:rPr>
              <a:t>)</a:t>
            </a:r>
          </a:p>
          <a:p>
            <a:pPr lvl="1">
              <a:lnSpc>
                <a:spcPct val="90000"/>
              </a:lnSpc>
              <a:buNone/>
              <a:tabLst>
                <a:tab pos="1658938" algn="l"/>
                <a:tab pos="3149600" algn="ctr"/>
                <a:tab pos="3425825" algn="l"/>
              </a:tabLst>
            </a:pPr>
            <a:r>
              <a:rPr lang="en-US" altLang="en-US" sz="2266" dirty="0">
                <a:sym typeface="Symbol" panose="05050102010706020507" pitchFamily="18" charset="2"/>
              </a:rPr>
              <a:t>       </a:t>
            </a:r>
            <a:r>
              <a:rPr lang="en-US" altLang="en-US" sz="2266" i="1" dirty="0">
                <a:sym typeface="Symbol" panose="05050102010706020507" pitchFamily="18" charset="2"/>
              </a:rPr>
              <a:t>Physics</a:t>
            </a:r>
            <a:r>
              <a:rPr lang="en-US" altLang="en-US" sz="2266" dirty="0">
                <a:sym typeface="Symbol" panose="05050102010706020507" pitchFamily="18" charset="2"/>
              </a:rPr>
              <a:t> </a:t>
            </a:r>
            <a:r>
              <a:rPr lang="en-US" altLang="en-US" sz="2266" dirty="0"/>
              <a:t> </a:t>
            </a:r>
            <a:r>
              <a:rPr lang="en-US" altLang="en-US" sz="2266" dirty="0">
                <a:sym typeface="Symbol" panose="05050102010706020507" pitchFamily="18" charset="2"/>
              </a:rPr>
              <a:t> </a:t>
            </a:r>
            <a:r>
              <a:rPr lang="en-US" altLang="en-US" sz="2266" i="1" dirty="0">
                <a:sym typeface="Symbol" panose="05050102010706020507" pitchFamily="18" charset="2"/>
              </a:rPr>
              <a:t>Music</a:t>
            </a:r>
          </a:p>
          <a:p>
            <a:pPr lvl="1">
              <a:lnSpc>
                <a:spcPct val="90000"/>
              </a:lnSpc>
              <a:buNone/>
              <a:tabLst>
                <a:tab pos="1658938" algn="l"/>
                <a:tab pos="3149600" algn="ctr"/>
                <a:tab pos="3425825" algn="l"/>
              </a:tabLst>
            </a:pPr>
            <a:r>
              <a:rPr lang="en-US" altLang="en-US" sz="1066" dirty="0">
                <a:sym typeface="Symbol" panose="05050102010706020507" pitchFamily="18" charset="2"/>
              </a:rPr>
              <a:t> </a:t>
            </a:r>
          </a:p>
          <a:p>
            <a:pPr>
              <a:tabLst>
                <a:tab pos="1658938" algn="l"/>
                <a:tab pos="3149600" algn="ctr"/>
                <a:tab pos="3425825" algn="l"/>
              </a:tabLst>
            </a:pPr>
            <a:r>
              <a:rPr lang="en-US" altLang="en-US" sz="2266" dirty="0">
                <a:sym typeface="Symbol" panose="05050102010706020507" pitchFamily="18" charset="2"/>
              </a:rPr>
              <a:t>With the assignment operation, a query can be written as a sequential program consisting of a series of assignments followed by an expression whose value is displayed as the result of the query. </a:t>
            </a:r>
          </a:p>
          <a:p>
            <a:pPr lvl="1">
              <a:lnSpc>
                <a:spcPct val="90000"/>
              </a:lnSpc>
              <a:buNone/>
              <a:tabLst>
                <a:tab pos="1658938" algn="l"/>
                <a:tab pos="3149600" algn="ctr"/>
                <a:tab pos="3425825" algn="l"/>
              </a:tabLst>
            </a:pPr>
            <a:endParaRPr lang="en-US" alt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882" name="Rectangle 2"/>
          <p:cNvSpPr>
            <a:spLocks noGrp="1" noChangeArrowheads="1"/>
          </p:cNvSpPr>
          <p:nvPr>
            <p:ph type="title"/>
          </p:nvPr>
        </p:nvSpPr>
        <p:spPr>
          <a:xfrm>
            <a:off x="1024441" y="117475"/>
            <a:ext cx="10769330" cy="609600"/>
          </a:xfrm>
        </p:spPr>
        <p:txBody>
          <a:bodyPr/>
          <a:lstStyle/>
          <a:p>
            <a:r>
              <a:rPr lang="en-US" altLang="en-US" sz="3733" dirty="0"/>
              <a:t>The Rename Operation </a:t>
            </a:r>
          </a:p>
        </p:txBody>
      </p:sp>
      <p:sp>
        <p:nvSpPr>
          <p:cNvPr id="717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24441" y="1077913"/>
            <a:ext cx="10243998" cy="3201479"/>
          </a:xfrm>
        </p:spPr>
        <p:txBody>
          <a:bodyPr/>
          <a:lstStyle/>
          <a:p>
            <a:r>
              <a:rPr lang="en-US" altLang="en-US" sz="2266" dirty="0"/>
              <a:t>The results of relational-algebra expressions do not have a name that we can use to refer to them.  The  rename operator,  </a:t>
            </a:r>
            <a:r>
              <a:rPr lang="en-US" altLang="en-US" sz="2266" i="1" dirty="0">
                <a:sym typeface="Symbol" panose="05050102010706020507" pitchFamily="18" charset="2"/>
              </a:rPr>
              <a:t> ,</a:t>
            </a:r>
            <a:r>
              <a:rPr lang="en-US" altLang="en-US" sz="2266" dirty="0">
                <a:sym typeface="Symbol" panose="05050102010706020507" pitchFamily="18" charset="2"/>
              </a:rPr>
              <a:t>  is provided </a:t>
            </a:r>
            <a:r>
              <a:rPr lang="en-US" altLang="en-US" sz="2266" i="1" dirty="0">
                <a:sym typeface="Symbol" panose="05050102010706020507" pitchFamily="18" charset="2"/>
              </a:rPr>
              <a:t> </a:t>
            </a:r>
            <a:r>
              <a:rPr lang="en-US" altLang="en-US" sz="2266" dirty="0">
                <a:sym typeface="Symbol" panose="05050102010706020507" pitchFamily="18" charset="2"/>
              </a:rPr>
              <a:t>for that purpose</a:t>
            </a:r>
          </a:p>
          <a:p>
            <a:r>
              <a:rPr lang="en-US" altLang="en-US" sz="2266" dirty="0"/>
              <a:t>The expression:</a:t>
            </a:r>
          </a:p>
          <a:p>
            <a:pPr>
              <a:buNone/>
            </a:pPr>
            <a:r>
              <a:rPr lang="en-US" altLang="en-US" sz="2266" dirty="0"/>
              <a:t>                  </a:t>
            </a:r>
            <a:r>
              <a:rPr lang="en-US" altLang="en-US" i="1" dirty="0">
                <a:sym typeface="Symbol" panose="05050102010706020507" pitchFamily="18" charset="2"/>
              </a:rPr>
              <a:t></a:t>
            </a:r>
            <a:r>
              <a:rPr lang="en-US" altLang="en-US" i="1" baseline="-25000" dirty="0">
                <a:sym typeface="Symbol" panose="05050102010706020507" pitchFamily="18" charset="2"/>
              </a:rPr>
              <a:t>x</a:t>
            </a:r>
            <a:r>
              <a:rPr lang="en-US" altLang="en-US" i="1" dirty="0">
                <a:sym typeface="Symbol" panose="05050102010706020507" pitchFamily="18" charset="2"/>
              </a:rPr>
              <a:t> </a:t>
            </a:r>
            <a:r>
              <a:rPr lang="en-US" altLang="en-US" sz="2266" dirty="0">
                <a:sym typeface="Symbol" panose="05050102010706020507" pitchFamily="18" charset="2"/>
              </a:rPr>
              <a:t>(</a:t>
            </a:r>
            <a:r>
              <a:rPr lang="en-US" altLang="en-US" sz="2266" i="1" dirty="0">
                <a:sym typeface="Symbol" panose="05050102010706020507" pitchFamily="18" charset="2"/>
              </a:rPr>
              <a:t>E</a:t>
            </a:r>
            <a:r>
              <a:rPr lang="en-US" altLang="en-US" sz="2266" dirty="0">
                <a:sym typeface="Symbol" panose="05050102010706020507" pitchFamily="18" charset="2"/>
              </a:rPr>
              <a:t>)</a:t>
            </a:r>
          </a:p>
          <a:p>
            <a:pPr>
              <a:buNone/>
            </a:pPr>
            <a:r>
              <a:rPr lang="en-US" altLang="en-US" sz="2266" dirty="0">
                <a:sym typeface="Symbol" panose="05050102010706020507" pitchFamily="18" charset="2"/>
              </a:rPr>
              <a:t>      returns the result of expression </a:t>
            </a:r>
            <a:r>
              <a:rPr lang="en-US" altLang="en-US" sz="2266" i="1" dirty="0">
                <a:sym typeface="Symbol" panose="05050102010706020507" pitchFamily="18" charset="2"/>
              </a:rPr>
              <a:t>E</a:t>
            </a:r>
            <a:r>
              <a:rPr lang="en-US" altLang="en-US" sz="2266" dirty="0">
                <a:sym typeface="Symbol" panose="05050102010706020507" pitchFamily="18" charset="2"/>
              </a:rPr>
              <a:t> under the name </a:t>
            </a:r>
            <a:r>
              <a:rPr lang="en-US" altLang="en-US" sz="2266" i="1" dirty="0">
                <a:sym typeface="Symbol" panose="05050102010706020507" pitchFamily="18" charset="2"/>
              </a:rPr>
              <a:t>x</a:t>
            </a:r>
            <a:endParaRPr lang="en-US" altLang="en-US" sz="1700" i="1" dirty="0"/>
          </a:p>
          <a:p>
            <a:r>
              <a:rPr lang="en-US" altLang="en-US" sz="2266" dirty="0"/>
              <a:t>Another form of the rename operation:</a:t>
            </a:r>
          </a:p>
          <a:p>
            <a:pPr>
              <a:buNone/>
            </a:pPr>
            <a:r>
              <a:rPr lang="en-US" altLang="en-US" sz="2266" dirty="0"/>
              <a:t>                 </a:t>
            </a:r>
            <a:r>
              <a:rPr lang="en-US" altLang="en-US" i="1" dirty="0">
                <a:sym typeface="Symbol" panose="05050102010706020507" pitchFamily="18" charset="2"/>
              </a:rPr>
              <a:t></a:t>
            </a:r>
            <a:r>
              <a:rPr lang="en-US" altLang="en-US" i="1" baseline="-25000" dirty="0">
                <a:sym typeface="Symbol" panose="05050102010706020507" pitchFamily="18" charset="2"/>
              </a:rPr>
              <a:t>x(A1,A2, .. An) </a:t>
            </a:r>
            <a:r>
              <a:rPr lang="en-US" altLang="en-US" sz="2266" dirty="0">
                <a:sym typeface="Symbol" panose="05050102010706020507" pitchFamily="18" charset="2"/>
              </a:rPr>
              <a:t>(</a:t>
            </a:r>
            <a:r>
              <a:rPr lang="en-US" altLang="en-US" sz="2266" i="1" dirty="0">
                <a:sym typeface="Symbol" panose="05050102010706020507" pitchFamily="18" charset="2"/>
              </a:rPr>
              <a:t>E</a:t>
            </a:r>
            <a:r>
              <a:rPr lang="en-US" altLang="en-US" sz="2266" dirty="0">
                <a:sym typeface="Symbol" panose="05050102010706020507" pitchFamily="18" charset="2"/>
              </a:rPr>
              <a:t>)</a:t>
            </a:r>
            <a:endParaRPr lang="en-US" altLang="en-US" sz="1700" dirty="0"/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882" name="Rectangle 2"/>
          <p:cNvSpPr>
            <a:spLocks noGrp="1" noChangeArrowheads="1"/>
          </p:cNvSpPr>
          <p:nvPr>
            <p:ph type="title"/>
          </p:nvPr>
        </p:nvSpPr>
        <p:spPr>
          <a:xfrm>
            <a:off x="1024441" y="117475"/>
            <a:ext cx="10769330" cy="609600"/>
          </a:xfrm>
        </p:spPr>
        <p:txBody>
          <a:bodyPr/>
          <a:lstStyle/>
          <a:p>
            <a:r>
              <a:rPr lang="en-US" altLang="en-US" sz="3733" dirty="0"/>
              <a:t>Equivalent Queries</a:t>
            </a:r>
          </a:p>
        </p:txBody>
      </p:sp>
      <p:sp>
        <p:nvSpPr>
          <p:cNvPr id="717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24441" y="1096740"/>
            <a:ext cx="10243999" cy="4664519"/>
          </a:xfrm>
        </p:spPr>
        <p:txBody>
          <a:bodyPr/>
          <a:lstStyle/>
          <a:p>
            <a:r>
              <a:rPr lang="en-US" altLang="en-US" sz="2266" dirty="0"/>
              <a:t>There is more than one way to write a query in relational algebra. </a:t>
            </a:r>
          </a:p>
          <a:p>
            <a:r>
              <a:rPr lang="en-US" altLang="en-US" sz="2266" dirty="0"/>
              <a:t>Example:  Find information about courses taught by instructors in the Physics department with salary greater than 90,000</a:t>
            </a:r>
          </a:p>
          <a:p>
            <a:r>
              <a:rPr lang="en-US" altLang="en-US" sz="2266" dirty="0"/>
              <a:t>Query 1</a:t>
            </a:r>
          </a:p>
          <a:p>
            <a:pPr>
              <a:buNone/>
            </a:pPr>
            <a:r>
              <a:rPr lang="en-US" altLang="en-US" sz="2266" i="1" dirty="0">
                <a:sym typeface="Symbol" panose="05050102010706020507" pitchFamily="18" charset="2"/>
              </a:rPr>
              <a:t>           </a:t>
            </a:r>
            <a:r>
              <a:rPr lang="en-US" altLang="en-US" i="1" dirty="0">
                <a:sym typeface="Symbol" panose="05050102010706020507" pitchFamily="18" charset="2"/>
              </a:rPr>
              <a:t></a:t>
            </a:r>
            <a:r>
              <a:rPr lang="en-US" altLang="en-US" dirty="0">
                <a:sym typeface="Symbol" panose="05050102010706020507" pitchFamily="18" charset="2"/>
              </a:rPr>
              <a:t> </a:t>
            </a:r>
            <a:r>
              <a:rPr lang="en-US" altLang="en-US" i="1" baseline="-25000" dirty="0">
                <a:sym typeface="Symbol" panose="05050102010706020507" pitchFamily="18" charset="2"/>
              </a:rPr>
              <a:t>dept_name=</a:t>
            </a:r>
            <a:r>
              <a:rPr lang="ja-JP" altLang="en-US" i="1" baseline="-25000" dirty="0">
                <a:sym typeface="Symbol" panose="05050102010706020507" pitchFamily="18" charset="2"/>
              </a:rPr>
              <a:t>“</a:t>
            </a:r>
            <a:r>
              <a:rPr lang="en-US" altLang="ja-JP" i="1" baseline="-25000" dirty="0">
                <a:sym typeface="Symbol" panose="05050102010706020507" pitchFamily="18" charset="2"/>
              </a:rPr>
              <a:t>Physics</a:t>
            </a:r>
            <a:r>
              <a:rPr lang="ja-JP" altLang="en-US" i="1" baseline="-25000" dirty="0">
                <a:sym typeface="Symbol" panose="05050102010706020507" pitchFamily="18" charset="2"/>
              </a:rPr>
              <a:t>” </a:t>
            </a:r>
            <a:r>
              <a:rPr lang="en-US" altLang="en-US" dirty="0">
                <a:sym typeface="Symbol" panose="05050102010706020507" pitchFamily="18" charset="2"/>
              </a:rPr>
              <a:t></a:t>
            </a:r>
            <a:r>
              <a:rPr lang="ja-JP" altLang="en-US" i="1" baseline="-25000" dirty="0">
                <a:sym typeface="Symbol" panose="05050102010706020507" pitchFamily="18" charset="2"/>
              </a:rPr>
              <a:t> </a:t>
            </a:r>
            <a:r>
              <a:rPr lang="en-US" altLang="ja-JP" i="1" baseline="-25000" dirty="0">
                <a:sym typeface="Symbol" panose="05050102010706020507" pitchFamily="18" charset="2"/>
              </a:rPr>
              <a:t>salary &gt; </a:t>
            </a:r>
            <a:r>
              <a:rPr lang="en-US" altLang="ja-JP" baseline="-25000" dirty="0">
                <a:sym typeface="Symbol" panose="05050102010706020507" pitchFamily="18" charset="2"/>
              </a:rPr>
              <a:t>90,000</a:t>
            </a:r>
            <a:r>
              <a:rPr lang="en-US" altLang="ja-JP" dirty="0">
                <a:sym typeface="Symbol" panose="05050102010706020507" pitchFamily="18" charset="2"/>
              </a:rPr>
              <a:t> </a:t>
            </a:r>
            <a:r>
              <a:rPr lang="en-US" altLang="ja-JP" sz="2266" dirty="0">
                <a:sym typeface="Symbol" panose="05050102010706020507" pitchFamily="18" charset="2"/>
              </a:rPr>
              <a:t>(</a:t>
            </a:r>
            <a:r>
              <a:rPr lang="en-US" altLang="ja-JP" sz="2266" i="1" dirty="0">
                <a:sym typeface="Symbol" panose="05050102010706020507" pitchFamily="18" charset="2"/>
              </a:rPr>
              <a:t>instructor</a:t>
            </a:r>
            <a:r>
              <a:rPr lang="en-US" altLang="ja-JP" sz="2266" dirty="0">
                <a:sym typeface="Symbol" panose="05050102010706020507" pitchFamily="18" charset="2"/>
              </a:rPr>
              <a:t>)</a:t>
            </a:r>
          </a:p>
          <a:p>
            <a:pPr>
              <a:buNone/>
            </a:pPr>
            <a:r>
              <a:rPr lang="en-US" altLang="ja-JP" sz="1066" dirty="0">
                <a:sym typeface="Symbol" panose="05050102010706020507" pitchFamily="18" charset="2"/>
              </a:rPr>
              <a:t> </a:t>
            </a:r>
          </a:p>
          <a:p>
            <a:r>
              <a:rPr lang="en-US" altLang="en-US" sz="2266" dirty="0">
                <a:sym typeface="Symbol" panose="05050102010706020507" pitchFamily="18" charset="2"/>
              </a:rPr>
              <a:t>Query 2</a:t>
            </a:r>
            <a:endParaRPr lang="en-US" altLang="en-US" sz="1700" dirty="0"/>
          </a:p>
          <a:p>
            <a:pPr>
              <a:buNone/>
            </a:pPr>
            <a:r>
              <a:rPr lang="en-US" altLang="en-US" sz="2266" i="1" dirty="0">
                <a:sym typeface="Symbol" panose="05050102010706020507" pitchFamily="18" charset="2"/>
              </a:rPr>
              <a:t>          </a:t>
            </a:r>
            <a:r>
              <a:rPr lang="en-US" altLang="en-US" i="1" dirty="0">
                <a:sym typeface="Symbol" panose="05050102010706020507" pitchFamily="18" charset="2"/>
              </a:rPr>
              <a:t></a:t>
            </a:r>
            <a:r>
              <a:rPr lang="en-US" altLang="en-US" dirty="0">
                <a:sym typeface="Symbol" panose="05050102010706020507" pitchFamily="18" charset="2"/>
              </a:rPr>
              <a:t> </a:t>
            </a:r>
            <a:r>
              <a:rPr lang="en-US" altLang="en-US" i="1" baseline="-25000" dirty="0">
                <a:sym typeface="Symbol" panose="05050102010706020507" pitchFamily="18" charset="2"/>
              </a:rPr>
              <a:t>dept_name=</a:t>
            </a:r>
            <a:r>
              <a:rPr lang="ja-JP" altLang="en-US" i="1" baseline="-25000" dirty="0">
                <a:sym typeface="Symbol" panose="05050102010706020507" pitchFamily="18" charset="2"/>
              </a:rPr>
              <a:t>“</a:t>
            </a:r>
            <a:r>
              <a:rPr lang="en-US" altLang="ja-JP" i="1" baseline="-25000" dirty="0">
                <a:sym typeface="Symbol" panose="05050102010706020507" pitchFamily="18" charset="2"/>
              </a:rPr>
              <a:t>Physics</a:t>
            </a:r>
            <a:r>
              <a:rPr lang="ja-JP" altLang="en-US" i="1" baseline="-25000" dirty="0">
                <a:sym typeface="Symbol" panose="05050102010706020507" pitchFamily="18" charset="2"/>
              </a:rPr>
              <a:t>” </a:t>
            </a:r>
            <a:r>
              <a:rPr lang="en-US" altLang="ja-JP" dirty="0">
                <a:sym typeface="Symbol" panose="05050102010706020507" pitchFamily="18" charset="2"/>
              </a:rPr>
              <a:t>(</a:t>
            </a:r>
            <a:r>
              <a:rPr lang="en-US" altLang="en-US" i="1" dirty="0">
                <a:sym typeface="Symbol" panose="05050102010706020507" pitchFamily="18" charset="2"/>
              </a:rPr>
              <a:t></a:t>
            </a:r>
            <a:r>
              <a:rPr lang="en-US" altLang="en-US" dirty="0">
                <a:sym typeface="Symbol" panose="05050102010706020507" pitchFamily="18" charset="2"/>
              </a:rPr>
              <a:t> </a:t>
            </a:r>
            <a:r>
              <a:rPr lang="en-US" altLang="en-US" i="1" baseline="-25000" dirty="0">
                <a:sym typeface="Symbol" panose="05050102010706020507" pitchFamily="18" charset="2"/>
              </a:rPr>
              <a:t>s</a:t>
            </a:r>
            <a:r>
              <a:rPr lang="en-US" altLang="ja-JP" i="1" baseline="-25000" dirty="0">
                <a:sym typeface="Symbol" panose="05050102010706020507" pitchFamily="18" charset="2"/>
              </a:rPr>
              <a:t>alary &gt; 90.000</a:t>
            </a:r>
            <a:r>
              <a:rPr lang="en-US" altLang="ja-JP" i="1" dirty="0">
                <a:sym typeface="Symbol" panose="05050102010706020507" pitchFamily="18" charset="2"/>
              </a:rPr>
              <a:t> </a:t>
            </a:r>
            <a:r>
              <a:rPr lang="en-US" altLang="ja-JP" sz="2266" dirty="0">
                <a:sym typeface="Symbol" panose="05050102010706020507" pitchFamily="18" charset="2"/>
              </a:rPr>
              <a:t>(</a:t>
            </a:r>
            <a:r>
              <a:rPr lang="en-US" altLang="ja-JP" sz="2266" i="1" dirty="0">
                <a:sym typeface="Symbol" panose="05050102010706020507" pitchFamily="18" charset="2"/>
              </a:rPr>
              <a:t>instructor</a:t>
            </a:r>
            <a:r>
              <a:rPr lang="en-US" altLang="ja-JP" sz="2266" dirty="0">
                <a:sym typeface="Symbol" panose="05050102010706020507" pitchFamily="18" charset="2"/>
              </a:rPr>
              <a:t>))</a:t>
            </a:r>
          </a:p>
          <a:p>
            <a:pPr>
              <a:buNone/>
            </a:pPr>
            <a:r>
              <a:rPr lang="en-US" altLang="ja-JP" sz="1066" dirty="0">
                <a:sym typeface="Symbol" panose="05050102010706020507" pitchFamily="18" charset="2"/>
              </a:rPr>
              <a:t> </a:t>
            </a:r>
          </a:p>
          <a:p>
            <a:pPr>
              <a:lnSpc>
                <a:spcPct val="90000"/>
              </a:lnSpc>
              <a:tabLst>
                <a:tab pos="1658938" algn="l"/>
                <a:tab pos="3149600" algn="ctr"/>
                <a:tab pos="3425825" algn="l"/>
              </a:tabLst>
            </a:pPr>
            <a:r>
              <a:rPr lang="en-US" altLang="en-US" sz="2266" dirty="0">
                <a:sym typeface="Symbol" panose="05050102010706020507" pitchFamily="18" charset="2"/>
              </a:rPr>
              <a:t>The two queries are not identical; they are, however, equivalent -- they give the same result on any database.</a:t>
            </a:r>
          </a:p>
          <a:p>
            <a:pPr>
              <a:lnSpc>
                <a:spcPct val="90000"/>
              </a:lnSpc>
              <a:tabLst>
                <a:tab pos="1658938" algn="l"/>
                <a:tab pos="3149600" algn="ctr"/>
                <a:tab pos="3425825" algn="l"/>
              </a:tabLst>
            </a:pPr>
            <a:endParaRPr lang="en-US" altLang="en-US" dirty="0"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  <a:tabLst>
                <a:tab pos="1658938" algn="l"/>
                <a:tab pos="3149600" algn="ctr"/>
                <a:tab pos="3425825" algn="l"/>
              </a:tabLst>
            </a:pPr>
            <a:endParaRPr lang="en-US" altLang="en-US" dirty="0"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882" name="Rectangle 2"/>
          <p:cNvSpPr>
            <a:spLocks noGrp="1" noChangeArrowheads="1"/>
          </p:cNvSpPr>
          <p:nvPr>
            <p:ph type="title"/>
          </p:nvPr>
        </p:nvSpPr>
        <p:spPr>
          <a:xfrm>
            <a:off x="1024441" y="117475"/>
            <a:ext cx="10769330" cy="609600"/>
          </a:xfrm>
        </p:spPr>
        <p:txBody>
          <a:bodyPr/>
          <a:lstStyle/>
          <a:p>
            <a:r>
              <a:rPr lang="en-US" altLang="en-US" sz="3733" dirty="0"/>
              <a:t>Equivalent Queries</a:t>
            </a:r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7170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768349" y="1138873"/>
                <a:ext cx="7638803" cy="4506023"/>
              </a:xfrm>
            </p:spPr>
            <p:txBody>
              <a:bodyPr/>
              <a:lstStyle/>
              <a:p>
                <a:r>
                  <a:rPr lang="en-US" altLang="en-US" sz="1700" dirty="0"/>
                  <a:t>There is more than one way to write a query in relational algebra. </a:t>
                </a:r>
              </a:p>
              <a:p>
                <a:r>
                  <a:rPr lang="en-US" altLang="en-US" sz="1700" dirty="0"/>
                  <a:t>Example:  Find information about courses taught by instructors in the Physics department</a:t>
                </a:r>
              </a:p>
              <a:p>
                <a:r>
                  <a:rPr lang="en-US" altLang="en-US" sz="1700" dirty="0"/>
                  <a:t>Query 1</a:t>
                </a:r>
              </a:p>
              <a:p>
                <a:pPr marL="0" indent="0">
                  <a:buNone/>
                </a:pPr>
                <a:r>
                  <a:rPr lang="en-US" altLang="en-US" i="1" dirty="0">
                    <a:sym typeface="Symbol" panose="05050102010706020507" pitchFamily="18" charset="2"/>
                  </a:rPr>
                  <a:t></a:t>
                </a:r>
                <a:r>
                  <a:rPr lang="en-US" altLang="en-US" i="1" baseline="-25000" dirty="0" err="1">
                    <a:sym typeface="Symbol" panose="05050102010706020507" pitchFamily="18" charset="2"/>
                  </a:rPr>
                  <a:t>dept_name</a:t>
                </a:r>
                <a:r>
                  <a:rPr lang="en-US" altLang="en-US" i="1" baseline="-25000" dirty="0">
                    <a:sym typeface="Symbol" panose="05050102010706020507" pitchFamily="18" charset="2"/>
                  </a:rPr>
                  <a:t>=</a:t>
                </a:r>
                <a:r>
                  <a:rPr lang="ja-JP" altLang="en-US" i="1" baseline="-25000" dirty="0">
                    <a:sym typeface="Symbol" panose="05050102010706020507" pitchFamily="18" charset="2"/>
                  </a:rPr>
                  <a:t>“</a:t>
                </a:r>
                <a:r>
                  <a:rPr lang="en-US" altLang="ja-JP" i="1" baseline="-25000" dirty="0">
                    <a:sym typeface="Symbol" panose="05050102010706020507" pitchFamily="18" charset="2"/>
                  </a:rPr>
                  <a:t>Physics</a:t>
                </a:r>
                <a:r>
                  <a:rPr lang="ja-JP" altLang="en-US" i="1" baseline="-25000" dirty="0">
                    <a:sym typeface="Symbol" panose="05050102010706020507" pitchFamily="18" charset="2"/>
                  </a:rPr>
                  <a:t>” </a:t>
                </a:r>
                <a:r>
                  <a:rPr lang="en-US" altLang="ja-JP" sz="1700" i="1" dirty="0">
                    <a:sym typeface="Symbol" panose="05050102010706020507" pitchFamily="18" charset="2"/>
                  </a:rPr>
                  <a:t>(i</a:t>
                </a:r>
                <a:r>
                  <a:rPr lang="en-US" altLang="en-US" sz="1700" i="1" dirty="0">
                    <a:sym typeface="Symbol" panose="05050102010706020507" pitchFamily="18" charset="2"/>
                  </a:rPr>
                  <a:t>nstructor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7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700" i="1">
                            <a:latin typeface="Cambria Math" panose="02040503050406030204" pitchFamily="18" charset="0"/>
                          </a:rPr>
                          <m:t>⋈</m:t>
                        </m:r>
                      </m:e>
                      <m:sub>
                        <m:r>
                          <a:rPr lang="en-US" sz="1700" i="1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</m:oMath>
                </a14:m>
                <a:r>
                  <a:rPr lang="en-US" i="1" baseline="-25000" dirty="0"/>
                  <a:t>instructor.ID = teaches.ID</a:t>
                </a:r>
                <a:r>
                  <a:rPr lang="en-US" sz="1700" i="1" dirty="0"/>
                  <a:t>teaches)</a:t>
                </a:r>
                <a:endParaRPr lang="en-US" altLang="en-US" sz="1700" dirty="0"/>
              </a:p>
              <a:p>
                <a:pPr>
                  <a:buNone/>
                </a:pPr>
                <a:endParaRPr lang="en-US" altLang="en-US" sz="1700" dirty="0"/>
              </a:p>
              <a:p>
                <a:r>
                  <a:rPr lang="en-US" altLang="en-US" sz="1700" dirty="0">
                    <a:sym typeface="Symbol" panose="05050102010706020507" pitchFamily="18" charset="2"/>
                  </a:rPr>
                  <a:t>Query 2</a:t>
                </a:r>
                <a:endParaRPr lang="en-US" altLang="en-US" sz="1700" dirty="0"/>
              </a:p>
              <a:p>
                <a:pPr>
                  <a:buNone/>
                </a:pPr>
                <a:r>
                  <a:rPr lang="en-US" altLang="en-US" sz="1700" i="1" dirty="0">
                    <a:sym typeface="Symbol" panose="05050102010706020507" pitchFamily="18" charset="2"/>
                  </a:rPr>
                  <a:t>       (</a:t>
                </a:r>
                <a:r>
                  <a:rPr lang="en-US" altLang="en-US" i="1" dirty="0">
                    <a:sym typeface="Symbol" panose="05050102010706020507" pitchFamily="18" charset="2"/>
                  </a:rPr>
                  <a:t></a:t>
                </a:r>
                <a:r>
                  <a:rPr lang="en-US" altLang="en-US" i="1" baseline="-25000" dirty="0" err="1">
                    <a:sym typeface="Symbol" panose="05050102010706020507" pitchFamily="18" charset="2"/>
                  </a:rPr>
                  <a:t>dept_name</a:t>
                </a:r>
                <a:r>
                  <a:rPr lang="en-US" altLang="en-US" i="1" baseline="-25000" dirty="0">
                    <a:sym typeface="Symbol" panose="05050102010706020507" pitchFamily="18" charset="2"/>
                  </a:rPr>
                  <a:t>=</a:t>
                </a:r>
                <a:r>
                  <a:rPr lang="ja-JP" altLang="en-US" i="1" baseline="-25000" dirty="0">
                    <a:sym typeface="Symbol" panose="05050102010706020507" pitchFamily="18" charset="2"/>
                  </a:rPr>
                  <a:t>“</a:t>
                </a:r>
                <a:r>
                  <a:rPr lang="en-US" altLang="ja-JP" i="1" baseline="-25000" dirty="0">
                    <a:sym typeface="Symbol" panose="05050102010706020507" pitchFamily="18" charset="2"/>
                  </a:rPr>
                  <a:t>Physics</a:t>
                </a:r>
                <a:r>
                  <a:rPr lang="ja-JP" altLang="en-US" i="1" baseline="-25000" dirty="0">
                    <a:sym typeface="Symbol" panose="05050102010706020507" pitchFamily="18" charset="2"/>
                  </a:rPr>
                  <a:t>” </a:t>
                </a:r>
                <a:r>
                  <a:rPr lang="en-US" altLang="ja-JP" sz="1700" i="1" dirty="0">
                    <a:sym typeface="Symbol" panose="05050102010706020507" pitchFamily="18" charset="2"/>
                  </a:rPr>
                  <a:t>(i</a:t>
                </a:r>
                <a:r>
                  <a:rPr lang="en-US" altLang="en-US" sz="1700" i="1" dirty="0">
                    <a:sym typeface="Symbol" panose="05050102010706020507" pitchFamily="18" charset="2"/>
                  </a:rPr>
                  <a:t>nstructor))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7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700" i="1">
                            <a:latin typeface="Cambria Math" panose="02040503050406030204" pitchFamily="18" charset="0"/>
                          </a:rPr>
                          <m:t>⋈</m:t>
                        </m:r>
                      </m:e>
                      <m:sub>
                        <m:r>
                          <a:rPr lang="en-US" sz="1700" i="1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</m:oMath>
                </a14:m>
                <a:r>
                  <a:rPr lang="en-US" i="1" baseline="-25000" dirty="0"/>
                  <a:t>instructor.ID = teaches.ID</a:t>
                </a:r>
                <a:r>
                  <a:rPr lang="en-US" sz="1700" i="1" dirty="0"/>
                  <a:t>teaches</a:t>
                </a:r>
              </a:p>
              <a:p>
                <a:pPr>
                  <a:buNone/>
                </a:pPr>
                <a:endParaRPr lang="en-US" sz="1700" i="1" dirty="0"/>
              </a:p>
              <a:p>
                <a:pPr>
                  <a:lnSpc>
                    <a:spcPct val="90000"/>
                  </a:lnSpc>
                  <a:tabLst>
                    <a:tab pos="1658938" algn="l"/>
                    <a:tab pos="3149600" algn="ctr"/>
                    <a:tab pos="3425825" algn="l"/>
                  </a:tabLst>
                </a:pPr>
                <a:r>
                  <a:rPr lang="en-US" altLang="en-US" sz="1700" dirty="0">
                    <a:sym typeface="Symbol" panose="05050102010706020507" pitchFamily="18" charset="2"/>
                  </a:rPr>
                  <a:t>The two queries are not identical; they are, however, equivalent -- they give the same result on any database.</a:t>
                </a:r>
              </a:p>
              <a:p>
                <a:pPr>
                  <a:lnSpc>
                    <a:spcPct val="90000"/>
                  </a:lnSpc>
                  <a:tabLst>
                    <a:tab pos="1658938" algn="l"/>
                    <a:tab pos="3149600" algn="ctr"/>
                    <a:tab pos="3425825" algn="l"/>
                  </a:tabLst>
                </a:pPr>
                <a:endParaRPr lang="en-US" altLang="en-US" dirty="0">
                  <a:sym typeface="Symbol" panose="05050102010706020507" pitchFamily="18" charset="2"/>
                </a:endParaRPr>
              </a:p>
              <a:p>
                <a:pPr>
                  <a:lnSpc>
                    <a:spcPct val="90000"/>
                  </a:lnSpc>
                  <a:tabLst>
                    <a:tab pos="1658938" algn="l"/>
                    <a:tab pos="3149600" algn="ctr"/>
                    <a:tab pos="3425825" algn="l"/>
                  </a:tabLst>
                </a:pPr>
                <a:endParaRPr lang="en-US" altLang="en-US" dirty="0">
                  <a:sym typeface="Symbol" panose="05050102010706020507" pitchFamily="18" charset="2"/>
                </a:endParaRPr>
              </a:p>
            </p:txBody>
          </p:sp>
        </mc:Choice>
        <mc:Fallback>
          <p:sp>
            <p:nvSpPr>
              <p:cNvPr id="7170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768349" y="1138873"/>
                <a:ext cx="7638803" cy="4506023"/>
              </a:xfrm>
              <a:blipFill>
                <a:blip r:embed="rId3"/>
                <a:stretch>
                  <a:fillRect l="-559" t="-6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956" name="Rectangle 4"/>
          <p:cNvSpPr>
            <a:spLocks noGrp="1" noChangeArrowheads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altLang="en-US" dirty="0"/>
              <a:t>End of Chapter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_db-5-grey">
  <a:themeElements>
    <a:clrScheme name="">
      <a:dk1>
        <a:srgbClr val="000000"/>
      </a:dk1>
      <a:lt1>
        <a:srgbClr val="CCECFF"/>
      </a:lt1>
      <a:dk2>
        <a:srgbClr val="CC3300"/>
      </a:dk2>
      <a:lt2>
        <a:srgbClr val="666699"/>
      </a:lt2>
      <a:accent1>
        <a:srgbClr val="FFFFFF"/>
      </a:accent1>
      <a:accent2>
        <a:srgbClr val="CCCC00"/>
      </a:accent2>
      <a:accent3>
        <a:srgbClr val="E2F4FF"/>
      </a:accent3>
      <a:accent4>
        <a:srgbClr val="000000"/>
      </a:accent4>
      <a:accent5>
        <a:srgbClr val="FFFFFF"/>
      </a:accent5>
      <a:accent6>
        <a:srgbClr val="B9B900"/>
      </a:accent6>
      <a:hlink>
        <a:srgbClr val="FF9900"/>
      </a:hlink>
      <a:folHlink>
        <a:srgbClr val="FF9933"/>
      </a:folHlink>
    </a:clrScheme>
    <a:fontScheme name="2_db-5-grey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Helvetic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Helvetica" charset="0"/>
          </a:defRPr>
        </a:defPPr>
      </a:lstStyle>
    </a:lnDef>
  </a:objectDefaults>
  <a:extraClrSchemeLst>
    <a:extraClrScheme>
      <a:clrScheme name="2_db-5-grey 1">
        <a:dk1>
          <a:srgbClr val="333333"/>
        </a:dk1>
        <a:lt1>
          <a:srgbClr val="A9BDA9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D1DBD1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b-5-grey 2">
        <a:dk1>
          <a:srgbClr val="333333"/>
        </a:dk1>
        <a:lt1>
          <a:srgbClr val="FFFFFF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FFFFFF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b-5-grey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37373"/>
        </a:accent6>
        <a:hlink>
          <a:srgbClr val="B2B2B2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DB6</Template>
  <TotalTime>95133</TotalTime>
  <Words>1318</Words>
  <Application>Microsoft Office PowerPoint</Application>
  <PresentationFormat>自定义</PresentationFormat>
  <Paragraphs>215</Paragraphs>
  <Slides>30</Slides>
  <Notes>28</Notes>
  <HiddenSlides>0</HiddenSlides>
  <MMClips>0</MMClips>
  <ScaleCrop>false</ScaleCrop>
  <HeadingPairs>
    <vt:vector size="6" baseType="variant">
      <vt:variant>
        <vt:lpstr>主题</vt:lpstr>
      </vt:variant>
      <vt:variant>
        <vt:i4>1</vt:i4>
      </vt:variant>
      <vt:variant>
        <vt:lpstr>幻灯片标题</vt:lpstr>
      </vt:variant>
      <vt:variant>
        <vt:i4>30</vt:i4>
      </vt:variant>
      <vt:variant>
        <vt:lpstr>自定义放映</vt:lpstr>
      </vt:variant>
      <vt:variant>
        <vt:i4>1</vt:i4>
      </vt:variant>
    </vt:vector>
  </HeadingPairs>
  <TitlesOfParts>
    <vt:vector size="32" baseType="lpstr">
      <vt:lpstr>2_db-5-grey</vt:lpstr>
      <vt:lpstr>Chapter 2: Intro to Relational Model</vt:lpstr>
      <vt:lpstr>Outline</vt:lpstr>
      <vt:lpstr>Example of a Instructor  Relation</vt:lpstr>
      <vt:lpstr>Relation Schema and Instance</vt:lpstr>
      <vt:lpstr>Attributes</vt:lpstr>
      <vt:lpstr>Relations are Unordered</vt:lpstr>
      <vt:lpstr>Database Schema</vt:lpstr>
      <vt:lpstr>Keys 码</vt:lpstr>
      <vt:lpstr>Schema Diagram for University Database</vt:lpstr>
      <vt:lpstr>Relational Query Languages</vt:lpstr>
      <vt:lpstr>Relational Algebra</vt:lpstr>
      <vt:lpstr>Select Operation</vt:lpstr>
      <vt:lpstr>Select Operation (Cont.)</vt:lpstr>
      <vt:lpstr>Project Operation</vt:lpstr>
      <vt:lpstr>Project Operation Example</vt:lpstr>
      <vt:lpstr>Composition of Relational Operations</vt:lpstr>
      <vt:lpstr>Cartesian-Product Operation</vt:lpstr>
      <vt:lpstr>The  instructor  X  teaches  table</vt:lpstr>
      <vt:lpstr>Join Operation</vt:lpstr>
      <vt:lpstr>Join Operation (Cont.)</vt:lpstr>
      <vt:lpstr>Join Operation (Cont.)</vt:lpstr>
      <vt:lpstr>Union Operation</vt:lpstr>
      <vt:lpstr>Union Operation (Cont.)</vt:lpstr>
      <vt:lpstr>Set-Intersection Operation</vt:lpstr>
      <vt:lpstr>Set Difference Operation</vt:lpstr>
      <vt:lpstr>The Assignment  Operation </vt:lpstr>
      <vt:lpstr>The Rename Operation </vt:lpstr>
      <vt:lpstr>Equivalent Queries</vt:lpstr>
      <vt:lpstr>Equivalent Queries</vt:lpstr>
      <vt:lpstr>End of Chapter 2</vt:lpstr>
      <vt:lpstr>Custom Show 1</vt:lpstr>
    </vt:vector>
  </TitlesOfParts>
  <Company>Lucent Technologies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7:  Relational Database Design</dc:title>
  <dc:creator>Marilyn Turnamian</dc:creator>
  <cp:lastModifiedBy>postgres</cp:lastModifiedBy>
  <cp:revision>493</cp:revision>
  <cp:lastPrinted>1999-06-28T19:27:31Z</cp:lastPrinted>
  <dcterms:created xsi:type="dcterms:W3CDTF">2009-12-21T15:40:22Z</dcterms:created>
  <dcterms:modified xsi:type="dcterms:W3CDTF">2026-08-29T06:45:56Z</dcterms:modified>
</cp:coreProperties>
</file>